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4cde090e2c451a" /><Relationship Type="http://schemas.openxmlformats.org/officeDocument/2006/relationships/extended-properties" Target="/docProps/app.xml" Id="Rc24ba43a41c94e2f" /><Relationship Type="http://schemas.openxmlformats.org/officeDocument/2006/relationships/officeDocument" Target="/ppt/presentation.xml" Id="R55a9c18432ec4b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7d5683d146416d"/>
  </p:sldMasterIdLst>
  <p:notesMasterIdLst>
    <p:notesMasterId xmlns:r="http://schemas.openxmlformats.org/officeDocument/2006/relationships" r:id="R9b85e19edcfe4b69"/>
  </p:notesMasterIdLst>
  <p:sldIdLst>
    <p:sldId xmlns:r="http://schemas.openxmlformats.org/officeDocument/2006/relationships" id="256" r:id="Re181d8c0a6f944f2"/>
    <p:sldId xmlns:r="http://schemas.openxmlformats.org/officeDocument/2006/relationships" id="257" r:id="R41746e9f05ff44bc"/>
    <p:sldId xmlns:r="http://schemas.openxmlformats.org/officeDocument/2006/relationships" id="258" r:id="Re447a1248df64756"/>
    <p:sldId xmlns:r="http://schemas.openxmlformats.org/officeDocument/2006/relationships" id="259" r:id="R74f65aa2024f473c"/>
    <p:sldId xmlns:r="http://schemas.openxmlformats.org/officeDocument/2006/relationships" id="260" r:id="Re40e9fbef62f41a2"/>
    <p:sldId xmlns:r="http://schemas.openxmlformats.org/officeDocument/2006/relationships" id="261" r:id="R8525cf75eb5642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e4e986b3d64bcc" /><Relationship Type="http://schemas.openxmlformats.org/officeDocument/2006/relationships/slideMaster" Target="/ppt/slideMasters/slideMaster1.xml" Id="Rb47d5683d146416d" /><Relationship Type="http://schemas.openxmlformats.org/officeDocument/2006/relationships/notesMaster" Target="/ppt/notesMasters/notesMaster1.xml" Id="R9b85e19edcfe4b69" /><Relationship Type="http://schemas.openxmlformats.org/officeDocument/2006/relationships/presProps" Target="/ppt/presProps.xml" Id="Rac3dcdb9a49946f4" /><Relationship Type="http://schemas.openxmlformats.org/officeDocument/2006/relationships/viewProps" Target="/ppt/viewProps.xml" Id="Rc941a067767643bb" /><Relationship Type="http://schemas.openxmlformats.org/officeDocument/2006/relationships/tableStyles" Target="/ppt/tableStyles.xml" Id="Rb2345e5b31f341d0" /><Relationship Type="http://schemas.openxmlformats.org/officeDocument/2006/relationships/slide" Target="/ppt/slides/slide1.xml" Id="Re181d8c0a6f944f2" /><Relationship Type="http://schemas.openxmlformats.org/officeDocument/2006/relationships/slide" Target="/ppt/slides/slide2.xml" Id="R41746e9f05ff44bc" /><Relationship Type="http://schemas.openxmlformats.org/officeDocument/2006/relationships/slide" Target="/ppt/slides/slide3.xml" Id="Re447a1248df64756" /><Relationship Type="http://schemas.openxmlformats.org/officeDocument/2006/relationships/slide" Target="/ppt/slides/slide4.xml" Id="R74f65aa2024f473c" /><Relationship Type="http://schemas.openxmlformats.org/officeDocument/2006/relationships/slide" Target="/ppt/slides/slide5.xml" Id="Re40e9fbef62f41a2" /><Relationship Type="http://schemas.openxmlformats.org/officeDocument/2006/relationships/slide" Target="/ppt/slides/slide6.xml" Id="R8525cf75eb5642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aacd6329c345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571fc7a1c4125" /><Relationship Type="http://schemas.openxmlformats.org/officeDocument/2006/relationships/notesMaster" Target="/ppt/notesMasters/notesMaster1.xml" Id="R0ca054abd33b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5e8a04e530486f" /><Relationship Type="http://schemas.openxmlformats.org/officeDocument/2006/relationships/notesMaster" Target="/ppt/notesMasters/notesMaster1.xml" Id="R4cc94ecf9dda4a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033381fb364c16" /><Relationship Type="http://schemas.openxmlformats.org/officeDocument/2006/relationships/notesMaster" Target="/ppt/notesMasters/notesMaster1.xml" Id="Rd72161b35bcf43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ba94d696e34fe2" /><Relationship Type="http://schemas.openxmlformats.org/officeDocument/2006/relationships/notesMaster" Target="/ppt/notesMasters/notesMaster1.xml" Id="Re7c533245ad34b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5c1f849eb44f19" /><Relationship Type="http://schemas.openxmlformats.org/officeDocument/2006/relationships/notesMaster" Target="/ppt/notesMasters/notesMaster1.xml" Id="Ra488d5ae546d48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39dc8cc26a403b" /><Relationship Type="http://schemas.openxmlformats.org/officeDocument/2006/relationships/notesMaster" Target="/ppt/notesMasters/notesMaster1.xml" Id="R5d22ade590ed4c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1ff82698c4a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c5a2ee66504b02" /><Relationship Type="http://schemas.openxmlformats.org/officeDocument/2006/relationships/slideLayout" Target="/ppt/slideLayouts/slideLayout1.xml" Id="R59eb04eb98b64d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eb04eb98b64d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0fcbced754b16" /><Relationship Type="http://schemas.openxmlformats.org/officeDocument/2006/relationships/notesSlide" Target="/ppt/notesSlides/notesSlide1.xml" Id="R0ecc1fb764a14a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789fe42ec456a" /><Relationship Type="http://schemas.openxmlformats.org/officeDocument/2006/relationships/notesSlide" Target="/ppt/notesSlides/notesSlide2.xml" Id="Reba34cdbc37e45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6771d2d014741" /><Relationship Type="http://schemas.openxmlformats.org/officeDocument/2006/relationships/notesSlide" Target="/ppt/notesSlides/notesSlide3.xml" Id="R1aa529f82ad449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6c6616fb24c7a" /><Relationship Type="http://schemas.openxmlformats.org/officeDocument/2006/relationships/notesSlide" Target="/ppt/notesSlides/notesSlide4.xml" Id="Rd3d760b9a0764d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f8ad113e14d20" /><Relationship Type="http://schemas.openxmlformats.org/officeDocument/2006/relationships/notesSlide" Target="/ppt/notesSlides/notesSlide5.xml" Id="R19ce6b7b61d247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b8af059be4213" /><Relationship Type="http://schemas.openxmlformats.org/officeDocument/2006/relationships/notesSlide" Target="/ppt/notesSlides/notesSlide6.xml" Id="R78ee71f36b904c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3A9CE31C-FA7C-46A6-9DAA-1E54419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DCEF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PROJECT PROPOSAL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144BCA-4E39-4666-B36E-3ABDD0D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71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rPr>
              <a:t>Text-Guided Remote Sensing</a:t>
            </a:r>
          </a:p>
          <a:p xmlns:a="http://schemas.openxmlformats.org/drawingml/2006/main">
            <a:pPr algn="l">
              <a:buNone/>
              <a:defRPr sz="34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rPr>
              <a:t>Image Segmentation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EBBEB44-DC58-4C35-A65A-C6D561C4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The model receives an aerial image and a natural-language phrase, then predicts the exact binary mask for the region the phrase refers to.</a:t>
            </a:r>
          </a:p>
        </p:txBody>
      </p:sp>
      <p:sp>
        <p:nvSpPr>
          <p:cNvPr id="4" name="why-card">
            <a:extLst xmlns:a="http://schemas.openxmlformats.org/drawingml/2006/main">
              <a:ext uri="{FF2B5EF4-FFF2-40B4-BE49-F238E27FC236}">
                <a16:creationId xmlns:a16="http://schemas.microsoft.com/office/drawing/2014/main" id="{C84F66DE-A2EF-474E-AC83-3FE1C665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762500" cy="26670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why-label">
            <a:extLst xmlns:a="http://schemas.openxmlformats.org/drawingml/2006/main">
              <a:ext uri="{FF2B5EF4-FFF2-40B4-BE49-F238E27FC236}">
                <a16:creationId xmlns:a16="http://schemas.microsoft.com/office/drawing/2014/main" id="{6FF06C6B-FA77-4EFA-A5A0-68F8E688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Why this task matters</a:t>
            </a:r>
          </a:p>
        </p:txBody>
      </p:sp>
      <p:sp>
        <p:nvSpPr>
          <p:cNvPr id="6" name="bullet-dot">
            <a:extLst xmlns:a="http://schemas.openxmlformats.org/drawingml/2006/main">
              <a:ext uri="{FF2B5EF4-FFF2-40B4-BE49-F238E27FC236}">
                <a16:creationId xmlns:a16="http://schemas.microsoft.com/office/drawing/2014/main" id="{5F3C9410-DA2A-4FAD-9C0B-B19D8617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1F5A4EC-292C-450B-B5AD-CD5B321B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13" b="0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13" b="0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It moves beyond fixed semantic classes: the user describes the target in plain English.</a:t>
            </a:r>
          </a:p>
        </p:txBody>
      </p:sp>
      <p:sp>
        <p:nvSpPr>
          <p:cNvPr id="8" name="bullet-dot">
            <a:extLst xmlns:a="http://schemas.openxmlformats.org/drawingml/2006/main">
              <a:ext uri="{FF2B5EF4-FFF2-40B4-BE49-F238E27FC236}">
                <a16:creationId xmlns:a16="http://schemas.microsoft.com/office/drawing/2014/main" id="{24755BEB-7AFE-48F3-91A2-42C8AF8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5CCFDC52-6289-4AA3-A102-5AE7D8B8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13" b="0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13" b="0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It supports interactive geospatial search, aerial image interpretation, and human-in-the-loop analysis.</a:t>
            </a:r>
          </a:p>
        </p:txBody>
      </p:sp>
      <p:sp>
        <p:nvSpPr>
          <p:cNvPr id="10" name="bullet-dot">
            <a:extLst xmlns:a="http://schemas.openxmlformats.org/drawingml/2006/main">
              <a:ext uri="{FF2B5EF4-FFF2-40B4-BE49-F238E27FC236}">
                <a16:creationId xmlns:a16="http://schemas.microsoft.com/office/drawing/2014/main" id="{E2BFA5C1-9DF0-423C-97B1-139159C0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3272300-B07C-4E5B-9B2D-1741F40D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60" b="0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260" b="0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It uses RegSegRS / RefSegRS: about 4,420 image-phrase-mask triplets across vehicles, roads, buildings, and vegetation.</a:t>
            </a:r>
          </a:p>
        </p:txBody>
      </p:sp>
      <p:sp>
        <p:nvSpPr>
          <p:cNvPr id="12" name="pipeline-label">
            <a:extLst xmlns:a="http://schemas.openxmlformats.org/drawingml/2006/main">
              <a:ext uri="{FF2B5EF4-FFF2-40B4-BE49-F238E27FC236}">
                <a16:creationId xmlns:a16="http://schemas.microsoft.com/office/drawing/2014/main" id="{9561E6E6-2B3A-4ECF-9337-09A2EDF7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Core task</a:t>
            </a:r>
          </a:p>
        </p:txBody>
      </p:sp>
      <p:sp>
        <p:nvSpPr>
          <p:cNvPr id="13" name="aerial-crop-frame">
            <a:extLst xmlns:a="http://schemas.openxmlformats.org/drawingml/2006/main">
              <a:ext uri="{FF2B5EF4-FFF2-40B4-BE49-F238E27FC236}">
                <a16:creationId xmlns:a16="http://schemas.microsoft.com/office/drawing/2014/main" id="{9F4942A1-1CE4-4CDF-843A-4B4378BF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2476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input-caption">
            <a:extLst xmlns:a="http://schemas.openxmlformats.org/drawingml/2006/main">
              <a:ext uri="{FF2B5EF4-FFF2-40B4-BE49-F238E27FC236}">
                <a16:creationId xmlns:a16="http://schemas.microsoft.com/office/drawing/2014/main" id="{C47EB476-CBFD-413E-8429-50BA4F3A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Aerial crop</a:t>
            </a:r>
          </a:p>
        </p:txBody>
      </p:sp>
      <p:sp>
        <p:nvSpPr>
          <p:cNvPr id="15" name="field-bg">
            <a:extLst xmlns:a="http://schemas.openxmlformats.org/drawingml/2006/main">
              <a:ext uri="{FF2B5EF4-FFF2-40B4-BE49-F238E27FC236}">
                <a16:creationId xmlns:a16="http://schemas.microsoft.com/office/drawing/2014/main" id="{5BCFA3CC-3E5B-4619-83BF-620C99D5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9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ad-main">
            <a:extLst xmlns:a="http://schemas.openxmlformats.org/drawingml/2006/main">
              <a:ext uri="{FF2B5EF4-FFF2-40B4-BE49-F238E27FC236}">
                <a16:creationId xmlns:a16="http://schemas.microsoft.com/office/drawing/2014/main" id="{02C3EFCD-0FE2-432A-82E0-0352DA6E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6115050" y="21050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8F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ad-side">
            <a:extLst xmlns:a="http://schemas.openxmlformats.org/drawingml/2006/main">
              <a:ext uri="{FF2B5EF4-FFF2-40B4-BE49-F238E27FC236}">
                <a16:creationId xmlns:a16="http://schemas.microsoft.com/office/drawing/2014/main" id="{86182C39-1AE6-48C1-A2B9-E84C9F66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7277100" y="1057275"/>
            <a:ext cx="323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E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ee-1">
            <a:extLst xmlns:a="http://schemas.openxmlformats.org/drawingml/2006/main">
              <a:ext uri="{FF2B5EF4-FFF2-40B4-BE49-F238E27FC236}">
                <a16:creationId xmlns:a16="http://schemas.microsoft.com/office/drawing/2014/main" id="{E49845F5-AB45-40FA-B8C7-72920A0F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95400"/>
            <a:ext cx="4000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ree-2">
            <a:extLst xmlns:a="http://schemas.openxmlformats.org/drawingml/2006/main">
              <a:ext uri="{FF2B5EF4-FFF2-40B4-BE49-F238E27FC236}">
                <a16:creationId xmlns:a16="http://schemas.microsoft.com/office/drawing/2014/main" id="{65169565-6B15-4452-95C3-6BD616AE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47800"/>
            <a:ext cx="3429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ree-3">
            <a:extLst xmlns:a="http://schemas.openxmlformats.org/drawingml/2006/main">
              <a:ext uri="{FF2B5EF4-FFF2-40B4-BE49-F238E27FC236}">
                <a16:creationId xmlns:a16="http://schemas.microsoft.com/office/drawing/2014/main" id="{C64252DD-2DDB-41B5-A60B-FFD8322A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28900"/>
            <a:ext cx="3238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ilding-1">
            <a:extLst xmlns:a="http://schemas.openxmlformats.org/drawingml/2006/main">
              <a:ext uri="{FF2B5EF4-FFF2-40B4-BE49-F238E27FC236}">
                <a16:creationId xmlns:a16="http://schemas.microsoft.com/office/drawing/2014/main" id="{4341AB98-581C-4804-8204-23DAC5C8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9525">
            <a:solidFill>
              <a:srgbClr val="8B8170"/>
            </a:solidFill>
            <a:prstDash val="solid"/>
          </a:ln>
        </p:spPr>
      </p:sp>
      <p:sp>
        <p:nvSpPr>
          <p:cNvPr id="22" name="building-2">
            <a:extLst xmlns:a="http://schemas.openxmlformats.org/drawingml/2006/main">
              <a:ext uri="{FF2B5EF4-FFF2-40B4-BE49-F238E27FC236}">
                <a16:creationId xmlns:a16="http://schemas.microsoft.com/office/drawing/2014/main" id="{EBD71C10-C9DA-4F4B-9A69-3ED2A6A2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66850"/>
            <a:ext cx="41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A"/>
          </a:solidFill>
          <a:ln xmlns:a="http://schemas.openxmlformats.org/drawingml/2006/main" w="9525">
            <a:solidFill>
              <a:srgbClr val="8B8170"/>
            </a:solidFill>
            <a:prstDash val="solid"/>
          </a:ln>
        </p:spPr>
      </p:sp>
      <p:sp>
        <p:nvSpPr>
          <p:cNvPr id="23" name="vehicle-1">
            <a:extLst xmlns:a="http://schemas.openxmlformats.org/drawingml/2006/main">
              <a:ext uri="{FF2B5EF4-FFF2-40B4-BE49-F238E27FC236}">
                <a16:creationId xmlns:a16="http://schemas.microsoft.com/office/drawing/2014/main" id="{936073E1-64CA-4550-9753-CFBCC5F6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124700" y="2219325"/>
            <a:ext cx="171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B58A00"/>
            </a:solidFill>
            <a:prstDash val="solid"/>
          </a:ln>
        </p:spPr>
      </p:sp>
      <p:sp>
        <p:nvSpPr>
          <p:cNvPr id="24" name="vehicle-2">
            <a:extLst xmlns:a="http://schemas.openxmlformats.org/drawingml/2006/main">
              <a:ext uri="{FF2B5EF4-FFF2-40B4-BE49-F238E27FC236}">
                <a16:creationId xmlns:a16="http://schemas.microsoft.com/office/drawing/2014/main" id="{D1F7B048-72C9-4E49-94D8-E7063F1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7543800" y="2324100"/>
            <a:ext cx="171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B84B38"/>
            </a:solidFill>
            <a:prstDash val="solid"/>
          </a:ln>
        </p:spPr>
      </p:sp>
      <p:sp>
        <p:nvSpPr>
          <p:cNvPr id="25" name="arrow-1">
            <a:extLst xmlns:a="http://schemas.openxmlformats.org/drawingml/2006/main">
              <a:ext uri="{FF2B5EF4-FFF2-40B4-BE49-F238E27FC236}">
                <a16:creationId xmlns:a16="http://schemas.microsoft.com/office/drawing/2014/main" id="{78281AE7-B620-432C-8EC3-9E8AA31B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431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716B"/>
            </a:solidFill>
            <a:prstDash val="solid"/>
          </a:ln>
        </p:spPr>
      </p:sp>
      <p:sp>
        <p:nvSpPr>
          <p:cNvPr id="26" name="arrow-1-head">
            <a:extLst xmlns:a="http://schemas.openxmlformats.org/drawingml/2006/main">
              <a:ext uri="{FF2B5EF4-FFF2-40B4-BE49-F238E27FC236}">
                <a16:creationId xmlns:a16="http://schemas.microsoft.com/office/drawing/2014/main" id="{9C6C47DF-2FC7-4105-9D2F-C2316A7B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86875" y="2076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16B"/>
          </a:solidFill>
          <a:ln xmlns:a="http://schemas.openxmlformats.org/drawingml/2006/main" w="0">
            <a:solidFill>
              <a:srgbClr val="58716B"/>
            </a:solidFill>
            <a:prstDash val="solid"/>
          </a:ln>
        </p:spPr>
      </p:sp>
      <p:sp>
        <p:nvSpPr>
          <p:cNvPr id="27" name="prompt-box">
            <a:extLst xmlns:a="http://schemas.openxmlformats.org/drawingml/2006/main">
              <a:ext uri="{FF2B5EF4-FFF2-40B4-BE49-F238E27FC236}">
                <a16:creationId xmlns:a16="http://schemas.microsoft.com/office/drawing/2014/main" id="{C72E85C0-B6DB-4AA2-851C-79F16F3D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71600"/>
            <a:ext cx="20764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03235"/>
          </a:solidFill>
          <a:ln xmlns:a="http://schemas.openxmlformats.org/drawingml/2006/main" w="9525">
            <a:solidFill>
              <a:srgbClr val="2032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"building near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vegetation"</a:t>
            </a:r>
          </a:p>
        </p:txBody>
      </p:sp>
      <p:sp>
        <p:nvSpPr>
          <p:cNvPr id="28" name="prompt-caption">
            <a:extLst xmlns:a="http://schemas.openxmlformats.org/drawingml/2006/main">
              <a:ext uri="{FF2B5EF4-FFF2-40B4-BE49-F238E27FC236}">
                <a16:creationId xmlns:a16="http://schemas.microsoft.com/office/drawing/2014/main" id="{74A9080C-8FE8-422F-8885-D37EC021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38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Text prompt</a:t>
            </a:r>
          </a:p>
        </p:txBody>
      </p:sp>
      <p:sp>
        <p:nvSpPr>
          <p:cNvPr id="29" name="arrow-2">
            <a:extLst xmlns:a="http://schemas.openxmlformats.org/drawingml/2006/main">
              <a:ext uri="{FF2B5EF4-FFF2-40B4-BE49-F238E27FC236}">
                <a16:creationId xmlns:a16="http://schemas.microsoft.com/office/drawing/2014/main" id="{56A7ECDD-44CE-42F8-94BA-28544626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289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716B"/>
            </a:solidFill>
            <a:prstDash val="solid"/>
          </a:ln>
        </p:spPr>
      </p:sp>
      <p:sp>
        <p:nvSpPr>
          <p:cNvPr id="30" name="arrow-2-head">
            <a:extLst xmlns:a="http://schemas.openxmlformats.org/drawingml/2006/main">
              <a:ext uri="{FF2B5EF4-FFF2-40B4-BE49-F238E27FC236}">
                <a16:creationId xmlns:a16="http://schemas.microsoft.com/office/drawing/2014/main" id="{412EDF0B-3A4C-477E-8A96-8706B721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239375" y="3076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8716B"/>
          </a:solidFill>
          <a:ln xmlns:a="http://schemas.openxmlformats.org/drawingml/2006/main" w="0">
            <a:solidFill>
              <a:srgbClr val="58716B"/>
            </a:solidFill>
            <a:prstDash val="solid"/>
          </a:ln>
        </p:spPr>
      </p:sp>
      <p:sp>
        <p:nvSpPr>
          <p:cNvPr id="31" name="mask-frame">
            <a:extLst xmlns:a="http://schemas.openxmlformats.org/drawingml/2006/main">
              <a:ext uri="{FF2B5EF4-FFF2-40B4-BE49-F238E27FC236}">
                <a16:creationId xmlns:a16="http://schemas.microsoft.com/office/drawing/2014/main" id="{FFAC9F17-0FBD-4B4B-AC0C-9AC27C7D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4765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mask-bg">
            <a:extLst xmlns:a="http://schemas.openxmlformats.org/drawingml/2006/main">
              <a:ext uri="{FF2B5EF4-FFF2-40B4-BE49-F238E27FC236}">
                <a16:creationId xmlns:a16="http://schemas.microsoft.com/office/drawing/2014/main" id="{2F67E841-D1C7-4190-8B71-E38B93C2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2057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ask-soft-1">
            <a:extLst xmlns:a="http://schemas.openxmlformats.org/drawingml/2006/main">
              <a:ext uri="{FF2B5EF4-FFF2-40B4-BE49-F238E27FC236}">
                <a16:creationId xmlns:a16="http://schemas.microsoft.com/office/drawing/2014/main" id="{44ADF244-399C-40F4-A0C5-B72B98ED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391025"/>
            <a:ext cx="78105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mask-building">
            <a:extLst xmlns:a="http://schemas.openxmlformats.org/drawingml/2006/main">
              <a:ext uri="{FF2B5EF4-FFF2-40B4-BE49-F238E27FC236}">
                <a16:creationId xmlns:a16="http://schemas.microsoft.com/office/drawing/2014/main" id="{482713FE-7D0E-468F-B5C2-AD308E57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7675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35" name="output-caption">
            <a:extLst xmlns:a="http://schemas.openxmlformats.org/drawingml/2006/main">
              <a:ext uri="{FF2B5EF4-FFF2-40B4-BE49-F238E27FC236}">
                <a16:creationId xmlns:a16="http://schemas.microsoft.com/office/drawing/2014/main" id="{29EB754B-4AF2-4226-A70F-E0328EA5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292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Predicted binary mask</a:t>
            </a:r>
          </a:p>
        </p:txBody>
      </p:sp>
      <p:sp>
        <p:nvSpPr>
          <p:cNvPr id="36" name="footer">
            <a:extLst xmlns:a="http://schemas.openxmlformats.org/drawingml/2006/main">
              <a:ext uri="{FF2B5EF4-FFF2-40B4-BE49-F238E27FC236}">
                <a16:creationId xmlns:a16="http://schemas.microsoft.com/office/drawing/2014/main" id="{F4C21DF4-E654-4137-A38C-6F9389B8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Source: Project Proposal, Haoming Zhang, CS 8903 Summer 2026</a:t>
            </a:r>
          </a:p>
        </p:txBody>
      </p:sp>
      <p:sp>
        <p:nvSpPr>
          <p:cNvPr id="37" name="slide-num">
            <a:extLst xmlns:a="http://schemas.openxmlformats.org/drawingml/2006/main">
              <a:ext uri="{FF2B5EF4-FFF2-40B4-BE49-F238E27FC236}">
                <a16:creationId xmlns:a16="http://schemas.microsoft.com/office/drawing/2014/main" id="{0259B43E-31E0-4EDD-823D-8BD4B196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5133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">
            <a:extLst xmlns:a="http://schemas.openxmlformats.org/drawingml/2006/main">
              <a:ext uri="{FF2B5EF4-FFF2-40B4-BE49-F238E27FC236}">
                <a16:creationId xmlns:a16="http://schemas.microsoft.com/office/drawing/2014/main" id="{D26FC9BD-D7A8-4F33-9415-807B5DCA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DD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D044BC-3743-4B50-AE4F-A9FD231A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rPr>
              <a:t>Methods &amp; Metrics</a:t>
            </a:r>
            <a:endParaRPr sz="3150" b="1" i="0">
              <a:solidFill>
                <a:srgbClr val="1320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2FFC7B0-2191-4865-A6BE-96580D77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The project compares unsupervised representation analysis, zero-shot transfer, and supervised text-conditioned segmentation over a six-week plan.</a:t>
            </a:r>
          </a:p>
        </p:txBody>
      </p:sp>
      <p:sp>
        <p:nvSpPr>
          <p:cNvPr id="4" name="methods-label">
            <a:extLst xmlns:a="http://schemas.openxmlformats.org/drawingml/2006/main">
              <a:ext uri="{FF2B5EF4-FFF2-40B4-BE49-F238E27FC236}">
                <a16:creationId xmlns:a16="http://schemas.microsoft.com/office/drawing/2014/main" id="{429FBCE0-2A5A-4E6A-B865-1D901D14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5" name="method-1">
            <a:extLst xmlns:a="http://schemas.openxmlformats.org/drawingml/2006/main">
              <a:ext uri="{FF2B5EF4-FFF2-40B4-BE49-F238E27FC236}">
                <a16:creationId xmlns:a16="http://schemas.microsoft.com/office/drawing/2014/main" id="{8B65F26B-344F-4AED-8C78-17DFA1B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499"/>
            <a:ext cx="5381625" cy="752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method-badge-1">
            <a:extLst xmlns:a="http://schemas.openxmlformats.org/drawingml/2006/main">
              <a:ext uri="{FF2B5EF4-FFF2-40B4-BE49-F238E27FC236}">
                <a16:creationId xmlns:a16="http://schemas.microsoft.com/office/drawing/2014/main" id="{4C719C38-2E6F-4999-B74E-F5857083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57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1F5F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0C17CD00-0AFF-4CCE-B8C8-C5CA43C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 embedding clustering</a:t>
            </a:r>
          </a:p>
        </p:txBody>
      </p:sp>
      <p:sp>
        <p:nvSpPr>
          <p:cNvPr id="8" name="method-desc-1">
            <a:extLst xmlns:a="http://schemas.openxmlformats.org/drawingml/2006/main">
              <a:ext uri="{FF2B5EF4-FFF2-40B4-BE49-F238E27FC236}">
                <a16:creationId xmlns:a16="http://schemas.microsoft.com/office/drawing/2014/main" id="{CE933827-5A40-4AB5-8DDA-A1655815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Find structure in image-text embeddings with K-Means, GMM, PCA, and UMAP.</a:t>
            </a:r>
          </a:p>
        </p:txBody>
      </p:sp>
      <p:sp>
        <p:nvSpPr>
          <p:cNvPr id="9" name="method-2">
            <a:extLst xmlns:a="http://schemas.openxmlformats.org/drawingml/2006/main">
              <a:ext uri="{FF2B5EF4-FFF2-40B4-BE49-F238E27FC236}">
                <a16:creationId xmlns:a16="http://schemas.microsoft.com/office/drawing/2014/main" id="{31D8AE37-DD1A-4BF2-B640-54CDD5F8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381625" cy="7429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ethod-badge-2">
            <a:extLst xmlns:a="http://schemas.openxmlformats.org/drawingml/2006/main">
              <a:ext uri="{FF2B5EF4-FFF2-40B4-BE49-F238E27FC236}">
                <a16:creationId xmlns:a16="http://schemas.microsoft.com/office/drawing/2014/main" id="{C5093283-1B49-4E2E-BF61-90FFA4F6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166B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386F5135-9B7B-4818-8062-0578771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CLIPSeg zero-shot</a:t>
            </a:r>
          </a:p>
        </p:txBody>
      </p:sp>
      <p:sp>
        <p:nvSpPr>
          <p:cNvPr id="12" name="method-desc-2">
            <a:extLst xmlns:a="http://schemas.openxmlformats.org/drawingml/2006/main">
              <a:ext uri="{FF2B5EF4-FFF2-40B4-BE49-F238E27FC236}">
                <a16:creationId xmlns:a16="http://schemas.microsoft.com/office/drawing/2014/main" id="{BEE3B4FC-1955-45F6-9F77-6EE680E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Measure how well a pretrained text-guided </a:t>
            </a: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segmenter</a:t>
            </a: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 transfers to aerial imagery.</a:t>
            </a:r>
          </a:p>
        </p:txBody>
      </p:sp>
      <p:sp>
        <p:nvSpPr>
          <p:cNvPr id="13" name="method-3">
            <a:extLst xmlns:a="http://schemas.openxmlformats.org/drawingml/2006/main">
              <a:ext uri="{FF2B5EF4-FFF2-40B4-BE49-F238E27FC236}">
                <a16:creationId xmlns:a16="http://schemas.microsoft.com/office/drawing/2014/main" id="{CADFFD20-9DEF-4731-AB8C-955F80C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799"/>
            <a:ext cx="5381625" cy="752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method-badge-3">
            <a:extLst xmlns:a="http://schemas.openxmlformats.org/drawingml/2006/main">
              <a:ext uri="{FF2B5EF4-FFF2-40B4-BE49-F238E27FC236}">
                <a16:creationId xmlns:a16="http://schemas.microsoft.com/office/drawing/2014/main" id="{21B53E29-3192-4F6B-82E9-FA38B4B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4DC"/>
          </a:solidFill>
          <a:ln xmlns:a="http://schemas.openxmlformats.org/drawingml/2006/main" w="9525">
            <a:solidFill>
              <a:srgbClr val="B84B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B9211B7E-1699-4BBC-B3BF-349E08FA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Fine-tuned CLIPSeg</a:t>
            </a:r>
          </a:p>
        </p:txBody>
      </p:sp>
      <p:sp>
        <p:nvSpPr>
          <p:cNvPr id="16" name="method-desc-3">
            <a:extLst xmlns:a="http://schemas.openxmlformats.org/drawingml/2006/main">
              <a:ext uri="{FF2B5EF4-FFF2-40B4-BE49-F238E27FC236}">
                <a16:creationId xmlns:a16="http://schemas.microsoft.com/office/drawing/2014/main" id="{A94E3217-5170-4C9E-AAAD-A066619C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 on image-phrase-mask triplets with BCE + Dice Loss for stronger mask overlap.</a:t>
            </a:r>
          </a:p>
        </p:txBody>
      </p:sp>
      <p:sp>
        <p:nvSpPr>
          <p:cNvPr id="17" name="method-4">
            <a:extLst xmlns:a="http://schemas.openxmlformats.org/drawingml/2006/main">
              <a:ext uri="{FF2B5EF4-FFF2-40B4-BE49-F238E27FC236}">
                <a16:creationId xmlns:a16="http://schemas.microsoft.com/office/drawing/2014/main" id="{F59205B8-5466-424E-AF67-846D0325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381625" cy="838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method-badge-4">
            <a:extLst xmlns:a="http://schemas.openxmlformats.org/drawingml/2006/main">
              <a:ext uri="{FF2B5EF4-FFF2-40B4-BE49-F238E27FC236}">
                <a16:creationId xmlns:a16="http://schemas.microsoft.com/office/drawing/2014/main" id="{5E06291D-1C57-431F-9350-144ABEA1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4"/>
          </a:solidFill>
          <a:ln xmlns:a="http://schemas.openxmlformats.org/drawingml/2006/main" w="9525">
            <a:solidFill>
              <a:srgbClr val="9A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method-title-4">
            <a:extLst xmlns:a="http://schemas.openxmlformats.org/drawingml/2006/main">
              <a:ext uri="{FF2B5EF4-FFF2-40B4-BE49-F238E27FC236}">
                <a16:creationId xmlns:a16="http://schemas.microsoft.com/office/drawing/2014/main" id="{410B914D-6306-4FA0-9929-153B25CA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Text-conditioned U-Net</a:t>
            </a:r>
          </a:p>
        </p:txBody>
      </p:sp>
      <p:sp>
        <p:nvSpPr>
          <p:cNvPr id="20" name="method-desc-4">
            <a:extLst xmlns:a="http://schemas.openxmlformats.org/drawingml/2006/main">
              <a:ext uri="{FF2B5EF4-FFF2-40B4-BE49-F238E27FC236}">
                <a16:creationId xmlns:a16="http://schemas.microsoft.com/office/drawing/2014/main" id="{68CFB1F6-7A7D-44F8-8365-03E911AE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959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Use a lightweight decoder that injects CLIP text embeddings into spatial features.</a:t>
            </a:r>
          </a:p>
        </p:txBody>
      </p:sp>
      <p:sp>
        <p:nvSpPr>
          <p:cNvPr id="21" name="metrics-card">
            <a:extLst xmlns:a="http://schemas.openxmlformats.org/drawingml/2006/main">
              <a:ext uri="{FF2B5EF4-FFF2-40B4-BE49-F238E27FC236}">
                <a16:creationId xmlns:a16="http://schemas.microsoft.com/office/drawing/2014/main" id="{CCEC7F0C-3BB7-4FA7-A852-03FA4BF0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333625" cy="27813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metrics-title">
            <a:extLst xmlns:a="http://schemas.openxmlformats.org/drawingml/2006/main">
              <a:ext uri="{FF2B5EF4-FFF2-40B4-BE49-F238E27FC236}">
                <a16:creationId xmlns:a16="http://schemas.microsoft.com/office/drawing/2014/main" id="{AF3F5DAE-F5C5-4A5F-9F25-9B3BD4C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Evaluation metrics</a:t>
            </a:r>
          </a:p>
        </p:txBody>
      </p:sp>
      <p:sp>
        <p:nvSpPr>
          <p:cNvPr id="23" name="unsup-pill">
            <a:extLst xmlns:a="http://schemas.openxmlformats.org/drawingml/2006/main">
              <a:ext uri="{FF2B5EF4-FFF2-40B4-BE49-F238E27FC236}">
                <a16:creationId xmlns:a16="http://schemas.microsoft.com/office/drawing/2014/main" id="{C5C27DE2-7C99-43F1-800F-F431117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DCEF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UNSUPERVISED</a:t>
            </a:r>
          </a:p>
        </p:txBody>
      </p:sp>
      <p:sp>
        <p:nvSpPr>
          <p:cNvPr id="24" name="unsup-metrics">
            <a:extLst xmlns:a="http://schemas.openxmlformats.org/drawingml/2006/main">
              <a:ext uri="{FF2B5EF4-FFF2-40B4-BE49-F238E27FC236}">
                <a16:creationId xmlns:a16="http://schemas.microsoft.com/office/drawing/2014/main" id="{B49C78B4-B499-465C-9E35-5D7BF90F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Silhouette Score</a:t>
            </a:r>
          </a:p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Davies-Bouldin Index</a:t>
            </a:r>
          </a:p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 Purity</a:t>
            </a:r>
          </a:p>
        </p:txBody>
      </p:sp>
      <p:sp>
        <p:nvSpPr>
          <p:cNvPr id="25" name="seg-pill">
            <a:extLst xmlns:a="http://schemas.openxmlformats.org/drawingml/2006/main">
              <a:ext uri="{FF2B5EF4-FFF2-40B4-BE49-F238E27FC236}">
                <a16:creationId xmlns:a16="http://schemas.microsoft.com/office/drawing/2014/main" id="{B55C9869-0043-4076-983F-9CE8C2A4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C"/>
          </a:solidFill>
          <a:ln xmlns:a="http://schemas.openxmlformats.org/drawingml/2006/main" w="9525">
            <a:solidFill>
              <a:srgbClr val="FCE4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SEGMENTATION</a:t>
            </a:r>
          </a:p>
        </p:txBody>
      </p:sp>
      <p:sp>
        <p:nvSpPr>
          <p:cNvPr id="26" name="seg-metrics">
            <a:extLst xmlns:a="http://schemas.openxmlformats.org/drawingml/2006/main">
              <a:ext uri="{FF2B5EF4-FFF2-40B4-BE49-F238E27FC236}">
                <a16:creationId xmlns:a16="http://schemas.microsoft.com/office/drawing/2014/main" id="{F75D3ACB-0E5D-403C-83E9-8AE0798F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338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IoU / mIoU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Dice Coefficient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Precision / Recall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Per-category IoU</a:t>
            </a:r>
          </a:p>
        </p:txBody>
      </p:sp>
      <p:sp>
        <p:nvSpPr>
          <p:cNvPr id="27" name="outcomes-card">
            <a:extLst xmlns:a="http://schemas.openxmlformats.org/drawingml/2006/main">
              <a:ext uri="{FF2B5EF4-FFF2-40B4-BE49-F238E27FC236}">
                <a16:creationId xmlns:a16="http://schemas.microsoft.com/office/drawing/2014/main" id="{EF7000A8-8826-43B6-BBA4-5A42F9A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2362200" cy="27813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03235"/>
          </a:solidFill>
          <a:ln xmlns:a="http://schemas.openxmlformats.org/drawingml/2006/main" w="9525">
            <a:solidFill>
              <a:srgbClr val="2032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outcomes-title">
            <a:extLst xmlns:a="http://schemas.openxmlformats.org/drawingml/2006/main">
              <a:ext uri="{FF2B5EF4-FFF2-40B4-BE49-F238E27FC236}">
                <a16:creationId xmlns:a16="http://schemas.microsoft.com/office/drawing/2014/main" id="{BB9C32AC-89A1-41AB-A437-1917C9DD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241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contribution</a:t>
            </a:r>
          </a:p>
        </p:txBody>
      </p:sp>
      <p:sp>
        <p:nvSpPr>
          <p:cNvPr id="29" name="outcomes-copy">
            <a:extLst xmlns:a="http://schemas.openxmlformats.org/drawingml/2006/main">
              <a:ext uri="{FF2B5EF4-FFF2-40B4-BE49-F238E27FC236}">
                <a16:creationId xmlns:a16="http://schemas.microsoft.com/office/drawing/2014/main" id="{7384E1DF-1212-4719-853E-41C605C2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0" b="0" i="0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080" b="0" i="0">
                <a:solidFill>
                  <a:srgbClr val="DDEBE6"/>
                </a:solidFill>
                <a:latin typeface="Aptos"/>
                <a:ea typeface="Aptos"/>
                <a:cs typeface="Aptos"/>
              </a:rPr>
              <a:t>Tests whether fine-tuning beats zero-shot transfer and whether a simple U-Net is a credible baseline.</a:t>
            </a:r>
          </a:p>
        </p:txBody>
      </p:sp>
      <p:sp>
        <p:nvSpPr>
          <p:cNvPr id="30" name="deliverables-copy">
            <a:extLst xmlns:a="http://schemas.openxmlformats.org/drawingml/2006/main">
              <a:ext uri="{FF2B5EF4-FFF2-40B4-BE49-F238E27FC236}">
                <a16:creationId xmlns:a16="http://schemas.microsoft.com/office/drawing/2014/main" id="{60FBD320-0A59-45E3-9A24-2EAEA55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8" b="0" i="0">
                <a:solidFill>
                  <a:srgbClr val="B8D4CA"/>
                </a:solidFill>
                <a:latin typeface="Aptos"/>
                <a:ea typeface="Aptos"/>
                <a:cs typeface="Aptos"/>
              </a:defRPr>
            </a:pPr>
            <a:r>
              <a:rPr sz="1058" b="0" i="0">
                <a:solidFill>
                  <a:srgbClr val="B8D4CA"/>
                </a:solidFill>
                <a:latin typeface="Aptos"/>
                <a:ea typeface="Aptos"/>
                <a:cs typeface="Aptos"/>
              </a:rPr>
              <a:t>Outputs: metric tables, mask examples, failure cases, final report, and a short demo.</a:t>
            </a:r>
          </a:p>
        </p:txBody>
      </p:sp>
      <p:sp>
        <p:nvSpPr>
          <p:cNvPr id="31" name="timeline-label">
            <a:extLst xmlns:a="http://schemas.openxmlformats.org/drawingml/2006/main">
              <a:ext uri="{FF2B5EF4-FFF2-40B4-BE49-F238E27FC236}">
                <a16:creationId xmlns:a16="http://schemas.microsoft.com/office/drawing/2014/main" id="{DD8DA150-CC57-49C5-9FAD-FCCA852B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Six-week plan</a:t>
            </a:r>
          </a:p>
        </p:txBody>
      </p:sp>
      <p:sp>
        <p:nvSpPr>
          <p:cNvPr id="32" name="week-1">
            <a:extLst xmlns:a="http://schemas.openxmlformats.org/drawingml/2006/main">
              <a:ext uri="{FF2B5EF4-FFF2-40B4-BE49-F238E27FC236}">
                <a16:creationId xmlns:a16="http://schemas.microsoft.com/office/drawing/2014/main" id="{6EE9A361-29F3-4818-92C2-275AE89A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3" name="week-num-1">
            <a:extLst xmlns:a="http://schemas.openxmlformats.org/drawingml/2006/main">
              <a:ext uri="{FF2B5EF4-FFF2-40B4-BE49-F238E27FC236}">
                <a16:creationId xmlns:a16="http://schemas.microsoft.com/office/drawing/2014/main" id="{361E9469-6E37-40A7-86B1-DC90B802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34" name="week-text-1">
            <a:extLst xmlns:a="http://schemas.openxmlformats.org/drawingml/2006/main">
              <a:ext uri="{FF2B5EF4-FFF2-40B4-BE49-F238E27FC236}">
                <a16:creationId xmlns:a16="http://schemas.microsoft.com/office/drawing/2014/main" id="{E59D55B1-37DD-43B3-AB5A-A2F3F459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prep</a:t>
            </a:r>
          </a:p>
        </p:txBody>
      </p:sp>
      <p:sp>
        <p:nvSpPr>
          <p:cNvPr id="35" name="week-2">
            <a:extLst xmlns:a="http://schemas.openxmlformats.org/drawingml/2006/main">
              <a:ext uri="{FF2B5EF4-FFF2-40B4-BE49-F238E27FC236}">
                <a16:creationId xmlns:a16="http://schemas.microsoft.com/office/drawing/2014/main" id="{E2510B3C-D044-467E-A502-B45044A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6" name="week-num-2">
            <a:extLst xmlns:a="http://schemas.openxmlformats.org/drawingml/2006/main">
              <a:ext uri="{FF2B5EF4-FFF2-40B4-BE49-F238E27FC236}">
                <a16:creationId xmlns:a16="http://schemas.microsoft.com/office/drawing/2014/main" id="{9A2958BB-0423-44BD-BA22-D1ECBF88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37" name="week-text-2">
            <a:extLst xmlns:a="http://schemas.openxmlformats.org/drawingml/2006/main">
              <a:ext uri="{FF2B5EF4-FFF2-40B4-BE49-F238E27FC236}">
                <a16:creationId xmlns:a16="http://schemas.microsoft.com/office/drawing/2014/main" id="{105CD90F-363C-45AA-9683-5471FC4B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clusters</a:t>
            </a:r>
          </a:p>
        </p:txBody>
      </p:sp>
      <p:sp>
        <p:nvSpPr>
          <p:cNvPr id="38" name="week-3">
            <a:extLst xmlns:a="http://schemas.openxmlformats.org/drawingml/2006/main">
              <a:ext uri="{FF2B5EF4-FFF2-40B4-BE49-F238E27FC236}">
                <a16:creationId xmlns:a16="http://schemas.microsoft.com/office/drawing/2014/main" id="{FAEC0085-04EA-480D-B6FA-A70AFB9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9" name="week-num-3">
            <a:extLst xmlns:a="http://schemas.openxmlformats.org/drawingml/2006/main">
              <a:ext uri="{FF2B5EF4-FFF2-40B4-BE49-F238E27FC236}">
                <a16:creationId xmlns:a16="http://schemas.microsoft.com/office/drawing/2014/main" id="{8F50C890-8472-4481-8A81-FD03CC1A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40" name="week-text-3">
            <a:extLst xmlns:a="http://schemas.openxmlformats.org/drawingml/2006/main">
              <a:ext uri="{FF2B5EF4-FFF2-40B4-BE49-F238E27FC236}">
                <a16:creationId xmlns:a16="http://schemas.microsoft.com/office/drawing/2014/main" id="{2A9D3F16-DA24-4DCA-B28D-070F316C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Zero-shot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1" name="week-4">
            <a:extLst xmlns:a="http://schemas.openxmlformats.org/drawingml/2006/main">
              <a:ext uri="{FF2B5EF4-FFF2-40B4-BE49-F238E27FC236}">
                <a16:creationId xmlns:a16="http://schemas.microsoft.com/office/drawing/2014/main" id="{3D435713-D4FA-4EC4-9375-3EE9E96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2" name="week-num-4">
            <a:extLst xmlns:a="http://schemas.openxmlformats.org/drawingml/2006/main">
              <a:ext uri="{FF2B5EF4-FFF2-40B4-BE49-F238E27FC236}">
                <a16:creationId xmlns:a16="http://schemas.microsoft.com/office/drawing/2014/main" id="{E748E86E-2748-4544-B89A-E24B95AA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43" name="week-text-4">
            <a:extLst xmlns:a="http://schemas.openxmlformats.org/drawingml/2006/main">
              <a:ext uri="{FF2B5EF4-FFF2-40B4-BE49-F238E27FC236}">
                <a16:creationId xmlns:a16="http://schemas.microsoft.com/office/drawing/2014/main" id="{89BE37AB-CA33-4625-861C-78A9F68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CLIPSeg</a:t>
            </a:r>
          </a:p>
        </p:txBody>
      </p:sp>
      <p:sp>
        <p:nvSpPr>
          <p:cNvPr id="44" name="week-5">
            <a:extLst xmlns:a="http://schemas.openxmlformats.org/drawingml/2006/main">
              <a:ext uri="{FF2B5EF4-FFF2-40B4-BE49-F238E27FC236}">
                <a16:creationId xmlns:a16="http://schemas.microsoft.com/office/drawing/2014/main" id="{C3E1EE34-B392-44EF-AB2C-AF8EE3DE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5" name="week-num-5">
            <a:extLst xmlns:a="http://schemas.openxmlformats.org/drawingml/2006/main">
              <a:ext uri="{FF2B5EF4-FFF2-40B4-BE49-F238E27FC236}">
                <a16:creationId xmlns:a16="http://schemas.microsoft.com/office/drawing/2014/main" id="{CB2AAB4F-953A-43A8-8C76-58C7BD4D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W5</a:t>
            </a:r>
          </a:p>
        </p:txBody>
      </p:sp>
      <p:sp>
        <p:nvSpPr>
          <p:cNvPr id="46" name="week-text-5">
            <a:extLst xmlns:a="http://schemas.openxmlformats.org/drawingml/2006/main">
              <a:ext uri="{FF2B5EF4-FFF2-40B4-BE49-F238E27FC236}">
                <a16:creationId xmlns:a16="http://schemas.microsoft.com/office/drawing/2014/main" id="{2A96BD91-B420-497A-B5F2-18178FA8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U-Net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7" name="week-6">
            <a:extLst xmlns:a="http://schemas.openxmlformats.org/drawingml/2006/main">
              <a:ext uri="{FF2B5EF4-FFF2-40B4-BE49-F238E27FC236}">
                <a16:creationId xmlns:a16="http://schemas.microsoft.com/office/drawing/2014/main" id="{71CDE39B-D0AD-4285-B9AC-57C96851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8" name="week-num-6">
            <a:extLst xmlns:a="http://schemas.openxmlformats.org/drawingml/2006/main">
              <a:ext uri="{FF2B5EF4-FFF2-40B4-BE49-F238E27FC236}">
                <a16:creationId xmlns:a16="http://schemas.microsoft.com/office/drawing/2014/main" id="{17E84259-CC74-438B-89EF-E7F96E8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W6</a:t>
            </a:r>
          </a:p>
        </p:txBody>
      </p:sp>
      <p:sp>
        <p:nvSpPr>
          <p:cNvPr id="49" name="week-text-6">
            <a:extLst xmlns:a="http://schemas.openxmlformats.org/drawingml/2006/main">
              <a:ext uri="{FF2B5EF4-FFF2-40B4-BE49-F238E27FC236}">
                <a16:creationId xmlns:a16="http://schemas.microsoft.com/office/drawing/2014/main" id="{1635E999-19CE-47AF-8A15-62B377E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50" name="footer">
            <a:extLst xmlns:a="http://schemas.openxmlformats.org/drawingml/2006/main">
              <a:ext uri="{FF2B5EF4-FFF2-40B4-BE49-F238E27FC236}">
                <a16:creationId xmlns:a16="http://schemas.microsoft.com/office/drawing/2014/main" id="{637D1885-68B0-4C68-B5E8-9A1BA8D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Source: Project Proposal, Haoming Zhang, CS 8903 Summer 2026</a:t>
            </a:r>
          </a:p>
        </p:txBody>
      </p:sp>
      <p:sp>
        <p:nvSpPr>
          <p:cNvPr id="51" name="slide-num">
            <a:extLst xmlns:a="http://schemas.openxmlformats.org/drawingml/2006/main">
              <a:ext uri="{FF2B5EF4-FFF2-40B4-BE49-F238E27FC236}">
                <a16:creationId xmlns:a16="http://schemas.microsoft.com/office/drawing/2014/main" id="{5EEAE0FB-7DBB-4418-A85E-68785D99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2875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">
            <a:extLst xmlns:a="http://schemas.openxmlformats.org/drawingml/2006/main">
              <a:ext uri="{FF2B5EF4-FFF2-40B4-BE49-F238E27FC236}">
                <a16:creationId xmlns:a16="http://schemas.microsoft.com/office/drawing/2014/main" id="{D26FC9BD-D7A8-4F33-9415-807B5DCA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DD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D044BC-3743-4B50-AE4F-A9FD231A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rPr>
              <a:t>Methods &amp; Metrics</a:t>
            </a:r>
            <a:endParaRPr sz="3150" b="1" i="0">
              <a:solidFill>
                <a:srgbClr val="1320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2FFC7B0-2191-4865-A6BE-96580D77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The project compares unsupervised representation analysis, zero-shot transfer, and supervised text-conditioned segmentation over a six-week plan.</a:t>
            </a:r>
          </a:p>
        </p:txBody>
      </p:sp>
      <p:sp>
        <p:nvSpPr>
          <p:cNvPr id="4" name="methods-label">
            <a:extLst xmlns:a="http://schemas.openxmlformats.org/drawingml/2006/main">
              <a:ext uri="{FF2B5EF4-FFF2-40B4-BE49-F238E27FC236}">
                <a16:creationId xmlns:a16="http://schemas.microsoft.com/office/drawing/2014/main" id="{429FBCE0-2A5A-4E6A-B865-1D901D14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5" name="method-1">
            <a:extLst xmlns:a="http://schemas.openxmlformats.org/drawingml/2006/main">
              <a:ext uri="{FF2B5EF4-FFF2-40B4-BE49-F238E27FC236}">
                <a16:creationId xmlns:a16="http://schemas.microsoft.com/office/drawing/2014/main" id="{8B65F26B-344F-4AED-8C78-17DFA1B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499"/>
            <a:ext cx="5381625" cy="752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method-badge-1">
            <a:extLst xmlns:a="http://schemas.openxmlformats.org/drawingml/2006/main">
              <a:ext uri="{FF2B5EF4-FFF2-40B4-BE49-F238E27FC236}">
                <a16:creationId xmlns:a16="http://schemas.microsoft.com/office/drawing/2014/main" id="{4C719C38-2E6F-4999-B74E-F5857083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57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1F5F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0C17CD00-0AFF-4CCE-B8C8-C5CA43C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 embedding clustering</a:t>
            </a:r>
          </a:p>
        </p:txBody>
      </p:sp>
      <p:sp>
        <p:nvSpPr>
          <p:cNvPr id="8" name="method-desc-1">
            <a:extLst xmlns:a="http://schemas.openxmlformats.org/drawingml/2006/main">
              <a:ext uri="{FF2B5EF4-FFF2-40B4-BE49-F238E27FC236}">
                <a16:creationId xmlns:a16="http://schemas.microsoft.com/office/drawing/2014/main" id="{CE933827-5A40-4AB5-8DDA-A1655815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Find structure in image-text embeddings with K-Means, GMM, PCA, and UMAP.</a:t>
            </a:r>
          </a:p>
        </p:txBody>
      </p:sp>
      <p:sp>
        <p:nvSpPr>
          <p:cNvPr id="9" name="method-2">
            <a:extLst xmlns:a="http://schemas.openxmlformats.org/drawingml/2006/main">
              <a:ext uri="{FF2B5EF4-FFF2-40B4-BE49-F238E27FC236}">
                <a16:creationId xmlns:a16="http://schemas.microsoft.com/office/drawing/2014/main" id="{31D8AE37-DD1A-4BF2-B640-54CDD5F8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381625" cy="7429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ethod-badge-2">
            <a:extLst xmlns:a="http://schemas.openxmlformats.org/drawingml/2006/main">
              <a:ext uri="{FF2B5EF4-FFF2-40B4-BE49-F238E27FC236}">
                <a16:creationId xmlns:a16="http://schemas.microsoft.com/office/drawing/2014/main" id="{C5093283-1B49-4E2E-BF61-90FFA4F6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166B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386F5135-9B7B-4818-8062-0578771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CLIPSeg zero-shot</a:t>
            </a:r>
          </a:p>
        </p:txBody>
      </p:sp>
      <p:sp>
        <p:nvSpPr>
          <p:cNvPr id="12" name="method-desc-2">
            <a:extLst xmlns:a="http://schemas.openxmlformats.org/drawingml/2006/main">
              <a:ext uri="{FF2B5EF4-FFF2-40B4-BE49-F238E27FC236}">
                <a16:creationId xmlns:a16="http://schemas.microsoft.com/office/drawing/2014/main" id="{BEE3B4FC-1955-45F6-9F77-6EE680E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Measure how well a pretrained text-guided </a:t>
            </a: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segmenter</a:t>
            </a: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 transfers to aerial imagery.</a:t>
            </a:r>
          </a:p>
        </p:txBody>
      </p:sp>
      <p:sp>
        <p:nvSpPr>
          <p:cNvPr id="13" name="method-3">
            <a:extLst xmlns:a="http://schemas.openxmlformats.org/drawingml/2006/main">
              <a:ext uri="{FF2B5EF4-FFF2-40B4-BE49-F238E27FC236}">
                <a16:creationId xmlns:a16="http://schemas.microsoft.com/office/drawing/2014/main" id="{CADFFD20-9DEF-4731-AB8C-955F80C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799"/>
            <a:ext cx="5381625" cy="752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method-badge-3">
            <a:extLst xmlns:a="http://schemas.openxmlformats.org/drawingml/2006/main">
              <a:ext uri="{FF2B5EF4-FFF2-40B4-BE49-F238E27FC236}">
                <a16:creationId xmlns:a16="http://schemas.microsoft.com/office/drawing/2014/main" id="{21B53E29-3192-4F6B-82E9-FA38B4B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4DC"/>
          </a:solidFill>
          <a:ln xmlns:a="http://schemas.openxmlformats.org/drawingml/2006/main" w="9525">
            <a:solidFill>
              <a:srgbClr val="B84B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B9211B7E-1699-4BBC-B3BF-349E08FA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Fine-tuned CLIPSeg</a:t>
            </a:r>
          </a:p>
        </p:txBody>
      </p:sp>
      <p:sp>
        <p:nvSpPr>
          <p:cNvPr id="16" name="method-desc-3">
            <a:extLst xmlns:a="http://schemas.openxmlformats.org/drawingml/2006/main">
              <a:ext uri="{FF2B5EF4-FFF2-40B4-BE49-F238E27FC236}">
                <a16:creationId xmlns:a16="http://schemas.microsoft.com/office/drawing/2014/main" id="{A94E3217-5170-4C9E-AAAD-A066619C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 on image-phrase-mask triplets with BCE + Dice Loss for stronger mask overlap.</a:t>
            </a:r>
          </a:p>
        </p:txBody>
      </p:sp>
      <p:sp>
        <p:nvSpPr>
          <p:cNvPr id="17" name="method-4">
            <a:extLst xmlns:a="http://schemas.openxmlformats.org/drawingml/2006/main">
              <a:ext uri="{FF2B5EF4-FFF2-40B4-BE49-F238E27FC236}">
                <a16:creationId xmlns:a16="http://schemas.microsoft.com/office/drawing/2014/main" id="{F59205B8-5466-424E-AF67-846D0325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381625" cy="838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method-badge-4">
            <a:extLst xmlns:a="http://schemas.openxmlformats.org/drawingml/2006/main">
              <a:ext uri="{FF2B5EF4-FFF2-40B4-BE49-F238E27FC236}">
                <a16:creationId xmlns:a16="http://schemas.microsoft.com/office/drawing/2014/main" id="{5E06291D-1C57-431F-9350-144ABEA1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4"/>
          </a:solidFill>
          <a:ln xmlns:a="http://schemas.openxmlformats.org/drawingml/2006/main" w="9525">
            <a:solidFill>
              <a:srgbClr val="9A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method-title-4">
            <a:extLst xmlns:a="http://schemas.openxmlformats.org/drawingml/2006/main">
              <a:ext uri="{FF2B5EF4-FFF2-40B4-BE49-F238E27FC236}">
                <a16:creationId xmlns:a16="http://schemas.microsoft.com/office/drawing/2014/main" id="{410B914D-6306-4FA0-9929-153B25CA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Text-conditioned U-Net</a:t>
            </a:r>
          </a:p>
        </p:txBody>
      </p:sp>
      <p:sp>
        <p:nvSpPr>
          <p:cNvPr id="20" name="method-desc-4">
            <a:extLst xmlns:a="http://schemas.openxmlformats.org/drawingml/2006/main">
              <a:ext uri="{FF2B5EF4-FFF2-40B4-BE49-F238E27FC236}">
                <a16:creationId xmlns:a16="http://schemas.microsoft.com/office/drawing/2014/main" id="{68CFB1F6-7A7D-44F8-8365-03E911AE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959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Use a lightweight decoder that injects CLIP text embeddings into spatial features.</a:t>
            </a:r>
          </a:p>
        </p:txBody>
      </p:sp>
      <p:sp>
        <p:nvSpPr>
          <p:cNvPr id="21" name="metrics-card">
            <a:extLst xmlns:a="http://schemas.openxmlformats.org/drawingml/2006/main">
              <a:ext uri="{FF2B5EF4-FFF2-40B4-BE49-F238E27FC236}">
                <a16:creationId xmlns:a16="http://schemas.microsoft.com/office/drawing/2014/main" id="{CCEC7F0C-3BB7-4FA7-A852-03FA4BF0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333625" cy="27813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metrics-title">
            <a:extLst xmlns:a="http://schemas.openxmlformats.org/drawingml/2006/main">
              <a:ext uri="{FF2B5EF4-FFF2-40B4-BE49-F238E27FC236}">
                <a16:creationId xmlns:a16="http://schemas.microsoft.com/office/drawing/2014/main" id="{AF3F5DAE-F5C5-4A5F-9F25-9B3BD4C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Evaluation metrics</a:t>
            </a:r>
          </a:p>
        </p:txBody>
      </p:sp>
      <p:sp>
        <p:nvSpPr>
          <p:cNvPr id="23" name="unsup-pill">
            <a:extLst xmlns:a="http://schemas.openxmlformats.org/drawingml/2006/main">
              <a:ext uri="{FF2B5EF4-FFF2-40B4-BE49-F238E27FC236}">
                <a16:creationId xmlns:a16="http://schemas.microsoft.com/office/drawing/2014/main" id="{C5C27DE2-7C99-43F1-800F-F431117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DCEF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UNSUPERVISED</a:t>
            </a:r>
          </a:p>
        </p:txBody>
      </p:sp>
      <p:sp>
        <p:nvSpPr>
          <p:cNvPr id="24" name="unsup-metrics">
            <a:extLst xmlns:a="http://schemas.openxmlformats.org/drawingml/2006/main">
              <a:ext uri="{FF2B5EF4-FFF2-40B4-BE49-F238E27FC236}">
                <a16:creationId xmlns:a16="http://schemas.microsoft.com/office/drawing/2014/main" id="{B49C78B4-B499-465C-9E35-5D7BF90F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Silhouette Score</a:t>
            </a:r>
          </a:p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Davies-Bouldin Index</a:t>
            </a:r>
          </a:p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 Purity</a:t>
            </a:r>
          </a:p>
        </p:txBody>
      </p:sp>
      <p:sp>
        <p:nvSpPr>
          <p:cNvPr id="25" name="seg-pill">
            <a:extLst xmlns:a="http://schemas.openxmlformats.org/drawingml/2006/main">
              <a:ext uri="{FF2B5EF4-FFF2-40B4-BE49-F238E27FC236}">
                <a16:creationId xmlns:a16="http://schemas.microsoft.com/office/drawing/2014/main" id="{B55C9869-0043-4076-983F-9CE8C2A4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C"/>
          </a:solidFill>
          <a:ln xmlns:a="http://schemas.openxmlformats.org/drawingml/2006/main" w="9525">
            <a:solidFill>
              <a:srgbClr val="FCE4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SEGMENTATION</a:t>
            </a:r>
          </a:p>
        </p:txBody>
      </p:sp>
      <p:sp>
        <p:nvSpPr>
          <p:cNvPr id="26" name="seg-metrics">
            <a:extLst xmlns:a="http://schemas.openxmlformats.org/drawingml/2006/main">
              <a:ext uri="{FF2B5EF4-FFF2-40B4-BE49-F238E27FC236}">
                <a16:creationId xmlns:a16="http://schemas.microsoft.com/office/drawing/2014/main" id="{F75D3ACB-0E5D-403C-83E9-8AE0798F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338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IoU / mIoU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Dice Coefficient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Precision / Recall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Per-category IoU</a:t>
            </a:r>
          </a:p>
        </p:txBody>
      </p:sp>
      <p:sp>
        <p:nvSpPr>
          <p:cNvPr id="27" name="outcomes-card">
            <a:extLst xmlns:a="http://schemas.openxmlformats.org/drawingml/2006/main">
              <a:ext uri="{FF2B5EF4-FFF2-40B4-BE49-F238E27FC236}">
                <a16:creationId xmlns:a16="http://schemas.microsoft.com/office/drawing/2014/main" id="{EF7000A8-8826-43B6-BBA4-5A42F9A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2362200" cy="27813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03235"/>
          </a:solidFill>
          <a:ln xmlns:a="http://schemas.openxmlformats.org/drawingml/2006/main" w="9525">
            <a:solidFill>
              <a:srgbClr val="2032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outcomes-title">
            <a:extLst xmlns:a="http://schemas.openxmlformats.org/drawingml/2006/main">
              <a:ext uri="{FF2B5EF4-FFF2-40B4-BE49-F238E27FC236}">
                <a16:creationId xmlns:a16="http://schemas.microsoft.com/office/drawing/2014/main" id="{BB9C32AC-89A1-41AB-A437-1917C9DD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241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contribution</a:t>
            </a:r>
          </a:p>
        </p:txBody>
      </p:sp>
      <p:sp>
        <p:nvSpPr>
          <p:cNvPr id="29" name="outcomes-copy">
            <a:extLst xmlns:a="http://schemas.openxmlformats.org/drawingml/2006/main">
              <a:ext uri="{FF2B5EF4-FFF2-40B4-BE49-F238E27FC236}">
                <a16:creationId xmlns:a16="http://schemas.microsoft.com/office/drawing/2014/main" id="{7384E1DF-1212-4719-853E-41C605C2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0" b="0" i="0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080" b="0" i="0">
                <a:solidFill>
                  <a:srgbClr val="DDEBE6"/>
                </a:solidFill>
                <a:latin typeface="Aptos"/>
                <a:ea typeface="Aptos"/>
                <a:cs typeface="Aptos"/>
              </a:rPr>
              <a:t>Tests whether fine-tuning beats zero-shot transfer and whether a simple U-Net is a credible baseline.</a:t>
            </a:r>
          </a:p>
        </p:txBody>
      </p:sp>
      <p:sp>
        <p:nvSpPr>
          <p:cNvPr id="30" name="deliverables-copy">
            <a:extLst xmlns:a="http://schemas.openxmlformats.org/drawingml/2006/main">
              <a:ext uri="{FF2B5EF4-FFF2-40B4-BE49-F238E27FC236}">
                <a16:creationId xmlns:a16="http://schemas.microsoft.com/office/drawing/2014/main" id="{60FBD320-0A59-45E3-9A24-2EAEA55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8" b="0" i="0">
                <a:solidFill>
                  <a:srgbClr val="B8D4CA"/>
                </a:solidFill>
                <a:latin typeface="Aptos"/>
                <a:ea typeface="Aptos"/>
                <a:cs typeface="Aptos"/>
              </a:defRPr>
            </a:pPr>
            <a:r>
              <a:rPr sz="1058" b="0" i="0">
                <a:solidFill>
                  <a:srgbClr val="B8D4CA"/>
                </a:solidFill>
                <a:latin typeface="Aptos"/>
                <a:ea typeface="Aptos"/>
                <a:cs typeface="Aptos"/>
              </a:rPr>
              <a:t>Outputs: metric tables, mask examples, failure cases, final report, and a short demo.</a:t>
            </a:r>
          </a:p>
        </p:txBody>
      </p:sp>
      <p:sp>
        <p:nvSpPr>
          <p:cNvPr id="31" name="timeline-label">
            <a:extLst xmlns:a="http://schemas.openxmlformats.org/drawingml/2006/main">
              <a:ext uri="{FF2B5EF4-FFF2-40B4-BE49-F238E27FC236}">
                <a16:creationId xmlns:a16="http://schemas.microsoft.com/office/drawing/2014/main" id="{DD8DA150-CC57-49C5-9FAD-FCCA852B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Six-week plan</a:t>
            </a:r>
          </a:p>
        </p:txBody>
      </p:sp>
      <p:sp>
        <p:nvSpPr>
          <p:cNvPr id="32" name="week-1">
            <a:extLst xmlns:a="http://schemas.openxmlformats.org/drawingml/2006/main">
              <a:ext uri="{FF2B5EF4-FFF2-40B4-BE49-F238E27FC236}">
                <a16:creationId xmlns:a16="http://schemas.microsoft.com/office/drawing/2014/main" id="{6EE9A361-29F3-4818-92C2-275AE89A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3" name="week-num-1">
            <a:extLst xmlns:a="http://schemas.openxmlformats.org/drawingml/2006/main">
              <a:ext uri="{FF2B5EF4-FFF2-40B4-BE49-F238E27FC236}">
                <a16:creationId xmlns:a16="http://schemas.microsoft.com/office/drawing/2014/main" id="{361E9469-6E37-40A7-86B1-DC90B802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34" name="week-text-1">
            <a:extLst xmlns:a="http://schemas.openxmlformats.org/drawingml/2006/main">
              <a:ext uri="{FF2B5EF4-FFF2-40B4-BE49-F238E27FC236}">
                <a16:creationId xmlns:a16="http://schemas.microsoft.com/office/drawing/2014/main" id="{E59D55B1-37DD-43B3-AB5A-A2F3F459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prep</a:t>
            </a:r>
          </a:p>
        </p:txBody>
      </p:sp>
      <p:sp>
        <p:nvSpPr>
          <p:cNvPr id="35" name="week-2">
            <a:extLst xmlns:a="http://schemas.openxmlformats.org/drawingml/2006/main">
              <a:ext uri="{FF2B5EF4-FFF2-40B4-BE49-F238E27FC236}">
                <a16:creationId xmlns:a16="http://schemas.microsoft.com/office/drawing/2014/main" id="{E2510B3C-D044-467E-A502-B45044A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6" name="week-num-2">
            <a:extLst xmlns:a="http://schemas.openxmlformats.org/drawingml/2006/main">
              <a:ext uri="{FF2B5EF4-FFF2-40B4-BE49-F238E27FC236}">
                <a16:creationId xmlns:a16="http://schemas.microsoft.com/office/drawing/2014/main" id="{9A2958BB-0423-44BD-BA22-D1ECBF88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37" name="week-text-2">
            <a:extLst xmlns:a="http://schemas.openxmlformats.org/drawingml/2006/main">
              <a:ext uri="{FF2B5EF4-FFF2-40B4-BE49-F238E27FC236}">
                <a16:creationId xmlns:a16="http://schemas.microsoft.com/office/drawing/2014/main" id="{105CD90F-363C-45AA-9683-5471FC4B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clusters</a:t>
            </a:r>
          </a:p>
        </p:txBody>
      </p:sp>
      <p:sp>
        <p:nvSpPr>
          <p:cNvPr id="38" name="week-3">
            <a:extLst xmlns:a="http://schemas.openxmlformats.org/drawingml/2006/main">
              <a:ext uri="{FF2B5EF4-FFF2-40B4-BE49-F238E27FC236}">
                <a16:creationId xmlns:a16="http://schemas.microsoft.com/office/drawing/2014/main" id="{FAEC0085-04EA-480D-B6FA-A70AFB9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9" name="week-num-3">
            <a:extLst xmlns:a="http://schemas.openxmlformats.org/drawingml/2006/main">
              <a:ext uri="{FF2B5EF4-FFF2-40B4-BE49-F238E27FC236}">
                <a16:creationId xmlns:a16="http://schemas.microsoft.com/office/drawing/2014/main" id="{8F50C890-8472-4481-8A81-FD03CC1A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40" name="week-text-3">
            <a:extLst xmlns:a="http://schemas.openxmlformats.org/drawingml/2006/main">
              <a:ext uri="{FF2B5EF4-FFF2-40B4-BE49-F238E27FC236}">
                <a16:creationId xmlns:a16="http://schemas.microsoft.com/office/drawing/2014/main" id="{2A9D3F16-DA24-4DCA-B28D-070F316C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Zero-shot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1" name="week-4">
            <a:extLst xmlns:a="http://schemas.openxmlformats.org/drawingml/2006/main">
              <a:ext uri="{FF2B5EF4-FFF2-40B4-BE49-F238E27FC236}">
                <a16:creationId xmlns:a16="http://schemas.microsoft.com/office/drawing/2014/main" id="{3D435713-D4FA-4EC4-9375-3EE9E96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2" name="week-num-4">
            <a:extLst xmlns:a="http://schemas.openxmlformats.org/drawingml/2006/main">
              <a:ext uri="{FF2B5EF4-FFF2-40B4-BE49-F238E27FC236}">
                <a16:creationId xmlns:a16="http://schemas.microsoft.com/office/drawing/2014/main" id="{E748E86E-2748-4544-B89A-E24B95AA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43" name="week-text-4">
            <a:extLst xmlns:a="http://schemas.openxmlformats.org/drawingml/2006/main">
              <a:ext uri="{FF2B5EF4-FFF2-40B4-BE49-F238E27FC236}">
                <a16:creationId xmlns:a16="http://schemas.microsoft.com/office/drawing/2014/main" id="{89BE37AB-CA33-4625-861C-78A9F68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CLIPSeg</a:t>
            </a:r>
          </a:p>
        </p:txBody>
      </p:sp>
      <p:sp>
        <p:nvSpPr>
          <p:cNvPr id="44" name="week-5">
            <a:extLst xmlns:a="http://schemas.openxmlformats.org/drawingml/2006/main">
              <a:ext uri="{FF2B5EF4-FFF2-40B4-BE49-F238E27FC236}">
                <a16:creationId xmlns:a16="http://schemas.microsoft.com/office/drawing/2014/main" id="{C3E1EE34-B392-44EF-AB2C-AF8EE3DE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5" name="week-num-5">
            <a:extLst xmlns:a="http://schemas.openxmlformats.org/drawingml/2006/main">
              <a:ext uri="{FF2B5EF4-FFF2-40B4-BE49-F238E27FC236}">
                <a16:creationId xmlns:a16="http://schemas.microsoft.com/office/drawing/2014/main" id="{CB2AAB4F-953A-43A8-8C76-58C7BD4D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W5</a:t>
            </a:r>
          </a:p>
        </p:txBody>
      </p:sp>
      <p:sp>
        <p:nvSpPr>
          <p:cNvPr id="46" name="week-text-5">
            <a:extLst xmlns:a="http://schemas.openxmlformats.org/drawingml/2006/main">
              <a:ext uri="{FF2B5EF4-FFF2-40B4-BE49-F238E27FC236}">
                <a16:creationId xmlns:a16="http://schemas.microsoft.com/office/drawing/2014/main" id="{2A96BD91-B420-497A-B5F2-18178FA8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U-Net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7" name="week-6">
            <a:extLst xmlns:a="http://schemas.openxmlformats.org/drawingml/2006/main">
              <a:ext uri="{FF2B5EF4-FFF2-40B4-BE49-F238E27FC236}">
                <a16:creationId xmlns:a16="http://schemas.microsoft.com/office/drawing/2014/main" id="{71CDE39B-D0AD-4285-B9AC-57C96851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8" name="week-num-6">
            <a:extLst xmlns:a="http://schemas.openxmlformats.org/drawingml/2006/main">
              <a:ext uri="{FF2B5EF4-FFF2-40B4-BE49-F238E27FC236}">
                <a16:creationId xmlns:a16="http://schemas.microsoft.com/office/drawing/2014/main" id="{17E84259-CC74-438B-89EF-E7F96E8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W6</a:t>
            </a:r>
          </a:p>
        </p:txBody>
      </p:sp>
      <p:sp>
        <p:nvSpPr>
          <p:cNvPr id="49" name="week-text-6">
            <a:extLst xmlns:a="http://schemas.openxmlformats.org/drawingml/2006/main">
              <a:ext uri="{FF2B5EF4-FFF2-40B4-BE49-F238E27FC236}">
                <a16:creationId xmlns:a16="http://schemas.microsoft.com/office/drawing/2014/main" id="{1635E999-19CE-47AF-8A15-62B377E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50" name="footer">
            <a:extLst xmlns:a="http://schemas.openxmlformats.org/drawingml/2006/main">
              <a:ext uri="{FF2B5EF4-FFF2-40B4-BE49-F238E27FC236}">
                <a16:creationId xmlns:a16="http://schemas.microsoft.com/office/drawing/2014/main" id="{637D1885-68B0-4C68-B5E8-9A1BA8D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Source: Project Proposal, Haoming Zhang, CS 8903 Summer 2026</a:t>
            </a:r>
          </a:p>
        </p:txBody>
      </p:sp>
      <p:sp>
        <p:nvSpPr>
          <p:cNvPr id="51" name="slide-num">
            <a:extLst xmlns:a="http://schemas.openxmlformats.org/drawingml/2006/main">
              <a:ext uri="{FF2B5EF4-FFF2-40B4-BE49-F238E27FC236}">
                <a16:creationId xmlns:a16="http://schemas.microsoft.com/office/drawing/2014/main" id="{5EEAE0FB-7DBB-4418-A85E-68785D99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2875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">
            <a:extLst xmlns:a="http://schemas.openxmlformats.org/drawingml/2006/main">
              <a:ext uri="{FF2B5EF4-FFF2-40B4-BE49-F238E27FC236}">
                <a16:creationId xmlns:a16="http://schemas.microsoft.com/office/drawing/2014/main" id="{D26FC9BD-D7A8-4F33-9415-807B5DCA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DD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D044BC-3743-4B50-AE4F-A9FD231A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rPr>
              <a:t>Methods &amp; Metrics</a:t>
            </a:r>
            <a:endParaRPr sz="3150" b="1" i="0">
              <a:solidFill>
                <a:srgbClr val="1320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2FFC7B0-2191-4865-A6BE-96580D77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The project compares unsupervised representation analysis, zero-shot transfer, and supervised text-conditioned segmentation over a six-week plan.</a:t>
            </a:r>
          </a:p>
        </p:txBody>
      </p:sp>
      <p:sp>
        <p:nvSpPr>
          <p:cNvPr id="4" name="methods-label">
            <a:extLst xmlns:a="http://schemas.openxmlformats.org/drawingml/2006/main">
              <a:ext uri="{FF2B5EF4-FFF2-40B4-BE49-F238E27FC236}">
                <a16:creationId xmlns:a16="http://schemas.microsoft.com/office/drawing/2014/main" id="{429FBCE0-2A5A-4E6A-B865-1D901D14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5" name="method-1">
            <a:extLst xmlns:a="http://schemas.openxmlformats.org/drawingml/2006/main">
              <a:ext uri="{FF2B5EF4-FFF2-40B4-BE49-F238E27FC236}">
                <a16:creationId xmlns:a16="http://schemas.microsoft.com/office/drawing/2014/main" id="{8B65F26B-344F-4AED-8C78-17DFA1B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499"/>
            <a:ext cx="5381625" cy="752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method-badge-1">
            <a:extLst xmlns:a="http://schemas.openxmlformats.org/drawingml/2006/main">
              <a:ext uri="{FF2B5EF4-FFF2-40B4-BE49-F238E27FC236}">
                <a16:creationId xmlns:a16="http://schemas.microsoft.com/office/drawing/2014/main" id="{4C719C38-2E6F-4999-B74E-F5857083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57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1F5F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0C17CD00-0AFF-4CCE-B8C8-C5CA43C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 embedding clustering</a:t>
            </a:r>
          </a:p>
        </p:txBody>
      </p:sp>
      <p:sp>
        <p:nvSpPr>
          <p:cNvPr id="8" name="method-desc-1">
            <a:extLst xmlns:a="http://schemas.openxmlformats.org/drawingml/2006/main">
              <a:ext uri="{FF2B5EF4-FFF2-40B4-BE49-F238E27FC236}">
                <a16:creationId xmlns:a16="http://schemas.microsoft.com/office/drawing/2014/main" id="{CE933827-5A40-4AB5-8DDA-A1655815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Find structure in image-text embeddings with K-Means, GMM, PCA, and UMAP.</a:t>
            </a:r>
          </a:p>
        </p:txBody>
      </p:sp>
      <p:sp>
        <p:nvSpPr>
          <p:cNvPr id="9" name="method-2">
            <a:extLst xmlns:a="http://schemas.openxmlformats.org/drawingml/2006/main">
              <a:ext uri="{FF2B5EF4-FFF2-40B4-BE49-F238E27FC236}">
                <a16:creationId xmlns:a16="http://schemas.microsoft.com/office/drawing/2014/main" id="{31D8AE37-DD1A-4BF2-B640-54CDD5F8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381625" cy="7429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ethod-badge-2">
            <a:extLst xmlns:a="http://schemas.openxmlformats.org/drawingml/2006/main">
              <a:ext uri="{FF2B5EF4-FFF2-40B4-BE49-F238E27FC236}">
                <a16:creationId xmlns:a16="http://schemas.microsoft.com/office/drawing/2014/main" id="{C5093283-1B49-4E2E-BF61-90FFA4F6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166B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386F5135-9B7B-4818-8062-0578771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CLIPSeg zero-shot</a:t>
            </a:r>
          </a:p>
        </p:txBody>
      </p:sp>
      <p:sp>
        <p:nvSpPr>
          <p:cNvPr id="12" name="method-desc-2">
            <a:extLst xmlns:a="http://schemas.openxmlformats.org/drawingml/2006/main">
              <a:ext uri="{FF2B5EF4-FFF2-40B4-BE49-F238E27FC236}">
                <a16:creationId xmlns:a16="http://schemas.microsoft.com/office/drawing/2014/main" id="{BEE3B4FC-1955-45F6-9F77-6EE680E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Measure how well a pretrained text-guided </a:t>
            </a: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segmenter</a:t>
            </a: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 transfers to aerial imagery.</a:t>
            </a:r>
          </a:p>
        </p:txBody>
      </p:sp>
      <p:sp>
        <p:nvSpPr>
          <p:cNvPr id="13" name="method-3">
            <a:extLst xmlns:a="http://schemas.openxmlformats.org/drawingml/2006/main">
              <a:ext uri="{FF2B5EF4-FFF2-40B4-BE49-F238E27FC236}">
                <a16:creationId xmlns:a16="http://schemas.microsoft.com/office/drawing/2014/main" id="{CADFFD20-9DEF-4731-AB8C-955F80C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799"/>
            <a:ext cx="5381625" cy="752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method-badge-3">
            <a:extLst xmlns:a="http://schemas.openxmlformats.org/drawingml/2006/main">
              <a:ext uri="{FF2B5EF4-FFF2-40B4-BE49-F238E27FC236}">
                <a16:creationId xmlns:a16="http://schemas.microsoft.com/office/drawing/2014/main" id="{21B53E29-3192-4F6B-82E9-FA38B4B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4DC"/>
          </a:solidFill>
          <a:ln xmlns:a="http://schemas.openxmlformats.org/drawingml/2006/main" w="9525">
            <a:solidFill>
              <a:srgbClr val="B84B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B9211B7E-1699-4BBC-B3BF-349E08FA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Fine-tuned CLIPSeg</a:t>
            </a:r>
          </a:p>
        </p:txBody>
      </p:sp>
      <p:sp>
        <p:nvSpPr>
          <p:cNvPr id="16" name="method-desc-3">
            <a:extLst xmlns:a="http://schemas.openxmlformats.org/drawingml/2006/main">
              <a:ext uri="{FF2B5EF4-FFF2-40B4-BE49-F238E27FC236}">
                <a16:creationId xmlns:a16="http://schemas.microsoft.com/office/drawing/2014/main" id="{A94E3217-5170-4C9E-AAAD-A066619C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 on image-phrase-mask triplets with BCE + Dice Loss for stronger mask overlap.</a:t>
            </a:r>
          </a:p>
        </p:txBody>
      </p:sp>
      <p:sp>
        <p:nvSpPr>
          <p:cNvPr id="17" name="method-4">
            <a:extLst xmlns:a="http://schemas.openxmlformats.org/drawingml/2006/main">
              <a:ext uri="{FF2B5EF4-FFF2-40B4-BE49-F238E27FC236}">
                <a16:creationId xmlns:a16="http://schemas.microsoft.com/office/drawing/2014/main" id="{F59205B8-5466-424E-AF67-846D0325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381625" cy="838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method-badge-4">
            <a:extLst xmlns:a="http://schemas.openxmlformats.org/drawingml/2006/main">
              <a:ext uri="{FF2B5EF4-FFF2-40B4-BE49-F238E27FC236}">
                <a16:creationId xmlns:a16="http://schemas.microsoft.com/office/drawing/2014/main" id="{5E06291D-1C57-431F-9350-144ABEA1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4"/>
          </a:solidFill>
          <a:ln xmlns:a="http://schemas.openxmlformats.org/drawingml/2006/main" w="9525">
            <a:solidFill>
              <a:srgbClr val="9A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method-title-4">
            <a:extLst xmlns:a="http://schemas.openxmlformats.org/drawingml/2006/main">
              <a:ext uri="{FF2B5EF4-FFF2-40B4-BE49-F238E27FC236}">
                <a16:creationId xmlns:a16="http://schemas.microsoft.com/office/drawing/2014/main" id="{410B914D-6306-4FA0-9929-153B25CA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Text-conditioned U-Net</a:t>
            </a:r>
          </a:p>
        </p:txBody>
      </p:sp>
      <p:sp>
        <p:nvSpPr>
          <p:cNvPr id="20" name="method-desc-4">
            <a:extLst xmlns:a="http://schemas.openxmlformats.org/drawingml/2006/main">
              <a:ext uri="{FF2B5EF4-FFF2-40B4-BE49-F238E27FC236}">
                <a16:creationId xmlns:a16="http://schemas.microsoft.com/office/drawing/2014/main" id="{68CFB1F6-7A7D-44F8-8365-03E911AE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959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Use a lightweight decoder that injects CLIP text embeddings into spatial features.</a:t>
            </a:r>
          </a:p>
        </p:txBody>
      </p:sp>
      <p:sp>
        <p:nvSpPr>
          <p:cNvPr id="21" name="metrics-card">
            <a:extLst xmlns:a="http://schemas.openxmlformats.org/drawingml/2006/main">
              <a:ext uri="{FF2B5EF4-FFF2-40B4-BE49-F238E27FC236}">
                <a16:creationId xmlns:a16="http://schemas.microsoft.com/office/drawing/2014/main" id="{CCEC7F0C-3BB7-4FA7-A852-03FA4BF0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333625" cy="27813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metrics-title">
            <a:extLst xmlns:a="http://schemas.openxmlformats.org/drawingml/2006/main">
              <a:ext uri="{FF2B5EF4-FFF2-40B4-BE49-F238E27FC236}">
                <a16:creationId xmlns:a16="http://schemas.microsoft.com/office/drawing/2014/main" id="{AF3F5DAE-F5C5-4A5F-9F25-9B3BD4C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Evaluation metrics</a:t>
            </a:r>
          </a:p>
        </p:txBody>
      </p:sp>
      <p:sp>
        <p:nvSpPr>
          <p:cNvPr id="23" name="unsup-pill">
            <a:extLst xmlns:a="http://schemas.openxmlformats.org/drawingml/2006/main">
              <a:ext uri="{FF2B5EF4-FFF2-40B4-BE49-F238E27FC236}">
                <a16:creationId xmlns:a16="http://schemas.microsoft.com/office/drawing/2014/main" id="{C5C27DE2-7C99-43F1-800F-F431117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DCEF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UNSUPERVISED</a:t>
            </a:r>
          </a:p>
        </p:txBody>
      </p:sp>
      <p:sp>
        <p:nvSpPr>
          <p:cNvPr id="24" name="unsup-metrics">
            <a:extLst xmlns:a="http://schemas.openxmlformats.org/drawingml/2006/main">
              <a:ext uri="{FF2B5EF4-FFF2-40B4-BE49-F238E27FC236}">
                <a16:creationId xmlns:a16="http://schemas.microsoft.com/office/drawing/2014/main" id="{B49C78B4-B499-465C-9E35-5D7BF90F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Silhouette Score</a:t>
            </a:r>
          </a:p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Davies-Bouldin Index</a:t>
            </a:r>
          </a:p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 Purity</a:t>
            </a:r>
          </a:p>
        </p:txBody>
      </p:sp>
      <p:sp>
        <p:nvSpPr>
          <p:cNvPr id="25" name="seg-pill">
            <a:extLst xmlns:a="http://schemas.openxmlformats.org/drawingml/2006/main">
              <a:ext uri="{FF2B5EF4-FFF2-40B4-BE49-F238E27FC236}">
                <a16:creationId xmlns:a16="http://schemas.microsoft.com/office/drawing/2014/main" id="{B55C9869-0043-4076-983F-9CE8C2A4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C"/>
          </a:solidFill>
          <a:ln xmlns:a="http://schemas.openxmlformats.org/drawingml/2006/main" w="9525">
            <a:solidFill>
              <a:srgbClr val="FCE4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SEGMENTATION</a:t>
            </a:r>
          </a:p>
        </p:txBody>
      </p:sp>
      <p:sp>
        <p:nvSpPr>
          <p:cNvPr id="26" name="seg-metrics">
            <a:extLst xmlns:a="http://schemas.openxmlformats.org/drawingml/2006/main">
              <a:ext uri="{FF2B5EF4-FFF2-40B4-BE49-F238E27FC236}">
                <a16:creationId xmlns:a16="http://schemas.microsoft.com/office/drawing/2014/main" id="{F75D3ACB-0E5D-403C-83E9-8AE0798F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338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IoU / mIoU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Dice Coefficient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Precision / Recall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Per-category IoU</a:t>
            </a:r>
          </a:p>
        </p:txBody>
      </p:sp>
      <p:sp>
        <p:nvSpPr>
          <p:cNvPr id="27" name="outcomes-card">
            <a:extLst xmlns:a="http://schemas.openxmlformats.org/drawingml/2006/main">
              <a:ext uri="{FF2B5EF4-FFF2-40B4-BE49-F238E27FC236}">
                <a16:creationId xmlns:a16="http://schemas.microsoft.com/office/drawing/2014/main" id="{EF7000A8-8826-43B6-BBA4-5A42F9A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2362200" cy="27813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03235"/>
          </a:solidFill>
          <a:ln xmlns:a="http://schemas.openxmlformats.org/drawingml/2006/main" w="9525">
            <a:solidFill>
              <a:srgbClr val="2032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outcomes-title">
            <a:extLst xmlns:a="http://schemas.openxmlformats.org/drawingml/2006/main">
              <a:ext uri="{FF2B5EF4-FFF2-40B4-BE49-F238E27FC236}">
                <a16:creationId xmlns:a16="http://schemas.microsoft.com/office/drawing/2014/main" id="{BB9C32AC-89A1-41AB-A437-1917C9DD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241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contribution</a:t>
            </a:r>
          </a:p>
        </p:txBody>
      </p:sp>
      <p:sp>
        <p:nvSpPr>
          <p:cNvPr id="29" name="outcomes-copy">
            <a:extLst xmlns:a="http://schemas.openxmlformats.org/drawingml/2006/main">
              <a:ext uri="{FF2B5EF4-FFF2-40B4-BE49-F238E27FC236}">
                <a16:creationId xmlns:a16="http://schemas.microsoft.com/office/drawing/2014/main" id="{7384E1DF-1212-4719-853E-41C605C2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0" b="0" i="0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080" b="0" i="0">
                <a:solidFill>
                  <a:srgbClr val="DDEBE6"/>
                </a:solidFill>
                <a:latin typeface="Aptos"/>
                <a:ea typeface="Aptos"/>
                <a:cs typeface="Aptos"/>
              </a:rPr>
              <a:t>Tests whether fine-tuning beats zero-shot transfer and whether a simple U-Net is a credible baseline.</a:t>
            </a:r>
          </a:p>
        </p:txBody>
      </p:sp>
      <p:sp>
        <p:nvSpPr>
          <p:cNvPr id="30" name="deliverables-copy">
            <a:extLst xmlns:a="http://schemas.openxmlformats.org/drawingml/2006/main">
              <a:ext uri="{FF2B5EF4-FFF2-40B4-BE49-F238E27FC236}">
                <a16:creationId xmlns:a16="http://schemas.microsoft.com/office/drawing/2014/main" id="{60FBD320-0A59-45E3-9A24-2EAEA55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8" b="0" i="0">
                <a:solidFill>
                  <a:srgbClr val="B8D4CA"/>
                </a:solidFill>
                <a:latin typeface="Aptos"/>
                <a:ea typeface="Aptos"/>
                <a:cs typeface="Aptos"/>
              </a:defRPr>
            </a:pPr>
            <a:r>
              <a:rPr sz="1058" b="0" i="0">
                <a:solidFill>
                  <a:srgbClr val="B8D4CA"/>
                </a:solidFill>
                <a:latin typeface="Aptos"/>
                <a:ea typeface="Aptos"/>
                <a:cs typeface="Aptos"/>
              </a:rPr>
              <a:t>Outputs: metric tables, mask examples, failure cases, final report, and a short demo.</a:t>
            </a:r>
          </a:p>
        </p:txBody>
      </p:sp>
      <p:sp>
        <p:nvSpPr>
          <p:cNvPr id="31" name="timeline-label">
            <a:extLst xmlns:a="http://schemas.openxmlformats.org/drawingml/2006/main">
              <a:ext uri="{FF2B5EF4-FFF2-40B4-BE49-F238E27FC236}">
                <a16:creationId xmlns:a16="http://schemas.microsoft.com/office/drawing/2014/main" id="{DD8DA150-CC57-49C5-9FAD-FCCA852B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Six-week plan</a:t>
            </a:r>
          </a:p>
        </p:txBody>
      </p:sp>
      <p:sp>
        <p:nvSpPr>
          <p:cNvPr id="32" name="week-1">
            <a:extLst xmlns:a="http://schemas.openxmlformats.org/drawingml/2006/main">
              <a:ext uri="{FF2B5EF4-FFF2-40B4-BE49-F238E27FC236}">
                <a16:creationId xmlns:a16="http://schemas.microsoft.com/office/drawing/2014/main" id="{6EE9A361-29F3-4818-92C2-275AE89A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3" name="week-num-1">
            <a:extLst xmlns:a="http://schemas.openxmlformats.org/drawingml/2006/main">
              <a:ext uri="{FF2B5EF4-FFF2-40B4-BE49-F238E27FC236}">
                <a16:creationId xmlns:a16="http://schemas.microsoft.com/office/drawing/2014/main" id="{361E9469-6E37-40A7-86B1-DC90B802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34" name="week-text-1">
            <a:extLst xmlns:a="http://schemas.openxmlformats.org/drawingml/2006/main">
              <a:ext uri="{FF2B5EF4-FFF2-40B4-BE49-F238E27FC236}">
                <a16:creationId xmlns:a16="http://schemas.microsoft.com/office/drawing/2014/main" id="{E59D55B1-37DD-43B3-AB5A-A2F3F459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prep</a:t>
            </a:r>
          </a:p>
        </p:txBody>
      </p:sp>
      <p:sp>
        <p:nvSpPr>
          <p:cNvPr id="35" name="week-2">
            <a:extLst xmlns:a="http://schemas.openxmlformats.org/drawingml/2006/main">
              <a:ext uri="{FF2B5EF4-FFF2-40B4-BE49-F238E27FC236}">
                <a16:creationId xmlns:a16="http://schemas.microsoft.com/office/drawing/2014/main" id="{E2510B3C-D044-467E-A502-B45044A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6" name="week-num-2">
            <a:extLst xmlns:a="http://schemas.openxmlformats.org/drawingml/2006/main">
              <a:ext uri="{FF2B5EF4-FFF2-40B4-BE49-F238E27FC236}">
                <a16:creationId xmlns:a16="http://schemas.microsoft.com/office/drawing/2014/main" id="{9A2958BB-0423-44BD-BA22-D1ECBF88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37" name="week-text-2">
            <a:extLst xmlns:a="http://schemas.openxmlformats.org/drawingml/2006/main">
              <a:ext uri="{FF2B5EF4-FFF2-40B4-BE49-F238E27FC236}">
                <a16:creationId xmlns:a16="http://schemas.microsoft.com/office/drawing/2014/main" id="{105CD90F-363C-45AA-9683-5471FC4B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clusters</a:t>
            </a:r>
          </a:p>
        </p:txBody>
      </p:sp>
      <p:sp>
        <p:nvSpPr>
          <p:cNvPr id="38" name="week-3">
            <a:extLst xmlns:a="http://schemas.openxmlformats.org/drawingml/2006/main">
              <a:ext uri="{FF2B5EF4-FFF2-40B4-BE49-F238E27FC236}">
                <a16:creationId xmlns:a16="http://schemas.microsoft.com/office/drawing/2014/main" id="{FAEC0085-04EA-480D-B6FA-A70AFB9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9" name="week-num-3">
            <a:extLst xmlns:a="http://schemas.openxmlformats.org/drawingml/2006/main">
              <a:ext uri="{FF2B5EF4-FFF2-40B4-BE49-F238E27FC236}">
                <a16:creationId xmlns:a16="http://schemas.microsoft.com/office/drawing/2014/main" id="{8F50C890-8472-4481-8A81-FD03CC1A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40" name="week-text-3">
            <a:extLst xmlns:a="http://schemas.openxmlformats.org/drawingml/2006/main">
              <a:ext uri="{FF2B5EF4-FFF2-40B4-BE49-F238E27FC236}">
                <a16:creationId xmlns:a16="http://schemas.microsoft.com/office/drawing/2014/main" id="{2A9D3F16-DA24-4DCA-B28D-070F316C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Zero-shot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1" name="week-4">
            <a:extLst xmlns:a="http://schemas.openxmlformats.org/drawingml/2006/main">
              <a:ext uri="{FF2B5EF4-FFF2-40B4-BE49-F238E27FC236}">
                <a16:creationId xmlns:a16="http://schemas.microsoft.com/office/drawing/2014/main" id="{3D435713-D4FA-4EC4-9375-3EE9E96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2" name="week-num-4">
            <a:extLst xmlns:a="http://schemas.openxmlformats.org/drawingml/2006/main">
              <a:ext uri="{FF2B5EF4-FFF2-40B4-BE49-F238E27FC236}">
                <a16:creationId xmlns:a16="http://schemas.microsoft.com/office/drawing/2014/main" id="{E748E86E-2748-4544-B89A-E24B95AA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43" name="week-text-4">
            <a:extLst xmlns:a="http://schemas.openxmlformats.org/drawingml/2006/main">
              <a:ext uri="{FF2B5EF4-FFF2-40B4-BE49-F238E27FC236}">
                <a16:creationId xmlns:a16="http://schemas.microsoft.com/office/drawing/2014/main" id="{89BE37AB-CA33-4625-861C-78A9F68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CLIPSeg</a:t>
            </a:r>
          </a:p>
        </p:txBody>
      </p:sp>
      <p:sp>
        <p:nvSpPr>
          <p:cNvPr id="44" name="week-5">
            <a:extLst xmlns:a="http://schemas.openxmlformats.org/drawingml/2006/main">
              <a:ext uri="{FF2B5EF4-FFF2-40B4-BE49-F238E27FC236}">
                <a16:creationId xmlns:a16="http://schemas.microsoft.com/office/drawing/2014/main" id="{C3E1EE34-B392-44EF-AB2C-AF8EE3DE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5" name="week-num-5">
            <a:extLst xmlns:a="http://schemas.openxmlformats.org/drawingml/2006/main">
              <a:ext uri="{FF2B5EF4-FFF2-40B4-BE49-F238E27FC236}">
                <a16:creationId xmlns:a16="http://schemas.microsoft.com/office/drawing/2014/main" id="{CB2AAB4F-953A-43A8-8C76-58C7BD4D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W5</a:t>
            </a:r>
          </a:p>
        </p:txBody>
      </p:sp>
      <p:sp>
        <p:nvSpPr>
          <p:cNvPr id="46" name="week-text-5">
            <a:extLst xmlns:a="http://schemas.openxmlformats.org/drawingml/2006/main">
              <a:ext uri="{FF2B5EF4-FFF2-40B4-BE49-F238E27FC236}">
                <a16:creationId xmlns:a16="http://schemas.microsoft.com/office/drawing/2014/main" id="{2A96BD91-B420-497A-B5F2-18178FA8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U-Net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7" name="week-6">
            <a:extLst xmlns:a="http://schemas.openxmlformats.org/drawingml/2006/main">
              <a:ext uri="{FF2B5EF4-FFF2-40B4-BE49-F238E27FC236}">
                <a16:creationId xmlns:a16="http://schemas.microsoft.com/office/drawing/2014/main" id="{71CDE39B-D0AD-4285-B9AC-57C96851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8" name="week-num-6">
            <a:extLst xmlns:a="http://schemas.openxmlformats.org/drawingml/2006/main">
              <a:ext uri="{FF2B5EF4-FFF2-40B4-BE49-F238E27FC236}">
                <a16:creationId xmlns:a16="http://schemas.microsoft.com/office/drawing/2014/main" id="{17E84259-CC74-438B-89EF-E7F96E8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W6</a:t>
            </a:r>
          </a:p>
        </p:txBody>
      </p:sp>
      <p:sp>
        <p:nvSpPr>
          <p:cNvPr id="49" name="week-text-6">
            <a:extLst xmlns:a="http://schemas.openxmlformats.org/drawingml/2006/main">
              <a:ext uri="{FF2B5EF4-FFF2-40B4-BE49-F238E27FC236}">
                <a16:creationId xmlns:a16="http://schemas.microsoft.com/office/drawing/2014/main" id="{1635E999-19CE-47AF-8A15-62B377E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50" name="footer">
            <a:extLst xmlns:a="http://schemas.openxmlformats.org/drawingml/2006/main">
              <a:ext uri="{FF2B5EF4-FFF2-40B4-BE49-F238E27FC236}">
                <a16:creationId xmlns:a16="http://schemas.microsoft.com/office/drawing/2014/main" id="{637D1885-68B0-4C68-B5E8-9A1BA8D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Source: Project Proposal, Haoming Zhang, CS 8903 Summer 2026</a:t>
            </a:r>
          </a:p>
        </p:txBody>
      </p:sp>
      <p:sp>
        <p:nvSpPr>
          <p:cNvPr id="51" name="slide-num">
            <a:extLst xmlns:a="http://schemas.openxmlformats.org/drawingml/2006/main">
              <a:ext uri="{FF2B5EF4-FFF2-40B4-BE49-F238E27FC236}">
                <a16:creationId xmlns:a16="http://schemas.microsoft.com/office/drawing/2014/main" id="{5EEAE0FB-7DBB-4418-A85E-68785D99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2875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">
            <a:extLst xmlns:a="http://schemas.openxmlformats.org/drawingml/2006/main">
              <a:ext uri="{FF2B5EF4-FFF2-40B4-BE49-F238E27FC236}">
                <a16:creationId xmlns:a16="http://schemas.microsoft.com/office/drawing/2014/main" id="{D26FC9BD-D7A8-4F33-9415-807B5DCA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DD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D044BC-3743-4B50-AE4F-A9FD231A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rPr>
              <a:t>Methods &amp; Metrics</a:t>
            </a:r>
            <a:endParaRPr sz="3150" b="1" i="0">
              <a:solidFill>
                <a:srgbClr val="1320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2FFC7B0-2191-4865-A6BE-96580D77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The project compares unsupervised representation analysis, zero-shot transfer, and supervised text-conditioned segmentation over a six-week plan.</a:t>
            </a:r>
          </a:p>
        </p:txBody>
      </p:sp>
      <p:sp>
        <p:nvSpPr>
          <p:cNvPr id="4" name="methods-label">
            <a:extLst xmlns:a="http://schemas.openxmlformats.org/drawingml/2006/main">
              <a:ext uri="{FF2B5EF4-FFF2-40B4-BE49-F238E27FC236}">
                <a16:creationId xmlns:a16="http://schemas.microsoft.com/office/drawing/2014/main" id="{429FBCE0-2A5A-4E6A-B865-1D901D14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5" name="method-1">
            <a:extLst xmlns:a="http://schemas.openxmlformats.org/drawingml/2006/main">
              <a:ext uri="{FF2B5EF4-FFF2-40B4-BE49-F238E27FC236}">
                <a16:creationId xmlns:a16="http://schemas.microsoft.com/office/drawing/2014/main" id="{8B65F26B-344F-4AED-8C78-17DFA1B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499"/>
            <a:ext cx="5381625" cy="752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method-badge-1">
            <a:extLst xmlns:a="http://schemas.openxmlformats.org/drawingml/2006/main">
              <a:ext uri="{FF2B5EF4-FFF2-40B4-BE49-F238E27FC236}">
                <a16:creationId xmlns:a16="http://schemas.microsoft.com/office/drawing/2014/main" id="{4C719C38-2E6F-4999-B74E-F5857083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57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1F5F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0C17CD00-0AFF-4CCE-B8C8-C5CA43C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 embedding clustering</a:t>
            </a:r>
          </a:p>
        </p:txBody>
      </p:sp>
      <p:sp>
        <p:nvSpPr>
          <p:cNvPr id="8" name="method-desc-1">
            <a:extLst xmlns:a="http://schemas.openxmlformats.org/drawingml/2006/main">
              <a:ext uri="{FF2B5EF4-FFF2-40B4-BE49-F238E27FC236}">
                <a16:creationId xmlns:a16="http://schemas.microsoft.com/office/drawing/2014/main" id="{CE933827-5A40-4AB5-8DDA-A1655815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Find structure in image-text embeddings with K-Means, GMM, PCA, and UMAP.</a:t>
            </a:r>
          </a:p>
        </p:txBody>
      </p:sp>
      <p:sp>
        <p:nvSpPr>
          <p:cNvPr id="9" name="method-2">
            <a:extLst xmlns:a="http://schemas.openxmlformats.org/drawingml/2006/main">
              <a:ext uri="{FF2B5EF4-FFF2-40B4-BE49-F238E27FC236}">
                <a16:creationId xmlns:a16="http://schemas.microsoft.com/office/drawing/2014/main" id="{31D8AE37-DD1A-4BF2-B640-54CDD5F8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381625" cy="7429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ethod-badge-2">
            <a:extLst xmlns:a="http://schemas.openxmlformats.org/drawingml/2006/main">
              <a:ext uri="{FF2B5EF4-FFF2-40B4-BE49-F238E27FC236}">
                <a16:creationId xmlns:a16="http://schemas.microsoft.com/office/drawing/2014/main" id="{C5093283-1B49-4E2E-BF61-90FFA4F6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166B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386F5135-9B7B-4818-8062-0578771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CLIPSeg zero-shot</a:t>
            </a:r>
          </a:p>
        </p:txBody>
      </p:sp>
      <p:sp>
        <p:nvSpPr>
          <p:cNvPr id="12" name="method-desc-2">
            <a:extLst xmlns:a="http://schemas.openxmlformats.org/drawingml/2006/main">
              <a:ext uri="{FF2B5EF4-FFF2-40B4-BE49-F238E27FC236}">
                <a16:creationId xmlns:a16="http://schemas.microsoft.com/office/drawing/2014/main" id="{BEE3B4FC-1955-45F6-9F77-6EE680E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Measure how well a pretrained text-guided </a:t>
            </a: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segmenter</a:t>
            </a: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 transfers to aerial imagery.</a:t>
            </a:r>
          </a:p>
        </p:txBody>
      </p:sp>
      <p:sp>
        <p:nvSpPr>
          <p:cNvPr id="13" name="method-3">
            <a:extLst xmlns:a="http://schemas.openxmlformats.org/drawingml/2006/main">
              <a:ext uri="{FF2B5EF4-FFF2-40B4-BE49-F238E27FC236}">
                <a16:creationId xmlns:a16="http://schemas.microsoft.com/office/drawing/2014/main" id="{CADFFD20-9DEF-4731-AB8C-955F80C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799"/>
            <a:ext cx="5381625" cy="752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method-badge-3">
            <a:extLst xmlns:a="http://schemas.openxmlformats.org/drawingml/2006/main">
              <a:ext uri="{FF2B5EF4-FFF2-40B4-BE49-F238E27FC236}">
                <a16:creationId xmlns:a16="http://schemas.microsoft.com/office/drawing/2014/main" id="{21B53E29-3192-4F6B-82E9-FA38B4B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4DC"/>
          </a:solidFill>
          <a:ln xmlns:a="http://schemas.openxmlformats.org/drawingml/2006/main" w="9525">
            <a:solidFill>
              <a:srgbClr val="B84B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B9211B7E-1699-4BBC-B3BF-349E08FA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Fine-tuned CLIPSeg</a:t>
            </a:r>
          </a:p>
        </p:txBody>
      </p:sp>
      <p:sp>
        <p:nvSpPr>
          <p:cNvPr id="16" name="method-desc-3">
            <a:extLst xmlns:a="http://schemas.openxmlformats.org/drawingml/2006/main">
              <a:ext uri="{FF2B5EF4-FFF2-40B4-BE49-F238E27FC236}">
                <a16:creationId xmlns:a16="http://schemas.microsoft.com/office/drawing/2014/main" id="{A94E3217-5170-4C9E-AAAD-A066619C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 on image-phrase-mask triplets with BCE + Dice Loss for stronger mask overlap.</a:t>
            </a:r>
          </a:p>
        </p:txBody>
      </p:sp>
      <p:sp>
        <p:nvSpPr>
          <p:cNvPr id="17" name="method-4">
            <a:extLst xmlns:a="http://schemas.openxmlformats.org/drawingml/2006/main">
              <a:ext uri="{FF2B5EF4-FFF2-40B4-BE49-F238E27FC236}">
                <a16:creationId xmlns:a16="http://schemas.microsoft.com/office/drawing/2014/main" id="{F59205B8-5466-424E-AF67-846D0325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381625" cy="838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method-badge-4">
            <a:extLst xmlns:a="http://schemas.openxmlformats.org/drawingml/2006/main">
              <a:ext uri="{FF2B5EF4-FFF2-40B4-BE49-F238E27FC236}">
                <a16:creationId xmlns:a16="http://schemas.microsoft.com/office/drawing/2014/main" id="{5E06291D-1C57-431F-9350-144ABEA1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4"/>
          </a:solidFill>
          <a:ln xmlns:a="http://schemas.openxmlformats.org/drawingml/2006/main" w="9525">
            <a:solidFill>
              <a:srgbClr val="9A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method-title-4">
            <a:extLst xmlns:a="http://schemas.openxmlformats.org/drawingml/2006/main">
              <a:ext uri="{FF2B5EF4-FFF2-40B4-BE49-F238E27FC236}">
                <a16:creationId xmlns:a16="http://schemas.microsoft.com/office/drawing/2014/main" id="{410B914D-6306-4FA0-9929-153B25CA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Text-conditioned U-Net</a:t>
            </a:r>
          </a:p>
        </p:txBody>
      </p:sp>
      <p:sp>
        <p:nvSpPr>
          <p:cNvPr id="20" name="method-desc-4">
            <a:extLst xmlns:a="http://schemas.openxmlformats.org/drawingml/2006/main">
              <a:ext uri="{FF2B5EF4-FFF2-40B4-BE49-F238E27FC236}">
                <a16:creationId xmlns:a16="http://schemas.microsoft.com/office/drawing/2014/main" id="{68CFB1F6-7A7D-44F8-8365-03E911AE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959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Use a lightweight decoder that injects CLIP text embeddings into spatial features.</a:t>
            </a:r>
          </a:p>
        </p:txBody>
      </p:sp>
      <p:sp>
        <p:nvSpPr>
          <p:cNvPr id="21" name="metrics-card">
            <a:extLst xmlns:a="http://schemas.openxmlformats.org/drawingml/2006/main">
              <a:ext uri="{FF2B5EF4-FFF2-40B4-BE49-F238E27FC236}">
                <a16:creationId xmlns:a16="http://schemas.microsoft.com/office/drawing/2014/main" id="{CCEC7F0C-3BB7-4FA7-A852-03FA4BF0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333625" cy="27813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metrics-title">
            <a:extLst xmlns:a="http://schemas.openxmlformats.org/drawingml/2006/main">
              <a:ext uri="{FF2B5EF4-FFF2-40B4-BE49-F238E27FC236}">
                <a16:creationId xmlns:a16="http://schemas.microsoft.com/office/drawing/2014/main" id="{AF3F5DAE-F5C5-4A5F-9F25-9B3BD4C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Evaluation metrics</a:t>
            </a:r>
          </a:p>
        </p:txBody>
      </p:sp>
      <p:sp>
        <p:nvSpPr>
          <p:cNvPr id="23" name="unsup-pill">
            <a:extLst xmlns:a="http://schemas.openxmlformats.org/drawingml/2006/main">
              <a:ext uri="{FF2B5EF4-FFF2-40B4-BE49-F238E27FC236}">
                <a16:creationId xmlns:a16="http://schemas.microsoft.com/office/drawing/2014/main" id="{C5C27DE2-7C99-43F1-800F-F431117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DCEF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UNSUPERVISED</a:t>
            </a:r>
          </a:p>
        </p:txBody>
      </p:sp>
      <p:sp>
        <p:nvSpPr>
          <p:cNvPr id="24" name="unsup-metrics">
            <a:extLst xmlns:a="http://schemas.openxmlformats.org/drawingml/2006/main">
              <a:ext uri="{FF2B5EF4-FFF2-40B4-BE49-F238E27FC236}">
                <a16:creationId xmlns:a16="http://schemas.microsoft.com/office/drawing/2014/main" id="{B49C78B4-B499-465C-9E35-5D7BF90F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Silhouette Score</a:t>
            </a:r>
          </a:p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Davies-Bouldin Index</a:t>
            </a:r>
          </a:p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 Purity</a:t>
            </a:r>
          </a:p>
        </p:txBody>
      </p:sp>
      <p:sp>
        <p:nvSpPr>
          <p:cNvPr id="25" name="seg-pill">
            <a:extLst xmlns:a="http://schemas.openxmlformats.org/drawingml/2006/main">
              <a:ext uri="{FF2B5EF4-FFF2-40B4-BE49-F238E27FC236}">
                <a16:creationId xmlns:a16="http://schemas.microsoft.com/office/drawing/2014/main" id="{B55C9869-0043-4076-983F-9CE8C2A4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C"/>
          </a:solidFill>
          <a:ln xmlns:a="http://schemas.openxmlformats.org/drawingml/2006/main" w="9525">
            <a:solidFill>
              <a:srgbClr val="FCE4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SEGMENTATION</a:t>
            </a:r>
          </a:p>
        </p:txBody>
      </p:sp>
      <p:sp>
        <p:nvSpPr>
          <p:cNvPr id="26" name="seg-metrics">
            <a:extLst xmlns:a="http://schemas.openxmlformats.org/drawingml/2006/main">
              <a:ext uri="{FF2B5EF4-FFF2-40B4-BE49-F238E27FC236}">
                <a16:creationId xmlns:a16="http://schemas.microsoft.com/office/drawing/2014/main" id="{F75D3ACB-0E5D-403C-83E9-8AE0798F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338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IoU / mIoU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Dice Coefficient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Precision / Recall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Per-category IoU</a:t>
            </a:r>
          </a:p>
        </p:txBody>
      </p:sp>
      <p:sp>
        <p:nvSpPr>
          <p:cNvPr id="27" name="outcomes-card">
            <a:extLst xmlns:a="http://schemas.openxmlformats.org/drawingml/2006/main">
              <a:ext uri="{FF2B5EF4-FFF2-40B4-BE49-F238E27FC236}">
                <a16:creationId xmlns:a16="http://schemas.microsoft.com/office/drawing/2014/main" id="{EF7000A8-8826-43B6-BBA4-5A42F9A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2362200" cy="27813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03235"/>
          </a:solidFill>
          <a:ln xmlns:a="http://schemas.openxmlformats.org/drawingml/2006/main" w="9525">
            <a:solidFill>
              <a:srgbClr val="2032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outcomes-title">
            <a:extLst xmlns:a="http://schemas.openxmlformats.org/drawingml/2006/main">
              <a:ext uri="{FF2B5EF4-FFF2-40B4-BE49-F238E27FC236}">
                <a16:creationId xmlns:a16="http://schemas.microsoft.com/office/drawing/2014/main" id="{BB9C32AC-89A1-41AB-A437-1917C9DD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241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contribution</a:t>
            </a:r>
          </a:p>
        </p:txBody>
      </p:sp>
      <p:sp>
        <p:nvSpPr>
          <p:cNvPr id="29" name="outcomes-copy">
            <a:extLst xmlns:a="http://schemas.openxmlformats.org/drawingml/2006/main">
              <a:ext uri="{FF2B5EF4-FFF2-40B4-BE49-F238E27FC236}">
                <a16:creationId xmlns:a16="http://schemas.microsoft.com/office/drawing/2014/main" id="{7384E1DF-1212-4719-853E-41C605C2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0" b="0" i="0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080" b="0" i="0">
                <a:solidFill>
                  <a:srgbClr val="DDEBE6"/>
                </a:solidFill>
                <a:latin typeface="Aptos"/>
                <a:ea typeface="Aptos"/>
                <a:cs typeface="Aptos"/>
              </a:rPr>
              <a:t>Tests whether fine-tuning beats zero-shot transfer and whether a simple U-Net is a credible baseline.</a:t>
            </a:r>
          </a:p>
        </p:txBody>
      </p:sp>
      <p:sp>
        <p:nvSpPr>
          <p:cNvPr id="30" name="deliverables-copy">
            <a:extLst xmlns:a="http://schemas.openxmlformats.org/drawingml/2006/main">
              <a:ext uri="{FF2B5EF4-FFF2-40B4-BE49-F238E27FC236}">
                <a16:creationId xmlns:a16="http://schemas.microsoft.com/office/drawing/2014/main" id="{60FBD320-0A59-45E3-9A24-2EAEA55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8" b="0" i="0">
                <a:solidFill>
                  <a:srgbClr val="B8D4CA"/>
                </a:solidFill>
                <a:latin typeface="Aptos"/>
                <a:ea typeface="Aptos"/>
                <a:cs typeface="Aptos"/>
              </a:defRPr>
            </a:pPr>
            <a:r>
              <a:rPr sz="1058" b="0" i="0">
                <a:solidFill>
                  <a:srgbClr val="B8D4CA"/>
                </a:solidFill>
                <a:latin typeface="Aptos"/>
                <a:ea typeface="Aptos"/>
                <a:cs typeface="Aptos"/>
              </a:rPr>
              <a:t>Outputs: metric tables, mask examples, failure cases, final report, and a short demo.</a:t>
            </a:r>
          </a:p>
        </p:txBody>
      </p:sp>
      <p:sp>
        <p:nvSpPr>
          <p:cNvPr id="31" name="timeline-label">
            <a:extLst xmlns:a="http://schemas.openxmlformats.org/drawingml/2006/main">
              <a:ext uri="{FF2B5EF4-FFF2-40B4-BE49-F238E27FC236}">
                <a16:creationId xmlns:a16="http://schemas.microsoft.com/office/drawing/2014/main" id="{DD8DA150-CC57-49C5-9FAD-FCCA852B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Six-week plan</a:t>
            </a:r>
          </a:p>
        </p:txBody>
      </p:sp>
      <p:sp>
        <p:nvSpPr>
          <p:cNvPr id="32" name="week-1">
            <a:extLst xmlns:a="http://schemas.openxmlformats.org/drawingml/2006/main">
              <a:ext uri="{FF2B5EF4-FFF2-40B4-BE49-F238E27FC236}">
                <a16:creationId xmlns:a16="http://schemas.microsoft.com/office/drawing/2014/main" id="{6EE9A361-29F3-4818-92C2-275AE89A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3" name="week-num-1">
            <a:extLst xmlns:a="http://schemas.openxmlformats.org/drawingml/2006/main">
              <a:ext uri="{FF2B5EF4-FFF2-40B4-BE49-F238E27FC236}">
                <a16:creationId xmlns:a16="http://schemas.microsoft.com/office/drawing/2014/main" id="{361E9469-6E37-40A7-86B1-DC90B802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34" name="week-text-1">
            <a:extLst xmlns:a="http://schemas.openxmlformats.org/drawingml/2006/main">
              <a:ext uri="{FF2B5EF4-FFF2-40B4-BE49-F238E27FC236}">
                <a16:creationId xmlns:a16="http://schemas.microsoft.com/office/drawing/2014/main" id="{E59D55B1-37DD-43B3-AB5A-A2F3F459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prep</a:t>
            </a:r>
          </a:p>
        </p:txBody>
      </p:sp>
      <p:sp>
        <p:nvSpPr>
          <p:cNvPr id="35" name="week-2">
            <a:extLst xmlns:a="http://schemas.openxmlformats.org/drawingml/2006/main">
              <a:ext uri="{FF2B5EF4-FFF2-40B4-BE49-F238E27FC236}">
                <a16:creationId xmlns:a16="http://schemas.microsoft.com/office/drawing/2014/main" id="{E2510B3C-D044-467E-A502-B45044A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6" name="week-num-2">
            <a:extLst xmlns:a="http://schemas.openxmlformats.org/drawingml/2006/main">
              <a:ext uri="{FF2B5EF4-FFF2-40B4-BE49-F238E27FC236}">
                <a16:creationId xmlns:a16="http://schemas.microsoft.com/office/drawing/2014/main" id="{9A2958BB-0423-44BD-BA22-D1ECBF88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37" name="week-text-2">
            <a:extLst xmlns:a="http://schemas.openxmlformats.org/drawingml/2006/main">
              <a:ext uri="{FF2B5EF4-FFF2-40B4-BE49-F238E27FC236}">
                <a16:creationId xmlns:a16="http://schemas.microsoft.com/office/drawing/2014/main" id="{105CD90F-363C-45AA-9683-5471FC4B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clusters</a:t>
            </a:r>
          </a:p>
        </p:txBody>
      </p:sp>
      <p:sp>
        <p:nvSpPr>
          <p:cNvPr id="38" name="week-3">
            <a:extLst xmlns:a="http://schemas.openxmlformats.org/drawingml/2006/main">
              <a:ext uri="{FF2B5EF4-FFF2-40B4-BE49-F238E27FC236}">
                <a16:creationId xmlns:a16="http://schemas.microsoft.com/office/drawing/2014/main" id="{FAEC0085-04EA-480D-B6FA-A70AFB9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9" name="week-num-3">
            <a:extLst xmlns:a="http://schemas.openxmlformats.org/drawingml/2006/main">
              <a:ext uri="{FF2B5EF4-FFF2-40B4-BE49-F238E27FC236}">
                <a16:creationId xmlns:a16="http://schemas.microsoft.com/office/drawing/2014/main" id="{8F50C890-8472-4481-8A81-FD03CC1A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40" name="week-text-3">
            <a:extLst xmlns:a="http://schemas.openxmlformats.org/drawingml/2006/main">
              <a:ext uri="{FF2B5EF4-FFF2-40B4-BE49-F238E27FC236}">
                <a16:creationId xmlns:a16="http://schemas.microsoft.com/office/drawing/2014/main" id="{2A9D3F16-DA24-4DCA-B28D-070F316C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Zero-shot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1" name="week-4">
            <a:extLst xmlns:a="http://schemas.openxmlformats.org/drawingml/2006/main">
              <a:ext uri="{FF2B5EF4-FFF2-40B4-BE49-F238E27FC236}">
                <a16:creationId xmlns:a16="http://schemas.microsoft.com/office/drawing/2014/main" id="{3D435713-D4FA-4EC4-9375-3EE9E96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2" name="week-num-4">
            <a:extLst xmlns:a="http://schemas.openxmlformats.org/drawingml/2006/main">
              <a:ext uri="{FF2B5EF4-FFF2-40B4-BE49-F238E27FC236}">
                <a16:creationId xmlns:a16="http://schemas.microsoft.com/office/drawing/2014/main" id="{E748E86E-2748-4544-B89A-E24B95AA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43" name="week-text-4">
            <a:extLst xmlns:a="http://schemas.openxmlformats.org/drawingml/2006/main">
              <a:ext uri="{FF2B5EF4-FFF2-40B4-BE49-F238E27FC236}">
                <a16:creationId xmlns:a16="http://schemas.microsoft.com/office/drawing/2014/main" id="{89BE37AB-CA33-4625-861C-78A9F68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CLIPSeg</a:t>
            </a:r>
          </a:p>
        </p:txBody>
      </p:sp>
      <p:sp>
        <p:nvSpPr>
          <p:cNvPr id="44" name="week-5">
            <a:extLst xmlns:a="http://schemas.openxmlformats.org/drawingml/2006/main">
              <a:ext uri="{FF2B5EF4-FFF2-40B4-BE49-F238E27FC236}">
                <a16:creationId xmlns:a16="http://schemas.microsoft.com/office/drawing/2014/main" id="{C3E1EE34-B392-44EF-AB2C-AF8EE3DE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5" name="week-num-5">
            <a:extLst xmlns:a="http://schemas.openxmlformats.org/drawingml/2006/main">
              <a:ext uri="{FF2B5EF4-FFF2-40B4-BE49-F238E27FC236}">
                <a16:creationId xmlns:a16="http://schemas.microsoft.com/office/drawing/2014/main" id="{CB2AAB4F-953A-43A8-8C76-58C7BD4D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W5</a:t>
            </a:r>
          </a:p>
        </p:txBody>
      </p:sp>
      <p:sp>
        <p:nvSpPr>
          <p:cNvPr id="46" name="week-text-5">
            <a:extLst xmlns:a="http://schemas.openxmlformats.org/drawingml/2006/main">
              <a:ext uri="{FF2B5EF4-FFF2-40B4-BE49-F238E27FC236}">
                <a16:creationId xmlns:a16="http://schemas.microsoft.com/office/drawing/2014/main" id="{2A96BD91-B420-497A-B5F2-18178FA8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U-Net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7" name="week-6">
            <a:extLst xmlns:a="http://schemas.openxmlformats.org/drawingml/2006/main">
              <a:ext uri="{FF2B5EF4-FFF2-40B4-BE49-F238E27FC236}">
                <a16:creationId xmlns:a16="http://schemas.microsoft.com/office/drawing/2014/main" id="{71CDE39B-D0AD-4285-B9AC-57C96851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8" name="week-num-6">
            <a:extLst xmlns:a="http://schemas.openxmlformats.org/drawingml/2006/main">
              <a:ext uri="{FF2B5EF4-FFF2-40B4-BE49-F238E27FC236}">
                <a16:creationId xmlns:a16="http://schemas.microsoft.com/office/drawing/2014/main" id="{17E84259-CC74-438B-89EF-E7F96E8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W6</a:t>
            </a:r>
          </a:p>
        </p:txBody>
      </p:sp>
      <p:sp>
        <p:nvSpPr>
          <p:cNvPr id="49" name="week-text-6">
            <a:extLst xmlns:a="http://schemas.openxmlformats.org/drawingml/2006/main">
              <a:ext uri="{FF2B5EF4-FFF2-40B4-BE49-F238E27FC236}">
                <a16:creationId xmlns:a16="http://schemas.microsoft.com/office/drawing/2014/main" id="{1635E999-19CE-47AF-8A15-62B377E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50" name="footer">
            <a:extLst xmlns:a="http://schemas.openxmlformats.org/drawingml/2006/main">
              <a:ext uri="{FF2B5EF4-FFF2-40B4-BE49-F238E27FC236}">
                <a16:creationId xmlns:a16="http://schemas.microsoft.com/office/drawing/2014/main" id="{637D1885-68B0-4C68-B5E8-9A1BA8D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Source: Project Proposal, Haoming Zhang, CS 8903 Summer 2026</a:t>
            </a:r>
          </a:p>
        </p:txBody>
      </p:sp>
      <p:sp>
        <p:nvSpPr>
          <p:cNvPr id="51" name="slide-num">
            <a:extLst xmlns:a="http://schemas.openxmlformats.org/drawingml/2006/main">
              <a:ext uri="{FF2B5EF4-FFF2-40B4-BE49-F238E27FC236}">
                <a16:creationId xmlns:a16="http://schemas.microsoft.com/office/drawing/2014/main" id="{5EEAE0FB-7DBB-4418-A85E-68785D99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2875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">
            <a:extLst xmlns:a="http://schemas.openxmlformats.org/drawingml/2006/main">
              <a:ext uri="{FF2B5EF4-FFF2-40B4-BE49-F238E27FC236}">
                <a16:creationId xmlns:a16="http://schemas.microsoft.com/office/drawing/2014/main" id="{D26FC9BD-D7A8-4F33-9415-807B5DCA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DD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D044BC-3743-4B50-AE4F-A9FD231A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rPr>
              <a:t>Methods &amp; Metrics</a:t>
            </a:r>
            <a:endParaRPr sz="3150" b="1" i="0">
              <a:solidFill>
                <a:srgbClr val="1320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2FFC7B0-2191-4865-A6BE-96580D77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The project compares unsupervised representation analysis, zero-shot transfer, and supervised text-conditioned segmentation over a six-week plan.</a:t>
            </a:r>
          </a:p>
        </p:txBody>
      </p:sp>
      <p:sp>
        <p:nvSpPr>
          <p:cNvPr id="4" name="methods-label">
            <a:extLst xmlns:a="http://schemas.openxmlformats.org/drawingml/2006/main">
              <a:ext uri="{FF2B5EF4-FFF2-40B4-BE49-F238E27FC236}">
                <a16:creationId xmlns:a16="http://schemas.microsoft.com/office/drawing/2014/main" id="{429FBCE0-2A5A-4E6A-B865-1D901D14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5" name="method-1">
            <a:extLst xmlns:a="http://schemas.openxmlformats.org/drawingml/2006/main">
              <a:ext uri="{FF2B5EF4-FFF2-40B4-BE49-F238E27FC236}">
                <a16:creationId xmlns:a16="http://schemas.microsoft.com/office/drawing/2014/main" id="{8B65F26B-344F-4AED-8C78-17DFA1B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499"/>
            <a:ext cx="5381625" cy="752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method-badge-1">
            <a:extLst xmlns:a="http://schemas.openxmlformats.org/drawingml/2006/main">
              <a:ext uri="{FF2B5EF4-FFF2-40B4-BE49-F238E27FC236}">
                <a16:creationId xmlns:a16="http://schemas.microsoft.com/office/drawing/2014/main" id="{4C719C38-2E6F-4999-B74E-F5857083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57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1F5F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0C17CD00-0AFF-4CCE-B8C8-C5CA43C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 embedding clustering</a:t>
            </a:r>
          </a:p>
        </p:txBody>
      </p:sp>
      <p:sp>
        <p:nvSpPr>
          <p:cNvPr id="8" name="method-desc-1">
            <a:extLst xmlns:a="http://schemas.openxmlformats.org/drawingml/2006/main">
              <a:ext uri="{FF2B5EF4-FFF2-40B4-BE49-F238E27FC236}">
                <a16:creationId xmlns:a16="http://schemas.microsoft.com/office/drawing/2014/main" id="{CE933827-5A40-4AB5-8DDA-A1655815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Find structure in image-text embeddings with K-Means, GMM, PCA, and UMAP.</a:t>
            </a:r>
          </a:p>
        </p:txBody>
      </p:sp>
      <p:sp>
        <p:nvSpPr>
          <p:cNvPr id="9" name="method-2">
            <a:extLst xmlns:a="http://schemas.openxmlformats.org/drawingml/2006/main">
              <a:ext uri="{FF2B5EF4-FFF2-40B4-BE49-F238E27FC236}">
                <a16:creationId xmlns:a16="http://schemas.microsoft.com/office/drawing/2014/main" id="{31D8AE37-DD1A-4BF2-B640-54CDD5F8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381625" cy="7429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ethod-badge-2">
            <a:extLst xmlns:a="http://schemas.openxmlformats.org/drawingml/2006/main">
              <a:ext uri="{FF2B5EF4-FFF2-40B4-BE49-F238E27FC236}">
                <a16:creationId xmlns:a16="http://schemas.microsoft.com/office/drawing/2014/main" id="{C5093283-1B49-4E2E-BF61-90FFA4F6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166B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386F5135-9B7B-4818-8062-0578771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CLIPSeg zero-shot</a:t>
            </a:r>
          </a:p>
        </p:txBody>
      </p:sp>
      <p:sp>
        <p:nvSpPr>
          <p:cNvPr id="12" name="method-desc-2">
            <a:extLst xmlns:a="http://schemas.openxmlformats.org/drawingml/2006/main">
              <a:ext uri="{FF2B5EF4-FFF2-40B4-BE49-F238E27FC236}">
                <a16:creationId xmlns:a16="http://schemas.microsoft.com/office/drawing/2014/main" id="{BEE3B4FC-1955-45F6-9F77-6EE680E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Measure how well a pretrained text-guided </a:t>
            </a: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segmenter</a:t>
            </a: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 transfers to aerial imagery.</a:t>
            </a:r>
          </a:p>
        </p:txBody>
      </p:sp>
      <p:sp>
        <p:nvSpPr>
          <p:cNvPr id="13" name="method-3">
            <a:extLst xmlns:a="http://schemas.openxmlformats.org/drawingml/2006/main">
              <a:ext uri="{FF2B5EF4-FFF2-40B4-BE49-F238E27FC236}">
                <a16:creationId xmlns:a16="http://schemas.microsoft.com/office/drawing/2014/main" id="{CADFFD20-9DEF-4731-AB8C-955F80C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799"/>
            <a:ext cx="5381625" cy="7524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method-badge-3">
            <a:extLst xmlns:a="http://schemas.openxmlformats.org/drawingml/2006/main">
              <a:ext uri="{FF2B5EF4-FFF2-40B4-BE49-F238E27FC236}">
                <a16:creationId xmlns:a16="http://schemas.microsoft.com/office/drawing/2014/main" id="{21B53E29-3192-4F6B-82E9-FA38B4B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4DC"/>
          </a:solidFill>
          <a:ln xmlns:a="http://schemas.openxmlformats.org/drawingml/2006/main" w="9525">
            <a:solidFill>
              <a:srgbClr val="B84B3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B9211B7E-1699-4BBC-B3BF-349E08FA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Fine-tuned CLIPSeg</a:t>
            </a:r>
          </a:p>
        </p:txBody>
      </p:sp>
      <p:sp>
        <p:nvSpPr>
          <p:cNvPr id="16" name="method-desc-3">
            <a:extLst xmlns:a="http://schemas.openxmlformats.org/drawingml/2006/main">
              <a:ext uri="{FF2B5EF4-FFF2-40B4-BE49-F238E27FC236}">
                <a16:creationId xmlns:a16="http://schemas.microsoft.com/office/drawing/2014/main" id="{A94E3217-5170-4C9E-AAAD-A066619C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 on image-phrase-mask triplets with BCE + Dice Loss for stronger mask overlap.</a:t>
            </a:r>
          </a:p>
        </p:txBody>
      </p:sp>
      <p:sp>
        <p:nvSpPr>
          <p:cNvPr id="17" name="method-4">
            <a:extLst xmlns:a="http://schemas.openxmlformats.org/drawingml/2006/main">
              <a:ext uri="{FF2B5EF4-FFF2-40B4-BE49-F238E27FC236}">
                <a16:creationId xmlns:a16="http://schemas.microsoft.com/office/drawing/2014/main" id="{F59205B8-5466-424E-AF67-846D0325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381625" cy="8382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method-badge-4">
            <a:extLst xmlns:a="http://schemas.openxmlformats.org/drawingml/2006/main">
              <a:ext uri="{FF2B5EF4-FFF2-40B4-BE49-F238E27FC236}">
                <a16:creationId xmlns:a16="http://schemas.microsoft.com/office/drawing/2014/main" id="{5E06291D-1C57-431F-9350-144ABEA1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4"/>
          </a:solidFill>
          <a:ln xmlns:a="http://schemas.openxmlformats.org/drawingml/2006/main" w="9525">
            <a:solidFill>
              <a:srgbClr val="9A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method-title-4">
            <a:extLst xmlns:a="http://schemas.openxmlformats.org/drawingml/2006/main">
              <a:ext uri="{FF2B5EF4-FFF2-40B4-BE49-F238E27FC236}">
                <a16:creationId xmlns:a16="http://schemas.microsoft.com/office/drawing/2014/main" id="{410B914D-6306-4FA0-9929-153B25CA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Text-conditioned U-Net</a:t>
            </a:r>
          </a:p>
        </p:txBody>
      </p:sp>
      <p:sp>
        <p:nvSpPr>
          <p:cNvPr id="20" name="method-desc-4">
            <a:extLst xmlns:a="http://schemas.openxmlformats.org/drawingml/2006/main">
              <a:ext uri="{FF2B5EF4-FFF2-40B4-BE49-F238E27FC236}">
                <a16:creationId xmlns:a16="http://schemas.microsoft.com/office/drawing/2014/main" id="{68CFB1F6-7A7D-44F8-8365-03E911AE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959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Use a lightweight decoder that injects CLIP text embeddings into spatial features.</a:t>
            </a:r>
          </a:p>
        </p:txBody>
      </p:sp>
      <p:sp>
        <p:nvSpPr>
          <p:cNvPr id="21" name="metrics-card">
            <a:extLst xmlns:a="http://schemas.openxmlformats.org/drawingml/2006/main">
              <a:ext uri="{FF2B5EF4-FFF2-40B4-BE49-F238E27FC236}">
                <a16:creationId xmlns:a16="http://schemas.microsoft.com/office/drawing/2014/main" id="{CCEC7F0C-3BB7-4FA7-A852-03FA4BF0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333625" cy="27813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metrics-title">
            <a:extLst xmlns:a="http://schemas.openxmlformats.org/drawingml/2006/main">
              <a:ext uri="{FF2B5EF4-FFF2-40B4-BE49-F238E27FC236}">
                <a16:creationId xmlns:a16="http://schemas.microsoft.com/office/drawing/2014/main" id="{AF3F5DAE-F5C5-4A5F-9F25-9B3BD4C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Evaluation metrics</a:t>
            </a:r>
          </a:p>
        </p:txBody>
      </p:sp>
      <p:sp>
        <p:nvSpPr>
          <p:cNvPr id="23" name="unsup-pill">
            <a:extLst xmlns:a="http://schemas.openxmlformats.org/drawingml/2006/main">
              <a:ext uri="{FF2B5EF4-FFF2-40B4-BE49-F238E27FC236}">
                <a16:creationId xmlns:a16="http://schemas.microsoft.com/office/drawing/2014/main" id="{C5C27DE2-7C99-43F1-800F-F431117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FE2"/>
          </a:solidFill>
          <a:ln xmlns:a="http://schemas.openxmlformats.org/drawingml/2006/main" w="9525">
            <a:solidFill>
              <a:srgbClr val="DCEF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UNSUPERVISED</a:t>
            </a:r>
          </a:p>
        </p:txBody>
      </p:sp>
      <p:sp>
        <p:nvSpPr>
          <p:cNvPr id="24" name="unsup-metrics">
            <a:extLst xmlns:a="http://schemas.openxmlformats.org/drawingml/2006/main">
              <a:ext uri="{FF2B5EF4-FFF2-40B4-BE49-F238E27FC236}">
                <a16:creationId xmlns:a16="http://schemas.microsoft.com/office/drawing/2014/main" id="{B49C78B4-B499-465C-9E35-5D7BF90F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Silhouette Score</a:t>
            </a:r>
          </a:p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Davies-Bouldin Index</a:t>
            </a:r>
          </a:p>
          <a:p xmlns:a="http://schemas.openxmlformats.org/drawingml/2006/main">
            <a:pPr algn="l">
              <a:buNone/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 Purity</a:t>
            </a:r>
          </a:p>
        </p:txBody>
      </p:sp>
      <p:sp>
        <p:nvSpPr>
          <p:cNvPr id="25" name="seg-pill">
            <a:extLst xmlns:a="http://schemas.openxmlformats.org/drawingml/2006/main">
              <a:ext uri="{FF2B5EF4-FFF2-40B4-BE49-F238E27FC236}">
                <a16:creationId xmlns:a16="http://schemas.microsoft.com/office/drawing/2014/main" id="{B55C9869-0043-4076-983F-9CE8C2A4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C"/>
          </a:solidFill>
          <a:ln xmlns:a="http://schemas.openxmlformats.org/drawingml/2006/main" w="9525">
            <a:solidFill>
              <a:srgbClr val="FCE4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SEGMENTATION</a:t>
            </a:r>
          </a:p>
        </p:txBody>
      </p:sp>
      <p:sp>
        <p:nvSpPr>
          <p:cNvPr id="26" name="seg-metrics">
            <a:extLst xmlns:a="http://schemas.openxmlformats.org/drawingml/2006/main">
              <a:ext uri="{FF2B5EF4-FFF2-40B4-BE49-F238E27FC236}">
                <a16:creationId xmlns:a16="http://schemas.microsoft.com/office/drawing/2014/main" id="{F75D3ACB-0E5D-403C-83E9-8AE0798F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33850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IoU / mIoU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Dice Coefficient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Precision / Recall</a:t>
            </a:r>
          </a:p>
          <a:p xmlns:a="http://schemas.openxmlformats.org/drawingml/2006/main">
            <a:pPr algn="l">
              <a:buNone/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Per-category IoU</a:t>
            </a:r>
          </a:p>
        </p:txBody>
      </p:sp>
      <p:sp>
        <p:nvSpPr>
          <p:cNvPr id="27" name="outcomes-card">
            <a:extLst xmlns:a="http://schemas.openxmlformats.org/drawingml/2006/main">
              <a:ext uri="{FF2B5EF4-FFF2-40B4-BE49-F238E27FC236}">
                <a16:creationId xmlns:a16="http://schemas.microsoft.com/office/drawing/2014/main" id="{EF7000A8-8826-43B6-BBA4-5A42F9A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2362200" cy="27813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203235"/>
          </a:solidFill>
          <a:ln xmlns:a="http://schemas.openxmlformats.org/drawingml/2006/main" w="9525">
            <a:solidFill>
              <a:srgbClr val="2032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outcomes-title">
            <a:extLst xmlns:a="http://schemas.openxmlformats.org/drawingml/2006/main">
              <a:ext uri="{FF2B5EF4-FFF2-40B4-BE49-F238E27FC236}">
                <a16:creationId xmlns:a16="http://schemas.microsoft.com/office/drawing/2014/main" id="{BB9C32AC-89A1-41AB-A437-1917C9DD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241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contribution</a:t>
            </a:r>
          </a:p>
        </p:txBody>
      </p:sp>
      <p:sp>
        <p:nvSpPr>
          <p:cNvPr id="29" name="outcomes-copy">
            <a:extLst xmlns:a="http://schemas.openxmlformats.org/drawingml/2006/main">
              <a:ext uri="{FF2B5EF4-FFF2-40B4-BE49-F238E27FC236}">
                <a16:creationId xmlns:a16="http://schemas.microsoft.com/office/drawing/2014/main" id="{7384E1DF-1212-4719-853E-41C605C2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0" b="0" i="0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080" b="0" i="0">
                <a:solidFill>
                  <a:srgbClr val="DDEBE6"/>
                </a:solidFill>
                <a:latin typeface="Aptos"/>
                <a:ea typeface="Aptos"/>
                <a:cs typeface="Aptos"/>
              </a:rPr>
              <a:t>Tests whether fine-tuning beats zero-shot transfer and whether a simple U-Net is a credible baseline.</a:t>
            </a:r>
          </a:p>
        </p:txBody>
      </p:sp>
      <p:sp>
        <p:nvSpPr>
          <p:cNvPr id="30" name="deliverables-copy">
            <a:extLst xmlns:a="http://schemas.openxmlformats.org/drawingml/2006/main">
              <a:ext uri="{FF2B5EF4-FFF2-40B4-BE49-F238E27FC236}">
                <a16:creationId xmlns:a16="http://schemas.microsoft.com/office/drawing/2014/main" id="{60FBD320-0A59-45E3-9A24-2EAEA55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8" b="0" i="0">
                <a:solidFill>
                  <a:srgbClr val="B8D4CA"/>
                </a:solidFill>
                <a:latin typeface="Aptos"/>
                <a:ea typeface="Aptos"/>
                <a:cs typeface="Aptos"/>
              </a:defRPr>
            </a:pPr>
            <a:r>
              <a:rPr sz="1058" b="0" i="0">
                <a:solidFill>
                  <a:srgbClr val="B8D4CA"/>
                </a:solidFill>
                <a:latin typeface="Aptos"/>
                <a:ea typeface="Aptos"/>
                <a:cs typeface="Aptos"/>
              </a:rPr>
              <a:t>Outputs: metric tables, mask examples, failure cases, final report, and a short demo.</a:t>
            </a:r>
          </a:p>
        </p:txBody>
      </p:sp>
      <p:sp>
        <p:nvSpPr>
          <p:cNvPr id="31" name="timeline-label">
            <a:extLst xmlns:a="http://schemas.openxmlformats.org/drawingml/2006/main">
              <a:ext uri="{FF2B5EF4-FFF2-40B4-BE49-F238E27FC236}">
                <a16:creationId xmlns:a16="http://schemas.microsoft.com/office/drawing/2014/main" id="{DD8DA150-CC57-49C5-9FAD-FCCA852B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Six-week plan</a:t>
            </a:r>
          </a:p>
        </p:txBody>
      </p:sp>
      <p:sp>
        <p:nvSpPr>
          <p:cNvPr id="32" name="week-1">
            <a:extLst xmlns:a="http://schemas.openxmlformats.org/drawingml/2006/main">
              <a:ext uri="{FF2B5EF4-FFF2-40B4-BE49-F238E27FC236}">
                <a16:creationId xmlns:a16="http://schemas.microsoft.com/office/drawing/2014/main" id="{6EE9A361-29F3-4818-92C2-275AE89A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3" name="week-num-1">
            <a:extLst xmlns:a="http://schemas.openxmlformats.org/drawingml/2006/main">
              <a:ext uri="{FF2B5EF4-FFF2-40B4-BE49-F238E27FC236}">
                <a16:creationId xmlns:a16="http://schemas.microsoft.com/office/drawing/2014/main" id="{361E9469-6E37-40A7-86B1-DC90B802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34" name="week-text-1">
            <a:extLst xmlns:a="http://schemas.openxmlformats.org/drawingml/2006/main">
              <a:ext uri="{FF2B5EF4-FFF2-40B4-BE49-F238E27FC236}">
                <a16:creationId xmlns:a16="http://schemas.microsoft.com/office/drawing/2014/main" id="{E59D55B1-37DD-43B3-AB5A-A2F3F459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prep</a:t>
            </a:r>
          </a:p>
        </p:txBody>
      </p:sp>
      <p:sp>
        <p:nvSpPr>
          <p:cNvPr id="35" name="week-2">
            <a:extLst xmlns:a="http://schemas.openxmlformats.org/drawingml/2006/main">
              <a:ext uri="{FF2B5EF4-FFF2-40B4-BE49-F238E27FC236}">
                <a16:creationId xmlns:a16="http://schemas.microsoft.com/office/drawing/2014/main" id="{E2510B3C-D044-467E-A502-B45044A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6" name="week-num-2">
            <a:extLst xmlns:a="http://schemas.openxmlformats.org/drawingml/2006/main">
              <a:ext uri="{FF2B5EF4-FFF2-40B4-BE49-F238E27FC236}">
                <a16:creationId xmlns:a16="http://schemas.microsoft.com/office/drawing/2014/main" id="{9A2958BB-0423-44BD-BA22-D1ECBF88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37" name="week-text-2">
            <a:extLst xmlns:a="http://schemas.openxmlformats.org/drawingml/2006/main">
              <a:ext uri="{FF2B5EF4-FFF2-40B4-BE49-F238E27FC236}">
                <a16:creationId xmlns:a16="http://schemas.microsoft.com/office/drawing/2014/main" id="{105CD90F-363C-45AA-9683-5471FC4B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clusters</a:t>
            </a:r>
          </a:p>
        </p:txBody>
      </p:sp>
      <p:sp>
        <p:nvSpPr>
          <p:cNvPr id="38" name="week-3">
            <a:extLst xmlns:a="http://schemas.openxmlformats.org/drawingml/2006/main">
              <a:ext uri="{FF2B5EF4-FFF2-40B4-BE49-F238E27FC236}">
                <a16:creationId xmlns:a16="http://schemas.microsoft.com/office/drawing/2014/main" id="{FAEC0085-04EA-480D-B6FA-A70AFB91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39" name="week-num-3">
            <a:extLst xmlns:a="http://schemas.openxmlformats.org/drawingml/2006/main">
              <a:ext uri="{FF2B5EF4-FFF2-40B4-BE49-F238E27FC236}">
                <a16:creationId xmlns:a16="http://schemas.microsoft.com/office/drawing/2014/main" id="{8F50C890-8472-4481-8A81-FD03CC1A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40" name="week-text-3">
            <a:extLst xmlns:a="http://schemas.openxmlformats.org/drawingml/2006/main">
              <a:ext uri="{FF2B5EF4-FFF2-40B4-BE49-F238E27FC236}">
                <a16:creationId xmlns:a16="http://schemas.microsoft.com/office/drawing/2014/main" id="{2A9D3F16-DA24-4DCA-B28D-070F316C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721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Zero-shot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1" name="week-4">
            <a:extLst xmlns:a="http://schemas.openxmlformats.org/drawingml/2006/main">
              <a:ext uri="{FF2B5EF4-FFF2-40B4-BE49-F238E27FC236}">
                <a16:creationId xmlns:a16="http://schemas.microsoft.com/office/drawing/2014/main" id="{3D435713-D4FA-4EC4-9375-3EE9E96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2" name="week-num-4">
            <a:extLst xmlns:a="http://schemas.openxmlformats.org/drawingml/2006/main">
              <a:ext uri="{FF2B5EF4-FFF2-40B4-BE49-F238E27FC236}">
                <a16:creationId xmlns:a16="http://schemas.microsoft.com/office/drawing/2014/main" id="{E748E86E-2748-4544-B89A-E24B95AA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43" name="week-text-4">
            <a:extLst xmlns:a="http://schemas.openxmlformats.org/drawingml/2006/main">
              <a:ext uri="{FF2B5EF4-FFF2-40B4-BE49-F238E27FC236}">
                <a16:creationId xmlns:a16="http://schemas.microsoft.com/office/drawing/2014/main" id="{89BE37AB-CA33-4625-861C-78A9F68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CLIPSeg</a:t>
            </a:r>
          </a:p>
        </p:txBody>
      </p:sp>
      <p:sp>
        <p:nvSpPr>
          <p:cNvPr id="44" name="week-5">
            <a:extLst xmlns:a="http://schemas.openxmlformats.org/drawingml/2006/main">
              <a:ext uri="{FF2B5EF4-FFF2-40B4-BE49-F238E27FC236}">
                <a16:creationId xmlns:a16="http://schemas.microsoft.com/office/drawing/2014/main" id="{C3E1EE34-B392-44EF-AB2C-AF8EE3DE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5" name="week-num-5">
            <a:extLst xmlns:a="http://schemas.openxmlformats.org/drawingml/2006/main">
              <a:ext uri="{FF2B5EF4-FFF2-40B4-BE49-F238E27FC236}">
                <a16:creationId xmlns:a16="http://schemas.microsoft.com/office/drawing/2014/main" id="{CB2AAB4F-953A-43A8-8C76-58C7BD4D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W5</a:t>
            </a:r>
          </a:p>
        </p:txBody>
      </p:sp>
      <p:sp>
        <p:nvSpPr>
          <p:cNvPr id="46" name="week-text-5">
            <a:extLst xmlns:a="http://schemas.openxmlformats.org/drawingml/2006/main">
              <a:ext uri="{FF2B5EF4-FFF2-40B4-BE49-F238E27FC236}">
                <a16:creationId xmlns:a16="http://schemas.microsoft.com/office/drawing/2014/main" id="{2A96BD91-B420-497A-B5F2-18178FA8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U-Net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7" name="week-6">
            <a:extLst xmlns:a="http://schemas.openxmlformats.org/drawingml/2006/main">
              <a:ext uri="{FF2B5EF4-FFF2-40B4-BE49-F238E27FC236}">
                <a16:creationId xmlns:a16="http://schemas.microsoft.com/office/drawing/2014/main" id="{71CDE39B-D0AD-4285-B9AC-57C96851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46735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2"/>
          </a:solidFill>
          <a:ln xmlns:a="http://schemas.openxmlformats.org/drawingml/2006/main" w="9525">
            <a:solidFill>
              <a:srgbClr val="D9E2DC"/>
            </a:solidFill>
            <a:prstDash val="solid"/>
          </a:ln>
        </p:spPr>
      </p:sp>
      <p:sp>
        <p:nvSpPr>
          <p:cNvPr id="48" name="week-num-6">
            <a:extLst xmlns:a="http://schemas.openxmlformats.org/drawingml/2006/main">
              <a:ext uri="{FF2B5EF4-FFF2-40B4-BE49-F238E27FC236}">
                <a16:creationId xmlns:a16="http://schemas.microsoft.com/office/drawing/2014/main" id="{17E84259-CC74-438B-89EF-E7F96E8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5530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W6</a:t>
            </a:r>
          </a:p>
        </p:txBody>
      </p:sp>
      <p:sp>
        <p:nvSpPr>
          <p:cNvPr id="49" name="week-text-6">
            <a:extLst xmlns:a="http://schemas.openxmlformats.org/drawingml/2006/main">
              <a:ext uri="{FF2B5EF4-FFF2-40B4-BE49-F238E27FC236}">
                <a16:creationId xmlns:a16="http://schemas.microsoft.com/office/drawing/2014/main" id="{1635E999-19CE-47AF-8A15-62B377E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772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Error</a:t>
            </a:r>
          </a:p>
          <a:p xmlns:a="http://schemas.openxmlformats.org/drawingml/2006/main">
            <a:pPr algn="ctr">
              <a:buNone/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50" name="footer">
            <a:extLst xmlns:a="http://schemas.openxmlformats.org/drawingml/2006/main">
              <a:ext uri="{FF2B5EF4-FFF2-40B4-BE49-F238E27FC236}">
                <a16:creationId xmlns:a16="http://schemas.microsoft.com/office/drawing/2014/main" id="{637D1885-68B0-4C68-B5E8-9A1BA8D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Source: Project Proposal, Haoming Zhang, CS 8903 Summer 2026</a:t>
            </a:r>
          </a:p>
        </p:txBody>
      </p:sp>
      <p:sp>
        <p:nvSpPr>
          <p:cNvPr id="51" name="slide-num">
            <a:extLst xmlns:a="http://schemas.openxmlformats.org/drawingml/2006/main">
              <a:ext uri="{FF2B5EF4-FFF2-40B4-BE49-F238E27FC236}">
                <a16:creationId xmlns:a16="http://schemas.microsoft.com/office/drawing/2014/main" id="{5EEAE0FB-7DBB-4418-A85E-68785D99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2875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2026-08-13T01:24:03.4030000Z</dcterms:created>
  <dcterms:modified xsi:type="dcterms:W3CDTF">2026-08-13T01:24:03.4030000Z</dcterms:modified>
</coreProperties>
</file>