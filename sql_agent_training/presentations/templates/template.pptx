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67" y="59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eyebrow">
            <a:extLst>
              <a:ext uri="{FF2B5EF4-FFF2-40B4-BE49-F238E27FC236}">
                <a16:creationId xmlns:a16="http://schemas.microsoft.com/office/drawing/2014/main" id="{3A9CE31C-FA7C-46A6-9DAA-1E54419B92A3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3906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 w="9525">
            <a:solidFill>
              <a:srgbClr val="DCEFE2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PROJECT PROPOSAL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BC144BCA-4E39-4666-B36E-3ABDD0D64191}"/>
              </a:ext>
            </a:extLst>
          </p:cNvPr>
          <p:cNvSpPr>
            <a:spLocks noGrp="1"/>
          </p:cNvSpPr>
          <p:nvPr/>
        </p:nvSpPr>
        <p:spPr>
          <a:xfrm>
            <a:off x="685800" y="876300"/>
            <a:ext cx="5715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 dirty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Text-Guided Remote Sensing</a:t>
            </a:r>
          </a:p>
          <a:p>
            <a:pPr algn="l">
              <a:defRPr sz="34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Image Segmentation</a:t>
            </a: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FEBBEB44-DC58-4C35-A65A-C6D561C4EDAC}"/>
              </a:ext>
            </a:extLst>
          </p:cNvPr>
          <p:cNvSpPr>
            <a:spLocks noGrp="1"/>
          </p:cNvSpPr>
          <p:nvPr/>
        </p:nvSpPr>
        <p:spPr>
          <a:xfrm>
            <a:off x="704850" y="2095500"/>
            <a:ext cx="5143500" cy="781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65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65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The model receives an aerial image and a natural-language phrase, then predicts the exact binary mask for the region the phrase refers to.</a:t>
            </a:r>
          </a:p>
        </p:txBody>
      </p:sp>
      <p:sp>
        <p:nvSpPr>
          <p:cNvPr id="4" name="why-card">
            <a:extLst>
              <a:ext uri="{FF2B5EF4-FFF2-40B4-BE49-F238E27FC236}">
                <a16:creationId xmlns:a16="http://schemas.microsoft.com/office/drawing/2014/main" id="{C84F66DE-A2EF-474E-AC83-3FE1C6655DDC}"/>
              </a:ext>
            </a:extLst>
          </p:cNvPr>
          <p:cNvSpPr>
            <a:spLocks noGrp="1"/>
          </p:cNvSpPr>
          <p:nvPr/>
        </p:nvSpPr>
        <p:spPr>
          <a:xfrm>
            <a:off x="685800" y="3143250"/>
            <a:ext cx="4762500" cy="2667000"/>
          </a:xfrm>
          <a:prstGeom prst="roundRect">
            <a:avLst>
              <a:gd name="adj" fmla="val 5042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5" name="why-label">
            <a:extLst>
              <a:ext uri="{FF2B5EF4-FFF2-40B4-BE49-F238E27FC236}">
                <a16:creationId xmlns:a16="http://schemas.microsoft.com/office/drawing/2014/main" id="{6FF06C6B-FA77-4EFA-A5A0-68F8E6887873}"/>
              </a:ext>
            </a:extLst>
          </p:cNvPr>
          <p:cNvSpPr>
            <a:spLocks noGrp="1"/>
          </p:cNvSpPr>
          <p:nvPr/>
        </p:nvSpPr>
        <p:spPr>
          <a:xfrm>
            <a:off x="952500" y="33909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Why this task matters</a:t>
            </a:r>
          </a:p>
        </p:txBody>
      </p:sp>
      <p:sp>
        <p:nvSpPr>
          <p:cNvPr id="6" name="bullet-dot">
            <a:extLst>
              <a:ext uri="{FF2B5EF4-FFF2-40B4-BE49-F238E27FC236}">
                <a16:creationId xmlns:a16="http://schemas.microsoft.com/office/drawing/2014/main" id="{5F3C9410-DA2A-4FAD-9C0B-B19D86170AB9}"/>
              </a:ext>
            </a:extLst>
          </p:cNvPr>
          <p:cNvSpPr>
            <a:spLocks noGrp="1"/>
          </p:cNvSpPr>
          <p:nvPr/>
        </p:nvSpPr>
        <p:spPr>
          <a:xfrm>
            <a:off x="971550" y="3867150"/>
            <a:ext cx="66675" cy="66675"/>
          </a:xfrm>
          <a:prstGeom prst="ellipse">
            <a:avLst/>
          </a:prstGeom>
          <a:solidFill>
            <a:srgbClr val="E76F51"/>
          </a:solidFill>
          <a:ln w="0">
            <a:noFill/>
            <a:prstDash val="solid"/>
          </a:ln>
        </p:spPr>
      </p:sp>
      <p:sp>
        <p:nvSpPr>
          <p:cNvPr id="7" name="bullet-text">
            <a:extLst>
              <a:ext uri="{FF2B5EF4-FFF2-40B4-BE49-F238E27FC236}">
                <a16:creationId xmlns:a16="http://schemas.microsoft.com/office/drawing/2014/main" id="{C1F5A4EC-292C-450B-B5AD-CD5B321BCC11}"/>
              </a:ext>
            </a:extLst>
          </p:cNvPr>
          <p:cNvSpPr>
            <a:spLocks noGrp="1"/>
          </p:cNvSpPr>
          <p:nvPr/>
        </p:nvSpPr>
        <p:spPr>
          <a:xfrm>
            <a:off x="1123950" y="37909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13" b="0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13" b="0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It moves beyond fixed semantic classes: the user describes the target in plain English.</a:t>
            </a:r>
          </a:p>
        </p:txBody>
      </p:sp>
      <p:sp>
        <p:nvSpPr>
          <p:cNvPr id="8" name="bullet-dot">
            <a:extLst>
              <a:ext uri="{FF2B5EF4-FFF2-40B4-BE49-F238E27FC236}">
                <a16:creationId xmlns:a16="http://schemas.microsoft.com/office/drawing/2014/main" id="{24755BEB-7AFE-48F3-91A2-42C8AF8EA6D0}"/>
              </a:ext>
            </a:extLst>
          </p:cNvPr>
          <p:cNvSpPr>
            <a:spLocks noGrp="1"/>
          </p:cNvSpPr>
          <p:nvPr/>
        </p:nvSpPr>
        <p:spPr>
          <a:xfrm>
            <a:off x="971550" y="4438650"/>
            <a:ext cx="66675" cy="66675"/>
          </a:xfrm>
          <a:prstGeom prst="ellipse">
            <a:avLst/>
          </a:prstGeom>
          <a:solidFill>
            <a:srgbClr val="2A9DCE"/>
          </a:solidFill>
          <a:ln w="0">
            <a:noFill/>
            <a:prstDash val="solid"/>
          </a:ln>
        </p:spPr>
      </p:sp>
      <p:sp>
        <p:nvSpPr>
          <p:cNvPr id="9" name="bullet-text">
            <a:extLst>
              <a:ext uri="{FF2B5EF4-FFF2-40B4-BE49-F238E27FC236}">
                <a16:creationId xmlns:a16="http://schemas.microsoft.com/office/drawing/2014/main" id="{5CCFDC52-6289-4AA3-A102-5AE7D8B89550}"/>
              </a:ext>
            </a:extLst>
          </p:cNvPr>
          <p:cNvSpPr>
            <a:spLocks noGrp="1"/>
          </p:cNvSpPr>
          <p:nvPr/>
        </p:nvSpPr>
        <p:spPr>
          <a:xfrm>
            <a:off x="1123950" y="43624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13" b="0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13" b="0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It supports interactive geospatial search, aerial image interpretation, and human-in-the-loop analysis.</a:t>
            </a:r>
          </a:p>
        </p:txBody>
      </p:sp>
      <p:sp>
        <p:nvSpPr>
          <p:cNvPr id="10" name="bullet-dot">
            <a:extLst>
              <a:ext uri="{FF2B5EF4-FFF2-40B4-BE49-F238E27FC236}">
                <a16:creationId xmlns:a16="http://schemas.microsoft.com/office/drawing/2014/main" id="{E2BFA5C1-9DF0-423C-97B1-139159C03818}"/>
              </a:ext>
            </a:extLst>
          </p:cNvPr>
          <p:cNvSpPr>
            <a:spLocks noGrp="1"/>
          </p:cNvSpPr>
          <p:nvPr/>
        </p:nvSpPr>
        <p:spPr>
          <a:xfrm>
            <a:off x="971550" y="5010150"/>
            <a:ext cx="66675" cy="66675"/>
          </a:xfrm>
          <a:prstGeom prst="ellipse">
            <a:avLst/>
          </a:prstGeom>
          <a:solidFill>
            <a:srgbClr val="2E7D5B"/>
          </a:solidFill>
          <a:ln w="0">
            <a:noFill/>
            <a:prstDash val="solid"/>
          </a:ln>
        </p:spPr>
      </p:sp>
      <p:sp>
        <p:nvSpPr>
          <p:cNvPr id="11" name="bullet-text">
            <a:extLst>
              <a:ext uri="{FF2B5EF4-FFF2-40B4-BE49-F238E27FC236}">
                <a16:creationId xmlns:a16="http://schemas.microsoft.com/office/drawing/2014/main" id="{33272300-B07C-4E5B-9B2D-1741F40D5DD1}"/>
              </a:ext>
            </a:extLst>
          </p:cNvPr>
          <p:cNvSpPr>
            <a:spLocks noGrp="1"/>
          </p:cNvSpPr>
          <p:nvPr/>
        </p:nvSpPr>
        <p:spPr>
          <a:xfrm>
            <a:off x="1123950" y="4933950"/>
            <a:ext cx="390525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60" b="0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260" b="0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It uses RegSegRS / RefSegRS: about 4,420 image-phrase-mask triplets across vehicles, roads, buildings, and vegetation.</a:t>
            </a:r>
          </a:p>
        </p:txBody>
      </p:sp>
      <p:sp>
        <p:nvSpPr>
          <p:cNvPr id="12" name="pipeline-label">
            <a:extLst>
              <a:ext uri="{FF2B5EF4-FFF2-40B4-BE49-F238E27FC236}">
                <a16:creationId xmlns:a16="http://schemas.microsoft.com/office/drawing/2014/main" id="{9561E6E6-2B3A-4ECF-9337-09A2EDF7A9BD}"/>
              </a:ext>
            </a:extLst>
          </p:cNvPr>
          <p:cNvSpPr>
            <a:spLocks noGrp="1"/>
          </p:cNvSpPr>
          <p:nvPr/>
        </p:nvSpPr>
        <p:spPr>
          <a:xfrm>
            <a:off x="6305550" y="5524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Core task</a:t>
            </a:r>
          </a:p>
        </p:txBody>
      </p:sp>
      <p:sp>
        <p:nvSpPr>
          <p:cNvPr id="13" name="aerial-crop-frame">
            <a:extLst>
              <a:ext uri="{FF2B5EF4-FFF2-40B4-BE49-F238E27FC236}">
                <a16:creationId xmlns:a16="http://schemas.microsoft.com/office/drawing/2014/main" id="{9F4942A1-1CE4-4CDF-843A-4B4378BFB623}"/>
              </a:ext>
            </a:extLst>
          </p:cNvPr>
          <p:cNvSpPr>
            <a:spLocks noGrp="1"/>
          </p:cNvSpPr>
          <p:nvPr/>
        </p:nvSpPr>
        <p:spPr>
          <a:xfrm>
            <a:off x="6096000" y="952500"/>
            <a:ext cx="2476500" cy="247650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input-caption">
            <a:extLst>
              <a:ext uri="{FF2B5EF4-FFF2-40B4-BE49-F238E27FC236}">
                <a16:creationId xmlns:a16="http://schemas.microsoft.com/office/drawing/2014/main" id="{C47EB476-CBFD-413E-8429-50BA4F3ACF92}"/>
              </a:ext>
            </a:extLst>
          </p:cNvPr>
          <p:cNvSpPr>
            <a:spLocks noGrp="1"/>
          </p:cNvSpPr>
          <p:nvPr/>
        </p:nvSpPr>
        <p:spPr>
          <a:xfrm>
            <a:off x="6305550" y="3543300"/>
            <a:ext cx="1714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Aerial crop</a:t>
            </a:r>
          </a:p>
        </p:txBody>
      </p:sp>
      <p:sp>
        <p:nvSpPr>
          <p:cNvPr id="15" name="field-bg">
            <a:extLst>
              <a:ext uri="{FF2B5EF4-FFF2-40B4-BE49-F238E27FC236}">
                <a16:creationId xmlns:a16="http://schemas.microsoft.com/office/drawing/2014/main" id="{5BCFA3CC-3E5B-4619-83BF-620C99D50E0B}"/>
              </a:ext>
            </a:extLst>
          </p:cNvPr>
          <p:cNvSpPr>
            <a:spLocks noGrp="1"/>
          </p:cNvSpPr>
          <p:nvPr/>
        </p:nvSpPr>
        <p:spPr>
          <a:xfrm>
            <a:off x="6286500" y="1143000"/>
            <a:ext cx="2095500" cy="2095500"/>
          </a:xfrm>
          <a:prstGeom prst="rect">
            <a:avLst/>
          </a:prstGeom>
          <a:solidFill>
            <a:srgbClr val="A4C99B"/>
          </a:solidFill>
          <a:ln w="0">
            <a:noFill/>
            <a:prstDash val="solid"/>
          </a:ln>
        </p:spPr>
      </p:sp>
      <p:sp>
        <p:nvSpPr>
          <p:cNvPr id="16" name="road-main">
            <a:extLst>
              <a:ext uri="{FF2B5EF4-FFF2-40B4-BE49-F238E27FC236}">
                <a16:creationId xmlns:a16="http://schemas.microsoft.com/office/drawing/2014/main" id="{02C3EFCD-0FE2-432A-82E0-0352DA6E39AE}"/>
              </a:ext>
            </a:extLst>
          </p:cNvPr>
          <p:cNvSpPr>
            <a:spLocks noGrp="1"/>
          </p:cNvSpPr>
          <p:nvPr/>
        </p:nvSpPr>
        <p:spPr>
          <a:xfrm rot="-1080000">
            <a:off x="6115050" y="2105025"/>
            <a:ext cx="2476500" cy="323850"/>
          </a:xfrm>
          <a:prstGeom prst="rect">
            <a:avLst/>
          </a:prstGeom>
          <a:solidFill>
            <a:srgbClr val="7F8F93"/>
          </a:solidFill>
          <a:ln w="0">
            <a:noFill/>
            <a:prstDash val="solid"/>
          </a:ln>
        </p:spPr>
      </p:sp>
      <p:sp>
        <p:nvSpPr>
          <p:cNvPr id="17" name="road-side">
            <a:extLst>
              <a:ext uri="{FF2B5EF4-FFF2-40B4-BE49-F238E27FC236}">
                <a16:creationId xmlns:a16="http://schemas.microsoft.com/office/drawing/2014/main" id="{86182C39-1AE6-48C1-A2B9-E84C9F666247}"/>
              </a:ext>
            </a:extLst>
          </p:cNvPr>
          <p:cNvSpPr>
            <a:spLocks noGrp="1"/>
          </p:cNvSpPr>
          <p:nvPr/>
        </p:nvSpPr>
        <p:spPr>
          <a:xfrm rot="720000">
            <a:off x="7277100" y="1057275"/>
            <a:ext cx="323850" cy="2381250"/>
          </a:xfrm>
          <a:prstGeom prst="rect">
            <a:avLst/>
          </a:prstGeom>
          <a:solidFill>
            <a:srgbClr val="8E9EA1"/>
          </a:solidFill>
          <a:ln w="0">
            <a:noFill/>
            <a:prstDash val="solid"/>
          </a:ln>
        </p:spPr>
      </p:sp>
      <p:sp>
        <p:nvSpPr>
          <p:cNvPr id="18" name="tree-1">
            <a:extLst>
              <a:ext uri="{FF2B5EF4-FFF2-40B4-BE49-F238E27FC236}">
                <a16:creationId xmlns:a16="http://schemas.microsoft.com/office/drawing/2014/main" id="{E49845F5-AB45-40FA-B8C7-72920A0F1940}"/>
              </a:ext>
            </a:extLst>
          </p:cNvPr>
          <p:cNvSpPr>
            <a:spLocks noGrp="1"/>
          </p:cNvSpPr>
          <p:nvPr/>
        </p:nvSpPr>
        <p:spPr>
          <a:xfrm>
            <a:off x="6496050" y="1295400"/>
            <a:ext cx="400050" cy="323850"/>
          </a:xfrm>
          <a:prstGeom prst="ellipse">
            <a:avLst/>
          </a:prstGeom>
          <a:solidFill>
            <a:srgbClr val="357A38"/>
          </a:solidFill>
          <a:ln w="0">
            <a:noFill/>
            <a:prstDash val="solid"/>
          </a:ln>
        </p:spPr>
      </p:sp>
      <p:sp>
        <p:nvSpPr>
          <p:cNvPr id="19" name="tree-2">
            <a:extLst>
              <a:ext uri="{FF2B5EF4-FFF2-40B4-BE49-F238E27FC236}">
                <a16:creationId xmlns:a16="http://schemas.microsoft.com/office/drawing/2014/main" id="{65169565-6B15-4452-95C3-6BD616AE15C4}"/>
              </a:ext>
            </a:extLst>
          </p:cNvPr>
          <p:cNvSpPr>
            <a:spLocks noGrp="1"/>
          </p:cNvSpPr>
          <p:nvPr/>
        </p:nvSpPr>
        <p:spPr>
          <a:xfrm>
            <a:off x="6819900" y="1447800"/>
            <a:ext cx="342900" cy="285750"/>
          </a:xfrm>
          <a:prstGeom prst="ellipse">
            <a:avLst/>
          </a:prstGeom>
          <a:solidFill>
            <a:srgbClr val="2D6B31"/>
          </a:solidFill>
          <a:ln w="0">
            <a:noFill/>
            <a:prstDash val="solid"/>
          </a:ln>
        </p:spPr>
      </p:sp>
      <p:sp>
        <p:nvSpPr>
          <p:cNvPr id="20" name="tree-3">
            <a:extLst>
              <a:ext uri="{FF2B5EF4-FFF2-40B4-BE49-F238E27FC236}">
                <a16:creationId xmlns:a16="http://schemas.microsoft.com/office/drawing/2014/main" id="{C64252DD-2DDB-41B5-A60B-FFD8322AE7D4}"/>
              </a:ext>
            </a:extLst>
          </p:cNvPr>
          <p:cNvSpPr>
            <a:spLocks noGrp="1"/>
          </p:cNvSpPr>
          <p:nvPr/>
        </p:nvSpPr>
        <p:spPr>
          <a:xfrm>
            <a:off x="7848600" y="2628900"/>
            <a:ext cx="323850" cy="266700"/>
          </a:xfrm>
          <a:prstGeom prst="ellipse">
            <a:avLst/>
          </a:prstGeom>
          <a:solidFill>
            <a:srgbClr val="2D6B31"/>
          </a:solidFill>
          <a:ln w="0">
            <a:noFill/>
            <a:prstDash val="solid"/>
          </a:ln>
        </p:spPr>
      </p:sp>
      <p:sp>
        <p:nvSpPr>
          <p:cNvPr id="21" name="building-1">
            <a:extLst>
              <a:ext uri="{FF2B5EF4-FFF2-40B4-BE49-F238E27FC236}">
                <a16:creationId xmlns:a16="http://schemas.microsoft.com/office/drawing/2014/main" id="{4341AB98-581C-4804-8204-23DAC5C8B9A6}"/>
              </a:ext>
            </a:extLst>
          </p:cNvPr>
          <p:cNvSpPr>
            <a:spLocks noGrp="1"/>
          </p:cNvSpPr>
          <p:nvPr/>
        </p:nvSpPr>
        <p:spPr>
          <a:xfrm>
            <a:off x="6572250" y="2533650"/>
            <a:ext cx="514350" cy="400050"/>
          </a:xfrm>
          <a:prstGeom prst="rect">
            <a:avLst/>
          </a:prstGeom>
          <a:solidFill>
            <a:srgbClr val="D9D1C3"/>
          </a:solidFill>
          <a:ln w="9525">
            <a:solidFill>
              <a:srgbClr val="8B8170"/>
            </a:solidFill>
            <a:prstDash val="solid"/>
          </a:ln>
        </p:spPr>
      </p:sp>
      <p:sp>
        <p:nvSpPr>
          <p:cNvPr id="22" name="building-2">
            <a:extLst>
              <a:ext uri="{FF2B5EF4-FFF2-40B4-BE49-F238E27FC236}">
                <a16:creationId xmlns:a16="http://schemas.microsoft.com/office/drawing/2014/main" id="{EBD71C10-C9DA-4F4B-9A69-3ED2A6A2CF2E}"/>
              </a:ext>
            </a:extLst>
          </p:cNvPr>
          <p:cNvSpPr>
            <a:spLocks noGrp="1"/>
          </p:cNvSpPr>
          <p:nvPr/>
        </p:nvSpPr>
        <p:spPr>
          <a:xfrm>
            <a:off x="7677150" y="1466850"/>
            <a:ext cx="419100" cy="552450"/>
          </a:xfrm>
          <a:prstGeom prst="rect">
            <a:avLst/>
          </a:prstGeom>
          <a:solidFill>
            <a:srgbClr val="CFC8BA"/>
          </a:solidFill>
          <a:ln w="9525">
            <a:solidFill>
              <a:srgbClr val="8B8170"/>
            </a:solidFill>
            <a:prstDash val="solid"/>
          </a:ln>
        </p:spPr>
      </p:sp>
      <p:sp>
        <p:nvSpPr>
          <p:cNvPr id="23" name="vehicle-1">
            <a:extLst>
              <a:ext uri="{FF2B5EF4-FFF2-40B4-BE49-F238E27FC236}">
                <a16:creationId xmlns:a16="http://schemas.microsoft.com/office/drawing/2014/main" id="{936073E1-64CA-4550-9753-CFBCC5F69550}"/>
              </a:ext>
            </a:extLst>
          </p:cNvPr>
          <p:cNvSpPr>
            <a:spLocks noGrp="1"/>
          </p:cNvSpPr>
          <p:nvPr/>
        </p:nvSpPr>
        <p:spPr>
          <a:xfrm rot="-1080000">
            <a:off x="7124700" y="2219325"/>
            <a:ext cx="171450" cy="85725"/>
          </a:xfrm>
          <a:prstGeom prst="rect">
            <a:avLst/>
          </a:prstGeom>
          <a:solidFill>
            <a:srgbClr val="F2C94C"/>
          </a:solidFill>
          <a:ln w="9525">
            <a:solidFill>
              <a:srgbClr val="B58A00"/>
            </a:solidFill>
            <a:prstDash val="solid"/>
          </a:ln>
        </p:spPr>
      </p:sp>
      <p:sp>
        <p:nvSpPr>
          <p:cNvPr id="24" name="vehicle-2">
            <a:extLst>
              <a:ext uri="{FF2B5EF4-FFF2-40B4-BE49-F238E27FC236}">
                <a16:creationId xmlns:a16="http://schemas.microsoft.com/office/drawing/2014/main" id="{D1F7B048-72C9-4E49-94D8-E7063F1CE002}"/>
              </a:ext>
            </a:extLst>
          </p:cNvPr>
          <p:cNvSpPr>
            <a:spLocks noGrp="1"/>
          </p:cNvSpPr>
          <p:nvPr/>
        </p:nvSpPr>
        <p:spPr>
          <a:xfrm rot="-1080000">
            <a:off x="7543800" y="2324100"/>
            <a:ext cx="171450" cy="85725"/>
          </a:xfrm>
          <a:prstGeom prst="rect">
            <a:avLst/>
          </a:prstGeom>
          <a:solidFill>
            <a:srgbClr val="E76F51"/>
          </a:solidFill>
          <a:ln w="9525">
            <a:solidFill>
              <a:srgbClr val="B84B38"/>
            </a:solidFill>
            <a:prstDash val="solid"/>
          </a:ln>
        </p:spPr>
      </p:sp>
      <p:sp>
        <p:nvSpPr>
          <p:cNvPr id="25" name="arrow-1">
            <a:extLst>
              <a:ext uri="{FF2B5EF4-FFF2-40B4-BE49-F238E27FC236}">
                <a16:creationId xmlns:a16="http://schemas.microsoft.com/office/drawing/2014/main" id="{78281AE7-B620-432C-8EC3-9E8AA31B6157}"/>
              </a:ext>
            </a:extLst>
          </p:cNvPr>
          <p:cNvSpPr>
            <a:spLocks noGrp="1"/>
          </p:cNvSpPr>
          <p:nvPr/>
        </p:nvSpPr>
        <p:spPr>
          <a:xfrm>
            <a:off x="8743950" y="2143125"/>
            <a:ext cx="609600" cy="0"/>
          </a:xfrm>
          <a:prstGeom prst="line">
            <a:avLst/>
          </a:prstGeom>
          <a:noFill/>
          <a:ln w="19050">
            <a:solidFill>
              <a:srgbClr val="58716B"/>
            </a:solidFill>
            <a:prstDash val="solid"/>
          </a:ln>
        </p:spPr>
      </p:sp>
      <p:sp>
        <p:nvSpPr>
          <p:cNvPr id="26" name="arrow-1-head">
            <a:extLst>
              <a:ext uri="{FF2B5EF4-FFF2-40B4-BE49-F238E27FC236}">
                <a16:creationId xmlns:a16="http://schemas.microsoft.com/office/drawing/2014/main" id="{9C6C47DF-2FC7-4105-9D2F-C2316A7BAC82}"/>
              </a:ext>
            </a:extLst>
          </p:cNvPr>
          <p:cNvSpPr>
            <a:spLocks noGrp="1"/>
          </p:cNvSpPr>
          <p:nvPr/>
        </p:nvSpPr>
        <p:spPr>
          <a:xfrm rot="5400000">
            <a:off x="9286875" y="2076450"/>
            <a:ext cx="133350" cy="133350"/>
          </a:xfrm>
          <a:prstGeom prst="triangle">
            <a:avLst/>
          </a:prstGeom>
          <a:solidFill>
            <a:srgbClr val="58716B"/>
          </a:solidFill>
          <a:ln w="0">
            <a:solidFill>
              <a:srgbClr val="58716B"/>
            </a:solidFill>
            <a:prstDash val="solid"/>
          </a:ln>
        </p:spPr>
      </p:sp>
      <p:sp>
        <p:nvSpPr>
          <p:cNvPr id="27" name="prompt-box">
            <a:extLst>
              <a:ext uri="{FF2B5EF4-FFF2-40B4-BE49-F238E27FC236}">
                <a16:creationId xmlns:a16="http://schemas.microsoft.com/office/drawing/2014/main" id="{C72E85C0-B6DB-4AA2-851C-79F16F3D6730}"/>
              </a:ext>
            </a:extLst>
          </p:cNvPr>
          <p:cNvSpPr>
            <a:spLocks noGrp="1"/>
          </p:cNvSpPr>
          <p:nvPr/>
        </p:nvSpPr>
        <p:spPr>
          <a:xfrm>
            <a:off x="9258300" y="1371600"/>
            <a:ext cx="2076450" cy="762000"/>
          </a:xfrm>
          <a:prstGeom prst="roundRect">
            <a:avLst>
              <a:gd name="adj" fmla="val 15000"/>
            </a:avLst>
          </a:prstGeom>
          <a:solidFill>
            <a:srgbClr val="203235"/>
          </a:solidFill>
          <a:ln w="9525">
            <a:solidFill>
              <a:srgbClr val="20323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  <p:txBody>
          <a:bodyPr/>
          <a:lstStyle/>
          <a:p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"building near</a:t>
            </a:r>
          </a:p>
          <a:p>
            <a:pPr algn="ctr">
              <a:def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7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vegetation"</a:t>
            </a:r>
          </a:p>
        </p:txBody>
      </p:sp>
      <p:sp>
        <p:nvSpPr>
          <p:cNvPr id="28" name="prompt-caption">
            <a:extLst>
              <a:ext uri="{FF2B5EF4-FFF2-40B4-BE49-F238E27FC236}">
                <a16:creationId xmlns:a16="http://schemas.microsoft.com/office/drawing/2014/main" id="{74A9080C-8FE8-422F-8885-D37EC0219A49}"/>
              </a:ext>
            </a:extLst>
          </p:cNvPr>
          <p:cNvSpPr>
            <a:spLocks noGrp="1"/>
          </p:cNvSpPr>
          <p:nvPr/>
        </p:nvSpPr>
        <p:spPr>
          <a:xfrm>
            <a:off x="9677400" y="2238375"/>
            <a:ext cx="12382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Text prompt</a:t>
            </a:r>
          </a:p>
        </p:txBody>
      </p:sp>
      <p:sp>
        <p:nvSpPr>
          <p:cNvPr id="29" name="arrow-2">
            <a:extLst>
              <a:ext uri="{FF2B5EF4-FFF2-40B4-BE49-F238E27FC236}">
                <a16:creationId xmlns:a16="http://schemas.microsoft.com/office/drawing/2014/main" id="{56A7ECDD-44CE-42F8-94BA-28544626BA3E}"/>
              </a:ext>
            </a:extLst>
          </p:cNvPr>
          <p:cNvSpPr>
            <a:spLocks noGrp="1"/>
          </p:cNvSpPr>
          <p:nvPr/>
        </p:nvSpPr>
        <p:spPr>
          <a:xfrm>
            <a:off x="10306050" y="2628900"/>
            <a:ext cx="0" cy="514350"/>
          </a:xfrm>
          <a:prstGeom prst="line">
            <a:avLst/>
          </a:prstGeom>
          <a:noFill/>
          <a:ln w="19050">
            <a:solidFill>
              <a:srgbClr val="58716B"/>
            </a:solidFill>
            <a:prstDash val="solid"/>
          </a:ln>
        </p:spPr>
      </p:sp>
      <p:sp>
        <p:nvSpPr>
          <p:cNvPr id="30" name="arrow-2-head">
            <a:extLst>
              <a:ext uri="{FF2B5EF4-FFF2-40B4-BE49-F238E27FC236}">
                <a16:creationId xmlns:a16="http://schemas.microsoft.com/office/drawing/2014/main" id="{412EDF0B-3A4C-477E-8A96-8706B7210CB7}"/>
              </a:ext>
            </a:extLst>
          </p:cNvPr>
          <p:cNvSpPr>
            <a:spLocks noGrp="1"/>
          </p:cNvSpPr>
          <p:nvPr/>
        </p:nvSpPr>
        <p:spPr>
          <a:xfrm rot="10800000">
            <a:off x="10239375" y="3076575"/>
            <a:ext cx="133350" cy="133350"/>
          </a:xfrm>
          <a:prstGeom prst="triangle">
            <a:avLst/>
          </a:prstGeom>
          <a:solidFill>
            <a:srgbClr val="58716B"/>
          </a:solidFill>
          <a:ln w="0">
            <a:solidFill>
              <a:srgbClr val="58716B"/>
            </a:solidFill>
            <a:prstDash val="solid"/>
          </a:ln>
        </p:spPr>
      </p:sp>
      <p:sp>
        <p:nvSpPr>
          <p:cNvPr id="31" name="mask-frame">
            <a:extLst>
              <a:ext uri="{FF2B5EF4-FFF2-40B4-BE49-F238E27FC236}">
                <a16:creationId xmlns:a16="http://schemas.microsoft.com/office/drawing/2014/main" id="{FFAC9F17-0FBD-4B4B-AC0C-9AC27C7D3E8B}"/>
              </a:ext>
            </a:extLst>
          </p:cNvPr>
          <p:cNvSpPr>
            <a:spLocks noGrp="1"/>
          </p:cNvSpPr>
          <p:nvPr/>
        </p:nvSpPr>
        <p:spPr>
          <a:xfrm>
            <a:off x="9029700" y="3276600"/>
            <a:ext cx="2476500" cy="2038350"/>
          </a:xfrm>
          <a:prstGeom prst="roundRect">
            <a:avLst>
              <a:gd name="adj" fmla="val 5607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32" name="mask-bg">
            <a:extLst>
              <a:ext uri="{FF2B5EF4-FFF2-40B4-BE49-F238E27FC236}">
                <a16:creationId xmlns:a16="http://schemas.microsoft.com/office/drawing/2014/main" id="{2F67E841-D1C7-4190-8B71-E38B93C26D5D}"/>
              </a:ext>
            </a:extLst>
          </p:cNvPr>
          <p:cNvSpPr>
            <a:spLocks noGrp="1"/>
          </p:cNvSpPr>
          <p:nvPr/>
        </p:nvSpPr>
        <p:spPr>
          <a:xfrm>
            <a:off x="9239250" y="3486150"/>
            <a:ext cx="2057400" cy="1428750"/>
          </a:xfrm>
          <a:prstGeom prst="rect">
            <a:avLst/>
          </a:prstGeom>
          <a:solidFill>
            <a:srgbClr val="111819"/>
          </a:solidFill>
          <a:ln w="0">
            <a:noFill/>
            <a:prstDash val="solid"/>
          </a:ln>
        </p:spPr>
      </p:sp>
      <p:sp>
        <p:nvSpPr>
          <p:cNvPr id="33" name="mask-soft-1">
            <a:extLst>
              <a:ext uri="{FF2B5EF4-FFF2-40B4-BE49-F238E27FC236}">
                <a16:creationId xmlns:a16="http://schemas.microsoft.com/office/drawing/2014/main" id="{44ADF244-399C-40F4-A0C5-B72B98EDE55F}"/>
              </a:ext>
            </a:extLst>
          </p:cNvPr>
          <p:cNvSpPr>
            <a:spLocks noGrp="1"/>
          </p:cNvSpPr>
          <p:nvPr/>
        </p:nvSpPr>
        <p:spPr>
          <a:xfrm>
            <a:off x="9496425" y="4391025"/>
            <a:ext cx="781050" cy="495300"/>
          </a:xfrm>
          <a:prstGeom prst="ellipse">
            <a:avLst/>
          </a:prstGeom>
          <a:solidFill>
            <a:srgbClr val="F7A28E"/>
          </a:solidFill>
          <a:ln w="0">
            <a:noFill/>
            <a:prstDash val="solid"/>
          </a:ln>
        </p:spPr>
      </p:sp>
      <p:sp>
        <p:nvSpPr>
          <p:cNvPr id="34" name="mask-building">
            <a:extLst>
              <a:ext uri="{FF2B5EF4-FFF2-40B4-BE49-F238E27FC236}">
                <a16:creationId xmlns:a16="http://schemas.microsoft.com/office/drawing/2014/main" id="{482713FE-7D0E-468F-B5C2-AD308E57C021}"/>
              </a:ext>
            </a:extLst>
          </p:cNvPr>
          <p:cNvSpPr>
            <a:spLocks noGrp="1"/>
          </p:cNvSpPr>
          <p:nvPr/>
        </p:nvSpPr>
        <p:spPr>
          <a:xfrm>
            <a:off x="9544050" y="4476750"/>
            <a:ext cx="666750" cy="342900"/>
          </a:xfrm>
          <a:prstGeom prst="rect">
            <a:avLst/>
          </a:prstGeom>
          <a:solidFill>
            <a:srgbClr val="E76F51"/>
          </a:solidFill>
          <a:ln w="9525">
            <a:solidFill>
              <a:srgbClr val="E76F51"/>
            </a:solidFill>
            <a:prstDash val="solid"/>
          </a:ln>
        </p:spPr>
      </p:sp>
      <p:sp>
        <p:nvSpPr>
          <p:cNvPr id="35" name="output-caption">
            <a:extLst>
              <a:ext uri="{FF2B5EF4-FFF2-40B4-BE49-F238E27FC236}">
                <a16:creationId xmlns:a16="http://schemas.microsoft.com/office/drawing/2014/main" id="{29EB754B-4AF2-4226-A70F-E0328EA52113}"/>
              </a:ext>
            </a:extLst>
          </p:cNvPr>
          <p:cNvSpPr>
            <a:spLocks noGrp="1"/>
          </p:cNvSpPr>
          <p:nvPr/>
        </p:nvSpPr>
        <p:spPr>
          <a:xfrm>
            <a:off x="9372600" y="5029200"/>
            <a:ext cx="17907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50" b="1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Predicted binary mask</a:t>
            </a:r>
          </a:p>
        </p:txBody>
      </p:sp>
      <p:sp>
        <p:nvSpPr>
          <p:cNvPr id="36" name="footer">
            <a:extLst>
              <a:ext uri="{FF2B5EF4-FFF2-40B4-BE49-F238E27FC236}">
                <a16:creationId xmlns:a16="http://schemas.microsoft.com/office/drawing/2014/main" id="{F4C21DF4-E654-4137-A38C-6F9389B8498A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Source: Project Proposal, Haoming Zhang, CS 8903 Summer 2026</a:t>
            </a:r>
          </a:p>
        </p:txBody>
      </p:sp>
      <p:sp>
        <p:nvSpPr>
          <p:cNvPr id="37" name="slide-num">
            <a:extLst>
              <a:ext uri="{FF2B5EF4-FFF2-40B4-BE49-F238E27FC236}">
                <a16:creationId xmlns:a16="http://schemas.microsoft.com/office/drawing/2014/main" id="{0259B43E-31E0-4EDD-823D-8BD4B1969A10}"/>
              </a:ext>
            </a:extLst>
          </p:cNvPr>
          <p:cNvSpPr>
            <a:spLocks noGrp="1"/>
          </p:cNvSpPr>
          <p:nvPr/>
        </p:nvSpPr>
        <p:spPr>
          <a:xfrm>
            <a:off x="11163300" y="63055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51331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eyebrow">
            <a:extLst>
              <a:ext uri="{FF2B5EF4-FFF2-40B4-BE49-F238E27FC236}">
                <a16:creationId xmlns:a16="http://schemas.microsoft.com/office/drawing/2014/main" id="{D26FC9BD-D7A8-4F33-9415-807B5DCA213A}"/>
              </a:ext>
            </a:extLst>
          </p:cNvPr>
          <p:cNvSpPr>
            <a:spLocks noGrp="1"/>
          </p:cNvSpPr>
          <p:nvPr/>
        </p:nvSpPr>
        <p:spPr>
          <a:xfrm>
            <a:off x="685800" y="457200"/>
            <a:ext cx="1314450" cy="285750"/>
          </a:xfrm>
          <a:prstGeom prst="roundRect">
            <a:avLst>
              <a:gd name="adj" fmla="val 50000"/>
            </a:avLst>
          </a:prstGeom>
          <a:solidFill>
            <a:srgbClr val="DDF1F8"/>
          </a:solidFill>
          <a:ln w="9525">
            <a:solidFill>
              <a:srgbClr val="DDF1F8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STUDY DESIGN</a:t>
            </a:r>
          </a:p>
        </p:txBody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D4D044BC-3743-4B50-AE4F-A9FD231A1EE2}"/>
              </a:ext>
            </a:extLst>
          </p:cNvPr>
          <p:cNvSpPr>
            <a:spLocks noGrp="1"/>
          </p:cNvSpPr>
          <p:nvPr/>
        </p:nvSpPr>
        <p:spPr>
          <a:xfrm>
            <a:off x="685800" y="857250"/>
            <a:ext cx="60960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 i="0">
                <a:solidFill>
                  <a:srgbClr val="132026"/>
                </a:solidFill>
                <a:latin typeface="Aptos Display"/>
                <a:ea typeface="Aptos Display"/>
                <a:cs typeface="Aptos Display"/>
              </a:defRPr>
            </a:pPr>
            <a:r>
              <a:rPr lang="en-US" altLang="zh-CN" sz="3150" b="1" i="0" dirty="0">
                <a:solidFill>
                  <a:srgbClr val="132026"/>
                </a:solidFill>
                <a:latin typeface="Aptos Display"/>
                <a:ea typeface="Aptos Display"/>
                <a:cs typeface="Aptos Display"/>
              </a:rPr>
              <a:t>Methods &amp; Metrics</a:t>
            </a:r>
            <a:endParaRPr sz="3150" b="1" i="0" dirty="0">
              <a:solidFill>
                <a:srgbClr val="132026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12FFC7B0-2191-4865-A6BE-96580D774F7C}"/>
              </a:ext>
            </a:extLst>
          </p:cNvPr>
          <p:cNvSpPr>
            <a:spLocks noGrp="1"/>
          </p:cNvSpPr>
          <p:nvPr/>
        </p:nvSpPr>
        <p:spPr>
          <a:xfrm>
            <a:off x="704850" y="1409700"/>
            <a:ext cx="72390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500" b="0" i="0" dirty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The project compares unsupervised representation analysis, zero-shot transfer, and supervised text-conditioned segmentation over a six-week plan.</a:t>
            </a:r>
          </a:p>
        </p:txBody>
      </p:sp>
      <p:sp>
        <p:nvSpPr>
          <p:cNvPr id="4" name="methods-label">
            <a:extLst>
              <a:ext uri="{FF2B5EF4-FFF2-40B4-BE49-F238E27FC236}">
                <a16:creationId xmlns:a16="http://schemas.microsoft.com/office/drawing/2014/main" id="{429FBCE0-2A5A-4E6A-B865-1D901D14E187}"/>
              </a:ext>
            </a:extLst>
          </p:cNvPr>
          <p:cNvSpPr>
            <a:spLocks noGrp="1"/>
          </p:cNvSpPr>
          <p:nvPr/>
        </p:nvSpPr>
        <p:spPr>
          <a:xfrm>
            <a:off x="685800" y="2152650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Methods</a:t>
            </a:r>
          </a:p>
        </p:txBody>
      </p:sp>
      <p:sp>
        <p:nvSpPr>
          <p:cNvPr id="5" name="method-1">
            <a:extLst>
              <a:ext uri="{FF2B5EF4-FFF2-40B4-BE49-F238E27FC236}">
                <a16:creationId xmlns:a16="http://schemas.microsoft.com/office/drawing/2014/main" id="{8B65F26B-344F-4AED-8C78-17DFA1B5F181}"/>
              </a:ext>
            </a:extLst>
          </p:cNvPr>
          <p:cNvSpPr>
            <a:spLocks noGrp="1"/>
          </p:cNvSpPr>
          <p:nvPr/>
        </p:nvSpPr>
        <p:spPr>
          <a:xfrm>
            <a:off x="685800" y="2476499"/>
            <a:ext cx="5381625" cy="7524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6" name="method-badge-1">
            <a:extLst>
              <a:ext uri="{FF2B5EF4-FFF2-40B4-BE49-F238E27FC236}">
                <a16:creationId xmlns:a16="http://schemas.microsoft.com/office/drawing/2014/main" id="{4C719C38-2E6F-4999-B74E-F5857083C956}"/>
              </a:ext>
            </a:extLst>
          </p:cNvPr>
          <p:cNvSpPr>
            <a:spLocks noGrp="1"/>
          </p:cNvSpPr>
          <p:nvPr/>
        </p:nvSpPr>
        <p:spPr>
          <a:xfrm>
            <a:off x="895350" y="2657475"/>
            <a:ext cx="323850" cy="323850"/>
          </a:xfrm>
          <a:prstGeom prst="ellipse">
            <a:avLst/>
          </a:prstGeom>
          <a:solidFill>
            <a:srgbClr val="DCEFE2"/>
          </a:solidFill>
          <a:ln w="9525">
            <a:solidFill>
              <a:srgbClr val="1F5F46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method-title-1">
            <a:extLst>
              <a:ext uri="{FF2B5EF4-FFF2-40B4-BE49-F238E27FC236}">
                <a16:creationId xmlns:a16="http://schemas.microsoft.com/office/drawing/2014/main" id="{0C17CD00-0AFF-4CCE-B8C8-C5CA43CF3564}"/>
              </a:ext>
            </a:extLst>
          </p:cNvPr>
          <p:cNvSpPr>
            <a:spLocks noGrp="1"/>
          </p:cNvSpPr>
          <p:nvPr/>
        </p:nvSpPr>
        <p:spPr>
          <a:xfrm>
            <a:off x="1390650" y="2590800"/>
            <a:ext cx="3333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 embedding clustering</a:t>
            </a:r>
          </a:p>
        </p:txBody>
      </p:sp>
      <p:sp>
        <p:nvSpPr>
          <p:cNvPr id="8" name="method-desc-1">
            <a:extLst>
              <a:ext uri="{FF2B5EF4-FFF2-40B4-BE49-F238E27FC236}">
                <a16:creationId xmlns:a16="http://schemas.microsoft.com/office/drawing/2014/main" id="{CE933827-5A40-4AB5-8DDA-A1655815F117}"/>
              </a:ext>
            </a:extLst>
          </p:cNvPr>
          <p:cNvSpPr>
            <a:spLocks noGrp="1"/>
          </p:cNvSpPr>
          <p:nvPr/>
        </p:nvSpPr>
        <p:spPr>
          <a:xfrm>
            <a:off x="1390650" y="2838450"/>
            <a:ext cx="433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Find structure in image-text embeddings with K-Means, GMM, PCA, and UMAP.</a:t>
            </a:r>
          </a:p>
        </p:txBody>
      </p:sp>
      <p:sp>
        <p:nvSpPr>
          <p:cNvPr id="9" name="method-2">
            <a:extLst>
              <a:ext uri="{FF2B5EF4-FFF2-40B4-BE49-F238E27FC236}">
                <a16:creationId xmlns:a16="http://schemas.microsoft.com/office/drawing/2014/main" id="{31D8AE37-DD1A-4BF2-B640-54CDD5F8CDF5}"/>
              </a:ext>
            </a:extLst>
          </p:cNvPr>
          <p:cNvSpPr>
            <a:spLocks noGrp="1"/>
          </p:cNvSpPr>
          <p:nvPr/>
        </p:nvSpPr>
        <p:spPr>
          <a:xfrm>
            <a:off x="685800" y="3295650"/>
            <a:ext cx="5381625" cy="74295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0" name="method-badge-2">
            <a:extLst>
              <a:ext uri="{FF2B5EF4-FFF2-40B4-BE49-F238E27FC236}">
                <a16:creationId xmlns:a16="http://schemas.microsoft.com/office/drawing/2014/main" id="{C5093283-1B49-4E2E-BF61-90FFA4F60C1A}"/>
              </a:ext>
            </a:extLst>
          </p:cNvPr>
          <p:cNvSpPr>
            <a:spLocks noGrp="1"/>
          </p:cNvSpPr>
          <p:nvPr/>
        </p:nvSpPr>
        <p:spPr>
          <a:xfrm>
            <a:off x="895350" y="3476625"/>
            <a:ext cx="323850" cy="323850"/>
          </a:xfrm>
          <a:prstGeom prst="ellipse">
            <a:avLst/>
          </a:prstGeom>
          <a:solidFill>
            <a:srgbClr val="DDF1F8"/>
          </a:solidFill>
          <a:ln w="9525">
            <a:solidFill>
              <a:srgbClr val="166B8D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166B8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6B8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1" name="method-title-2">
            <a:extLst>
              <a:ext uri="{FF2B5EF4-FFF2-40B4-BE49-F238E27FC236}">
                <a16:creationId xmlns:a16="http://schemas.microsoft.com/office/drawing/2014/main" id="{386F5135-9B7B-4818-8062-057877143D27}"/>
              </a:ext>
            </a:extLst>
          </p:cNvPr>
          <p:cNvSpPr>
            <a:spLocks noGrp="1"/>
          </p:cNvSpPr>
          <p:nvPr/>
        </p:nvSpPr>
        <p:spPr>
          <a:xfrm>
            <a:off x="1390650" y="3409950"/>
            <a:ext cx="3333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CLIPSeg zero-shot</a:t>
            </a:r>
          </a:p>
        </p:txBody>
      </p:sp>
      <p:sp>
        <p:nvSpPr>
          <p:cNvPr id="12" name="method-desc-2">
            <a:extLst>
              <a:ext uri="{FF2B5EF4-FFF2-40B4-BE49-F238E27FC236}">
                <a16:creationId xmlns:a16="http://schemas.microsoft.com/office/drawing/2014/main" id="{BEE3B4FC-1955-45F6-9F77-6EE680E20D32}"/>
              </a:ext>
            </a:extLst>
          </p:cNvPr>
          <p:cNvSpPr>
            <a:spLocks noGrp="1"/>
          </p:cNvSpPr>
          <p:nvPr/>
        </p:nvSpPr>
        <p:spPr>
          <a:xfrm>
            <a:off x="1390650" y="3657600"/>
            <a:ext cx="433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 dirty="0">
                <a:solidFill>
                  <a:srgbClr val="58716B"/>
                </a:solidFill>
                <a:latin typeface="Aptos"/>
                <a:ea typeface="Aptos"/>
                <a:cs typeface="Aptos"/>
              </a:rPr>
              <a:t>Measure how well a pretrained text-guided </a:t>
            </a:r>
            <a:r>
              <a:rPr sz="1110" b="0" i="0" dirty="0" err="1">
                <a:solidFill>
                  <a:srgbClr val="58716B"/>
                </a:solidFill>
                <a:latin typeface="Aptos"/>
                <a:ea typeface="Aptos"/>
                <a:cs typeface="Aptos"/>
              </a:rPr>
              <a:t>segmenter</a:t>
            </a:r>
            <a:r>
              <a:rPr sz="1110" b="0" i="0" dirty="0">
                <a:solidFill>
                  <a:srgbClr val="58716B"/>
                </a:solidFill>
                <a:latin typeface="Aptos"/>
                <a:ea typeface="Aptos"/>
                <a:cs typeface="Aptos"/>
              </a:rPr>
              <a:t> transfers to aerial imagery.</a:t>
            </a:r>
          </a:p>
        </p:txBody>
      </p:sp>
      <p:sp>
        <p:nvSpPr>
          <p:cNvPr id="13" name="method-3">
            <a:extLst>
              <a:ext uri="{FF2B5EF4-FFF2-40B4-BE49-F238E27FC236}">
                <a16:creationId xmlns:a16="http://schemas.microsoft.com/office/drawing/2014/main" id="{CADFFD20-9DEF-4731-AB8C-955F80C9A237}"/>
              </a:ext>
            </a:extLst>
          </p:cNvPr>
          <p:cNvSpPr>
            <a:spLocks noGrp="1"/>
          </p:cNvSpPr>
          <p:nvPr/>
        </p:nvSpPr>
        <p:spPr>
          <a:xfrm>
            <a:off x="685800" y="4114799"/>
            <a:ext cx="5381625" cy="752475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4" name="method-badge-3">
            <a:extLst>
              <a:ext uri="{FF2B5EF4-FFF2-40B4-BE49-F238E27FC236}">
                <a16:creationId xmlns:a16="http://schemas.microsoft.com/office/drawing/2014/main" id="{21B53E29-3192-4F6B-82E9-FA38B4BF7BA3}"/>
              </a:ext>
            </a:extLst>
          </p:cNvPr>
          <p:cNvSpPr>
            <a:spLocks noGrp="1"/>
          </p:cNvSpPr>
          <p:nvPr/>
        </p:nvSpPr>
        <p:spPr>
          <a:xfrm>
            <a:off x="895350" y="4295775"/>
            <a:ext cx="323850" cy="323850"/>
          </a:xfrm>
          <a:prstGeom prst="ellipse">
            <a:avLst/>
          </a:prstGeom>
          <a:solidFill>
            <a:srgbClr val="FCE4DC"/>
          </a:solidFill>
          <a:ln w="9525">
            <a:solidFill>
              <a:srgbClr val="B84B38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method-title-3">
            <a:extLst>
              <a:ext uri="{FF2B5EF4-FFF2-40B4-BE49-F238E27FC236}">
                <a16:creationId xmlns:a16="http://schemas.microsoft.com/office/drawing/2014/main" id="{B9211B7E-1699-4BBC-B3BF-349E08FA98C0}"/>
              </a:ext>
            </a:extLst>
          </p:cNvPr>
          <p:cNvSpPr>
            <a:spLocks noGrp="1"/>
          </p:cNvSpPr>
          <p:nvPr/>
        </p:nvSpPr>
        <p:spPr>
          <a:xfrm>
            <a:off x="1390650" y="4229100"/>
            <a:ext cx="3333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Fine-tuned CLIPSeg</a:t>
            </a:r>
          </a:p>
        </p:txBody>
      </p:sp>
      <p:sp>
        <p:nvSpPr>
          <p:cNvPr id="16" name="method-desc-3">
            <a:extLst>
              <a:ext uri="{FF2B5EF4-FFF2-40B4-BE49-F238E27FC236}">
                <a16:creationId xmlns:a16="http://schemas.microsoft.com/office/drawing/2014/main" id="{A94E3217-5170-4C9E-AAAD-A066619C6087}"/>
              </a:ext>
            </a:extLst>
          </p:cNvPr>
          <p:cNvSpPr>
            <a:spLocks noGrp="1"/>
          </p:cNvSpPr>
          <p:nvPr/>
        </p:nvSpPr>
        <p:spPr>
          <a:xfrm>
            <a:off x="1390650" y="4476750"/>
            <a:ext cx="433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 dirty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 on image-phrase-mask triplets with BCE + Dice Loss for stronger mask overlap.</a:t>
            </a:r>
          </a:p>
        </p:txBody>
      </p:sp>
      <p:sp>
        <p:nvSpPr>
          <p:cNvPr id="17" name="method-4">
            <a:extLst>
              <a:ext uri="{FF2B5EF4-FFF2-40B4-BE49-F238E27FC236}">
                <a16:creationId xmlns:a16="http://schemas.microsoft.com/office/drawing/2014/main" id="{F59205B8-5466-424E-AF67-846D03250CF7}"/>
              </a:ext>
            </a:extLst>
          </p:cNvPr>
          <p:cNvSpPr>
            <a:spLocks noGrp="1"/>
          </p:cNvSpPr>
          <p:nvPr/>
        </p:nvSpPr>
        <p:spPr>
          <a:xfrm>
            <a:off x="685800" y="4933950"/>
            <a:ext cx="5381625" cy="8382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18" name="method-badge-4">
            <a:extLst>
              <a:ext uri="{FF2B5EF4-FFF2-40B4-BE49-F238E27FC236}">
                <a16:creationId xmlns:a16="http://schemas.microsoft.com/office/drawing/2014/main" id="{5E06291D-1C57-431F-9350-144ABEA16CA8}"/>
              </a:ext>
            </a:extLst>
          </p:cNvPr>
          <p:cNvSpPr>
            <a:spLocks noGrp="1"/>
          </p:cNvSpPr>
          <p:nvPr/>
        </p:nvSpPr>
        <p:spPr>
          <a:xfrm>
            <a:off x="895350" y="5114925"/>
            <a:ext cx="323850" cy="323850"/>
          </a:xfrm>
          <a:prstGeom prst="ellipse">
            <a:avLst/>
          </a:prstGeom>
          <a:solidFill>
            <a:srgbClr val="FFF2C4"/>
          </a:solidFill>
          <a:ln w="9525">
            <a:solidFill>
              <a:srgbClr val="9A6B00"/>
            </a:solidFill>
            <a:prstDash val="solid"/>
          </a:ln>
        </p:spPr>
        <p:txBody>
          <a:bodyPr/>
          <a:lstStyle/>
          <a:p>
            <a:pPr algn="ctr">
              <a:defRPr sz="1200" b="1">
                <a:solidFill>
                  <a:srgbClr val="9A6B00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A6B00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method-title-4">
            <a:extLst>
              <a:ext uri="{FF2B5EF4-FFF2-40B4-BE49-F238E27FC236}">
                <a16:creationId xmlns:a16="http://schemas.microsoft.com/office/drawing/2014/main" id="{410B914D-6306-4FA0-9929-153B25CAFC32}"/>
              </a:ext>
            </a:extLst>
          </p:cNvPr>
          <p:cNvSpPr>
            <a:spLocks noGrp="1"/>
          </p:cNvSpPr>
          <p:nvPr/>
        </p:nvSpPr>
        <p:spPr>
          <a:xfrm>
            <a:off x="1390650" y="5048250"/>
            <a:ext cx="33337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Text-conditioned U-Net</a:t>
            </a:r>
          </a:p>
        </p:txBody>
      </p:sp>
      <p:sp>
        <p:nvSpPr>
          <p:cNvPr id="20" name="method-desc-4">
            <a:extLst>
              <a:ext uri="{FF2B5EF4-FFF2-40B4-BE49-F238E27FC236}">
                <a16:creationId xmlns:a16="http://schemas.microsoft.com/office/drawing/2014/main" id="{68CFB1F6-7A7D-44F8-8365-03E911AE98D8}"/>
              </a:ext>
            </a:extLst>
          </p:cNvPr>
          <p:cNvSpPr>
            <a:spLocks noGrp="1"/>
          </p:cNvSpPr>
          <p:nvPr/>
        </p:nvSpPr>
        <p:spPr>
          <a:xfrm>
            <a:off x="1390650" y="5295900"/>
            <a:ext cx="433387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1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10" b="0" i="0" dirty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Use a lightweight decoder that injects CLIP text embeddings into spatial features.</a:t>
            </a:r>
          </a:p>
        </p:txBody>
      </p:sp>
      <p:sp>
        <p:nvSpPr>
          <p:cNvPr id="21" name="metrics-card">
            <a:extLst>
              <a:ext uri="{FF2B5EF4-FFF2-40B4-BE49-F238E27FC236}">
                <a16:creationId xmlns:a16="http://schemas.microsoft.com/office/drawing/2014/main" id="{CCEC7F0C-3BB7-4FA7-A852-03FA4BF088DE}"/>
              </a:ext>
            </a:extLst>
          </p:cNvPr>
          <p:cNvSpPr>
            <a:spLocks noGrp="1"/>
          </p:cNvSpPr>
          <p:nvPr/>
        </p:nvSpPr>
        <p:spPr>
          <a:xfrm>
            <a:off x="6477000" y="2076450"/>
            <a:ext cx="2333625" cy="27813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2" name="metrics-title">
            <a:extLst>
              <a:ext uri="{FF2B5EF4-FFF2-40B4-BE49-F238E27FC236}">
                <a16:creationId xmlns:a16="http://schemas.microsoft.com/office/drawing/2014/main" id="{AF3F5DAE-F5C5-4A5F-9F25-9B3BD4CC5D90}"/>
              </a:ext>
            </a:extLst>
          </p:cNvPr>
          <p:cNvSpPr>
            <a:spLocks noGrp="1"/>
          </p:cNvSpPr>
          <p:nvPr/>
        </p:nvSpPr>
        <p:spPr>
          <a:xfrm>
            <a:off x="6705600" y="2324100"/>
            <a:ext cx="1809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132026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32026"/>
                </a:solidFill>
                <a:latin typeface="Aptos"/>
                <a:ea typeface="Aptos"/>
                <a:cs typeface="Aptos"/>
              </a:rPr>
              <a:t>Evaluation metrics</a:t>
            </a:r>
          </a:p>
        </p:txBody>
      </p:sp>
      <p:sp>
        <p:nvSpPr>
          <p:cNvPr id="23" name="unsup-pill">
            <a:extLst>
              <a:ext uri="{FF2B5EF4-FFF2-40B4-BE49-F238E27FC236}">
                <a16:creationId xmlns:a16="http://schemas.microsoft.com/office/drawing/2014/main" id="{C5C27DE2-7C99-43F1-800F-F4311171F43C}"/>
              </a:ext>
            </a:extLst>
          </p:cNvPr>
          <p:cNvSpPr>
            <a:spLocks noGrp="1"/>
          </p:cNvSpPr>
          <p:nvPr/>
        </p:nvSpPr>
        <p:spPr>
          <a:xfrm>
            <a:off x="6705600" y="2705100"/>
            <a:ext cx="1162050" cy="285750"/>
          </a:xfrm>
          <a:prstGeom prst="roundRect">
            <a:avLst>
              <a:gd name="adj" fmla="val 50000"/>
            </a:avLst>
          </a:prstGeom>
          <a:solidFill>
            <a:srgbClr val="DCEFE2"/>
          </a:solidFill>
          <a:ln w="9525">
            <a:solidFill>
              <a:srgbClr val="DCEFE2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5F46"/>
                </a:solidFill>
                <a:latin typeface="Aptos"/>
                <a:ea typeface="Aptos"/>
                <a:cs typeface="Aptos"/>
              </a:rPr>
              <a:t>UNSUPERVISED</a:t>
            </a:r>
          </a:p>
        </p:txBody>
      </p:sp>
      <p:sp>
        <p:nvSpPr>
          <p:cNvPr id="24" name="unsup-metrics">
            <a:extLst>
              <a:ext uri="{FF2B5EF4-FFF2-40B4-BE49-F238E27FC236}">
                <a16:creationId xmlns:a16="http://schemas.microsoft.com/office/drawing/2014/main" id="{B49C78B4-B499-465C-9E35-5D7BF90FF587}"/>
              </a:ext>
            </a:extLst>
          </p:cNvPr>
          <p:cNvSpPr>
            <a:spLocks noGrp="1"/>
          </p:cNvSpPr>
          <p:nvPr/>
        </p:nvSpPr>
        <p:spPr>
          <a:xfrm>
            <a:off x="6724650" y="3086100"/>
            <a:ext cx="1905000" cy="628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Silhouette Score</a:t>
            </a:r>
          </a:p>
          <a:p>
            <a:pPr algn="l"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Davies-Bouldin Index</a:t>
            </a:r>
          </a:p>
          <a:p>
            <a:pPr algn="l">
              <a:defRPr sz="1140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140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 Purity</a:t>
            </a:r>
          </a:p>
        </p:txBody>
      </p:sp>
      <p:sp>
        <p:nvSpPr>
          <p:cNvPr id="25" name="seg-pill">
            <a:extLst>
              <a:ext uri="{FF2B5EF4-FFF2-40B4-BE49-F238E27FC236}">
                <a16:creationId xmlns:a16="http://schemas.microsoft.com/office/drawing/2014/main" id="{B55C9869-0043-4076-983F-9CE8C2A436F5}"/>
              </a:ext>
            </a:extLst>
          </p:cNvPr>
          <p:cNvSpPr>
            <a:spLocks noGrp="1"/>
          </p:cNvSpPr>
          <p:nvPr/>
        </p:nvSpPr>
        <p:spPr>
          <a:xfrm>
            <a:off x="6705600" y="3752850"/>
            <a:ext cx="1143000" cy="285750"/>
          </a:xfrm>
          <a:prstGeom prst="roundRect">
            <a:avLst>
              <a:gd name="adj" fmla="val 50000"/>
            </a:avLst>
          </a:prstGeom>
          <a:solidFill>
            <a:srgbClr val="FCE4DC"/>
          </a:solidFill>
          <a:ln w="9525">
            <a:solidFill>
              <a:srgbClr val="FCE4DC"/>
            </a:solidFill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B84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84B38"/>
                </a:solidFill>
                <a:latin typeface="Aptos"/>
                <a:ea typeface="Aptos"/>
                <a:cs typeface="Aptos"/>
              </a:rPr>
              <a:t>SEGMENTATION</a:t>
            </a:r>
          </a:p>
        </p:txBody>
      </p:sp>
      <p:sp>
        <p:nvSpPr>
          <p:cNvPr id="26" name="seg-metrics">
            <a:extLst>
              <a:ext uri="{FF2B5EF4-FFF2-40B4-BE49-F238E27FC236}">
                <a16:creationId xmlns:a16="http://schemas.microsoft.com/office/drawing/2014/main" id="{F75D3ACB-0E5D-403C-83E9-8AE0798FE2BC}"/>
              </a:ext>
            </a:extLst>
          </p:cNvPr>
          <p:cNvSpPr>
            <a:spLocks noGrp="1"/>
          </p:cNvSpPr>
          <p:nvPr/>
        </p:nvSpPr>
        <p:spPr>
          <a:xfrm>
            <a:off x="6724650" y="4133850"/>
            <a:ext cx="1905000" cy="647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IoU / mIoU</a:t>
            </a:r>
          </a:p>
          <a:p>
            <a:pPr algn="l"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Dice Coefficient</a:t>
            </a:r>
          </a:p>
          <a:p>
            <a:pPr algn="l"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Precision / Recall</a:t>
            </a:r>
          </a:p>
          <a:p>
            <a:pPr algn="l">
              <a:defRPr sz="1043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1043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Per-category IoU</a:t>
            </a:r>
          </a:p>
        </p:txBody>
      </p:sp>
      <p:sp>
        <p:nvSpPr>
          <p:cNvPr id="27" name="outcomes-card">
            <a:extLst>
              <a:ext uri="{FF2B5EF4-FFF2-40B4-BE49-F238E27FC236}">
                <a16:creationId xmlns:a16="http://schemas.microsoft.com/office/drawing/2014/main" id="{EF7000A8-8826-43B6-BBA4-5A42F9A1699A}"/>
              </a:ext>
            </a:extLst>
          </p:cNvPr>
          <p:cNvSpPr>
            <a:spLocks noGrp="1"/>
          </p:cNvSpPr>
          <p:nvPr/>
        </p:nvSpPr>
        <p:spPr>
          <a:xfrm>
            <a:off x="9144000" y="2076450"/>
            <a:ext cx="2362200" cy="2781300"/>
          </a:xfrm>
          <a:prstGeom prst="roundRect">
            <a:avLst>
              <a:gd name="adj" fmla="val 4839"/>
            </a:avLst>
          </a:prstGeom>
          <a:solidFill>
            <a:srgbClr val="203235"/>
          </a:solidFill>
          <a:ln w="9525">
            <a:solidFill>
              <a:srgbClr val="203235"/>
            </a:solidFill>
            <a:prstDash val="solid"/>
          </a:ln>
        </p:spPr>
        <p:style>
          <a:lnRef idx="0">
            <a:scrgbClr r="0" g="0" b="0"/>
          </a:lnRef>
          <a:fillRef idx="0">
            <a:scrgbClr r="0" g="0" b="0"/>
          </a:fillRef>
          <a:effectRef idx="4">
            <a:scrgbClr r="0" g="0" b="0"/>
          </a:effectRef>
          <a:fontRef idx="major"/>
        </p:style>
      </p:sp>
      <p:sp>
        <p:nvSpPr>
          <p:cNvPr id="28" name="outcomes-title">
            <a:extLst>
              <a:ext uri="{FF2B5EF4-FFF2-40B4-BE49-F238E27FC236}">
                <a16:creationId xmlns:a16="http://schemas.microsoft.com/office/drawing/2014/main" id="{BB9C32AC-89A1-41AB-A437-1917C9DDE293}"/>
              </a:ext>
            </a:extLst>
          </p:cNvPr>
          <p:cNvSpPr>
            <a:spLocks noGrp="1"/>
          </p:cNvSpPr>
          <p:nvPr/>
        </p:nvSpPr>
        <p:spPr>
          <a:xfrm>
            <a:off x="9391650" y="2324100"/>
            <a:ext cx="1762125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Expected contribution</a:t>
            </a:r>
          </a:p>
        </p:txBody>
      </p:sp>
      <p:sp>
        <p:nvSpPr>
          <p:cNvPr id="29" name="outcomes-copy">
            <a:extLst>
              <a:ext uri="{FF2B5EF4-FFF2-40B4-BE49-F238E27FC236}">
                <a16:creationId xmlns:a16="http://schemas.microsoft.com/office/drawing/2014/main" id="{7384E1DF-1212-4719-853E-41C605C2B066}"/>
              </a:ext>
            </a:extLst>
          </p:cNvPr>
          <p:cNvSpPr>
            <a:spLocks noGrp="1"/>
          </p:cNvSpPr>
          <p:nvPr/>
        </p:nvSpPr>
        <p:spPr>
          <a:xfrm>
            <a:off x="9391650" y="2781300"/>
            <a:ext cx="17526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80" b="0" i="0">
                <a:solidFill>
                  <a:srgbClr val="DDEBE6"/>
                </a:solidFill>
                <a:latin typeface="Aptos"/>
                <a:ea typeface="Aptos"/>
                <a:cs typeface="Aptos"/>
              </a:defRPr>
            </a:pPr>
            <a:r>
              <a:rPr sz="1080" b="0" i="0">
                <a:solidFill>
                  <a:srgbClr val="DDEBE6"/>
                </a:solidFill>
                <a:latin typeface="Aptos"/>
                <a:ea typeface="Aptos"/>
                <a:cs typeface="Aptos"/>
              </a:rPr>
              <a:t>Tests whether fine-tuning beats zero-shot transfer and whether a simple U-Net is a credible baseline.</a:t>
            </a:r>
          </a:p>
        </p:txBody>
      </p:sp>
      <p:sp>
        <p:nvSpPr>
          <p:cNvPr id="30" name="deliverables-copy">
            <a:extLst>
              <a:ext uri="{FF2B5EF4-FFF2-40B4-BE49-F238E27FC236}">
                <a16:creationId xmlns:a16="http://schemas.microsoft.com/office/drawing/2014/main" id="{60FBD320-0A59-45E3-9A24-2EAEA558AD4C}"/>
              </a:ext>
            </a:extLst>
          </p:cNvPr>
          <p:cNvSpPr>
            <a:spLocks noGrp="1"/>
          </p:cNvSpPr>
          <p:nvPr/>
        </p:nvSpPr>
        <p:spPr>
          <a:xfrm>
            <a:off x="9391650" y="3829050"/>
            <a:ext cx="175260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8" b="0" i="0">
                <a:solidFill>
                  <a:srgbClr val="B8D4CA"/>
                </a:solidFill>
                <a:latin typeface="Aptos"/>
                <a:ea typeface="Aptos"/>
                <a:cs typeface="Aptos"/>
              </a:defRPr>
            </a:pPr>
            <a:r>
              <a:rPr sz="1058" b="0" i="0">
                <a:solidFill>
                  <a:srgbClr val="B8D4CA"/>
                </a:solidFill>
                <a:latin typeface="Aptos"/>
                <a:ea typeface="Aptos"/>
                <a:cs typeface="Aptos"/>
              </a:rPr>
              <a:t>Outputs: metric tables, mask examples, failure cases, final report, and a short demo.</a:t>
            </a:r>
          </a:p>
        </p:txBody>
      </p:sp>
      <p:sp>
        <p:nvSpPr>
          <p:cNvPr id="31" name="timeline-label">
            <a:extLst>
              <a:ext uri="{FF2B5EF4-FFF2-40B4-BE49-F238E27FC236}">
                <a16:creationId xmlns:a16="http://schemas.microsoft.com/office/drawing/2014/main" id="{DD8DA150-CC57-49C5-9FAD-FCCA852B22C0}"/>
              </a:ext>
            </a:extLst>
          </p:cNvPr>
          <p:cNvSpPr>
            <a:spLocks noGrp="1"/>
          </p:cNvSpPr>
          <p:nvPr/>
        </p:nvSpPr>
        <p:spPr>
          <a:xfrm>
            <a:off x="6477000" y="5105400"/>
            <a:ext cx="1524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Six-week plan</a:t>
            </a:r>
          </a:p>
        </p:txBody>
      </p:sp>
      <p:sp>
        <p:nvSpPr>
          <p:cNvPr id="32" name="week-1">
            <a:extLst>
              <a:ext uri="{FF2B5EF4-FFF2-40B4-BE49-F238E27FC236}">
                <a16:creationId xmlns:a16="http://schemas.microsoft.com/office/drawing/2014/main" id="{6EE9A361-29F3-4818-92C2-275AE89A51EA}"/>
              </a:ext>
            </a:extLst>
          </p:cNvPr>
          <p:cNvSpPr>
            <a:spLocks noGrp="1"/>
          </p:cNvSpPr>
          <p:nvPr/>
        </p:nvSpPr>
        <p:spPr>
          <a:xfrm>
            <a:off x="6477000" y="5467350"/>
            <a:ext cx="8191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33" name="week-num-1">
            <a:extLst>
              <a:ext uri="{FF2B5EF4-FFF2-40B4-BE49-F238E27FC236}">
                <a16:creationId xmlns:a16="http://schemas.microsoft.com/office/drawing/2014/main" id="{361E9469-6E37-40A7-86B1-DC90B8025781}"/>
              </a:ext>
            </a:extLst>
          </p:cNvPr>
          <p:cNvSpPr>
            <a:spLocks noGrp="1"/>
          </p:cNvSpPr>
          <p:nvPr/>
        </p:nvSpPr>
        <p:spPr>
          <a:xfrm>
            <a:off x="6591300" y="55530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W1</a:t>
            </a:r>
          </a:p>
        </p:txBody>
      </p:sp>
      <p:sp>
        <p:nvSpPr>
          <p:cNvPr id="34" name="week-text-1">
            <a:extLst>
              <a:ext uri="{FF2B5EF4-FFF2-40B4-BE49-F238E27FC236}">
                <a16:creationId xmlns:a16="http://schemas.microsoft.com/office/drawing/2014/main" id="{E59D55B1-37DD-43B3-AB5A-A2F3F459371E}"/>
              </a:ext>
            </a:extLst>
          </p:cNvPr>
          <p:cNvSpPr>
            <a:spLocks noGrp="1"/>
          </p:cNvSpPr>
          <p:nvPr/>
        </p:nvSpPr>
        <p:spPr>
          <a:xfrm>
            <a:off x="6553200" y="57721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Data</a:t>
            </a:r>
          </a:p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prep</a:t>
            </a:r>
          </a:p>
        </p:txBody>
      </p:sp>
      <p:sp>
        <p:nvSpPr>
          <p:cNvPr id="35" name="week-2">
            <a:extLst>
              <a:ext uri="{FF2B5EF4-FFF2-40B4-BE49-F238E27FC236}">
                <a16:creationId xmlns:a16="http://schemas.microsoft.com/office/drawing/2014/main" id="{E2510B3C-D044-467E-A502-B45044A9EB9E}"/>
              </a:ext>
            </a:extLst>
          </p:cNvPr>
          <p:cNvSpPr>
            <a:spLocks noGrp="1"/>
          </p:cNvSpPr>
          <p:nvPr/>
        </p:nvSpPr>
        <p:spPr>
          <a:xfrm>
            <a:off x="7410450" y="5467350"/>
            <a:ext cx="819150" cy="685800"/>
          </a:xfrm>
          <a:prstGeom prst="roundRect">
            <a:avLst>
              <a:gd name="adj" fmla="val 11111"/>
            </a:avLst>
          </a:prstGeom>
          <a:solidFill>
            <a:srgbClr val="EEF5F2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36" name="week-num-2">
            <a:extLst>
              <a:ext uri="{FF2B5EF4-FFF2-40B4-BE49-F238E27FC236}">
                <a16:creationId xmlns:a16="http://schemas.microsoft.com/office/drawing/2014/main" id="{9A2958BB-0423-44BD-BA22-D1ECBF88708D}"/>
              </a:ext>
            </a:extLst>
          </p:cNvPr>
          <p:cNvSpPr>
            <a:spLocks noGrp="1"/>
          </p:cNvSpPr>
          <p:nvPr/>
        </p:nvSpPr>
        <p:spPr>
          <a:xfrm>
            <a:off x="7524750" y="55530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W2</a:t>
            </a:r>
          </a:p>
        </p:txBody>
      </p:sp>
      <p:sp>
        <p:nvSpPr>
          <p:cNvPr id="37" name="week-text-2">
            <a:extLst>
              <a:ext uri="{FF2B5EF4-FFF2-40B4-BE49-F238E27FC236}">
                <a16:creationId xmlns:a16="http://schemas.microsoft.com/office/drawing/2014/main" id="{105CD90F-363C-45AA-9683-5471FC4BBC1F}"/>
              </a:ext>
            </a:extLst>
          </p:cNvPr>
          <p:cNvSpPr>
            <a:spLocks noGrp="1"/>
          </p:cNvSpPr>
          <p:nvPr/>
        </p:nvSpPr>
        <p:spPr>
          <a:xfrm>
            <a:off x="7486650" y="57721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</a:t>
            </a:r>
          </a:p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clusters</a:t>
            </a:r>
          </a:p>
        </p:txBody>
      </p:sp>
      <p:sp>
        <p:nvSpPr>
          <p:cNvPr id="38" name="week-3">
            <a:extLst>
              <a:ext uri="{FF2B5EF4-FFF2-40B4-BE49-F238E27FC236}">
                <a16:creationId xmlns:a16="http://schemas.microsoft.com/office/drawing/2014/main" id="{FAEC0085-04EA-480D-B6FA-A70AFB9192BE}"/>
              </a:ext>
            </a:extLst>
          </p:cNvPr>
          <p:cNvSpPr>
            <a:spLocks noGrp="1"/>
          </p:cNvSpPr>
          <p:nvPr/>
        </p:nvSpPr>
        <p:spPr>
          <a:xfrm>
            <a:off x="8343900" y="5467350"/>
            <a:ext cx="8191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39" name="week-num-3">
            <a:extLst>
              <a:ext uri="{FF2B5EF4-FFF2-40B4-BE49-F238E27FC236}">
                <a16:creationId xmlns:a16="http://schemas.microsoft.com/office/drawing/2014/main" id="{8F50C890-8472-4481-8A81-FD03CC1AAA40}"/>
              </a:ext>
            </a:extLst>
          </p:cNvPr>
          <p:cNvSpPr>
            <a:spLocks noGrp="1"/>
          </p:cNvSpPr>
          <p:nvPr/>
        </p:nvSpPr>
        <p:spPr>
          <a:xfrm>
            <a:off x="8458200" y="55530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W3</a:t>
            </a:r>
          </a:p>
        </p:txBody>
      </p:sp>
      <p:sp>
        <p:nvSpPr>
          <p:cNvPr id="40" name="week-text-3">
            <a:extLst>
              <a:ext uri="{FF2B5EF4-FFF2-40B4-BE49-F238E27FC236}">
                <a16:creationId xmlns:a16="http://schemas.microsoft.com/office/drawing/2014/main" id="{2A9D3F16-DA24-4DCA-B28D-070F316C3E27}"/>
              </a:ext>
            </a:extLst>
          </p:cNvPr>
          <p:cNvSpPr>
            <a:spLocks noGrp="1"/>
          </p:cNvSpPr>
          <p:nvPr/>
        </p:nvSpPr>
        <p:spPr>
          <a:xfrm>
            <a:off x="8343900" y="5772150"/>
            <a:ext cx="7429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 dirty="0">
                <a:solidFill>
                  <a:srgbClr val="58716B"/>
                </a:solidFill>
                <a:latin typeface="Aptos"/>
                <a:ea typeface="Aptos"/>
                <a:cs typeface="Aptos"/>
              </a:rPr>
              <a:t>Zero-shot</a:t>
            </a:r>
          </a:p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 dirty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1" name="week-4">
            <a:extLst>
              <a:ext uri="{FF2B5EF4-FFF2-40B4-BE49-F238E27FC236}">
                <a16:creationId xmlns:a16="http://schemas.microsoft.com/office/drawing/2014/main" id="{3D435713-D4FA-4EC4-9375-3EE9E96E9D94}"/>
              </a:ext>
            </a:extLst>
          </p:cNvPr>
          <p:cNvSpPr>
            <a:spLocks noGrp="1"/>
          </p:cNvSpPr>
          <p:nvPr/>
        </p:nvSpPr>
        <p:spPr>
          <a:xfrm>
            <a:off x="9277350" y="5467350"/>
            <a:ext cx="819150" cy="685800"/>
          </a:xfrm>
          <a:prstGeom prst="roundRect">
            <a:avLst>
              <a:gd name="adj" fmla="val 11111"/>
            </a:avLst>
          </a:prstGeom>
          <a:solidFill>
            <a:srgbClr val="EEF5F2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42" name="week-num-4">
            <a:extLst>
              <a:ext uri="{FF2B5EF4-FFF2-40B4-BE49-F238E27FC236}">
                <a16:creationId xmlns:a16="http://schemas.microsoft.com/office/drawing/2014/main" id="{E748E86E-2748-4544-B89A-E24B95AAB0A8}"/>
              </a:ext>
            </a:extLst>
          </p:cNvPr>
          <p:cNvSpPr>
            <a:spLocks noGrp="1"/>
          </p:cNvSpPr>
          <p:nvPr/>
        </p:nvSpPr>
        <p:spPr>
          <a:xfrm>
            <a:off x="9391650" y="55530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E76F51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E76F51"/>
                </a:solidFill>
                <a:latin typeface="Aptos"/>
                <a:ea typeface="Aptos"/>
                <a:cs typeface="Aptos"/>
              </a:rPr>
              <a:t>W4</a:t>
            </a:r>
          </a:p>
        </p:txBody>
      </p:sp>
      <p:sp>
        <p:nvSpPr>
          <p:cNvPr id="43" name="week-text-4">
            <a:extLst>
              <a:ext uri="{FF2B5EF4-FFF2-40B4-BE49-F238E27FC236}">
                <a16:creationId xmlns:a16="http://schemas.microsoft.com/office/drawing/2014/main" id="{89BE37AB-CA33-4625-861C-78A9F68A885F}"/>
              </a:ext>
            </a:extLst>
          </p:cNvPr>
          <p:cNvSpPr>
            <a:spLocks noGrp="1"/>
          </p:cNvSpPr>
          <p:nvPr/>
        </p:nvSpPr>
        <p:spPr>
          <a:xfrm>
            <a:off x="9353550" y="57721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Train</a:t>
            </a:r>
          </a:p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CLIPSeg</a:t>
            </a:r>
          </a:p>
        </p:txBody>
      </p:sp>
      <p:sp>
        <p:nvSpPr>
          <p:cNvPr id="44" name="week-5">
            <a:extLst>
              <a:ext uri="{FF2B5EF4-FFF2-40B4-BE49-F238E27FC236}">
                <a16:creationId xmlns:a16="http://schemas.microsoft.com/office/drawing/2014/main" id="{C3E1EE34-B392-44EF-AB2C-AF8EE3DE4C8C}"/>
              </a:ext>
            </a:extLst>
          </p:cNvPr>
          <p:cNvSpPr>
            <a:spLocks noGrp="1"/>
          </p:cNvSpPr>
          <p:nvPr/>
        </p:nvSpPr>
        <p:spPr>
          <a:xfrm>
            <a:off x="10210800" y="5467350"/>
            <a:ext cx="819150" cy="68580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45" name="week-num-5">
            <a:extLst>
              <a:ext uri="{FF2B5EF4-FFF2-40B4-BE49-F238E27FC236}">
                <a16:creationId xmlns:a16="http://schemas.microsoft.com/office/drawing/2014/main" id="{CB2AAB4F-953A-43A8-8C76-58C7BD4D61D8}"/>
              </a:ext>
            </a:extLst>
          </p:cNvPr>
          <p:cNvSpPr>
            <a:spLocks noGrp="1"/>
          </p:cNvSpPr>
          <p:nvPr/>
        </p:nvSpPr>
        <p:spPr>
          <a:xfrm>
            <a:off x="10325100" y="55530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W5</a:t>
            </a:r>
          </a:p>
        </p:txBody>
      </p:sp>
      <p:sp>
        <p:nvSpPr>
          <p:cNvPr id="46" name="week-text-5">
            <a:extLst>
              <a:ext uri="{FF2B5EF4-FFF2-40B4-BE49-F238E27FC236}">
                <a16:creationId xmlns:a16="http://schemas.microsoft.com/office/drawing/2014/main" id="{2A96BD91-B420-497A-B5F2-18178FA89331}"/>
              </a:ext>
            </a:extLst>
          </p:cNvPr>
          <p:cNvSpPr>
            <a:spLocks noGrp="1"/>
          </p:cNvSpPr>
          <p:nvPr/>
        </p:nvSpPr>
        <p:spPr>
          <a:xfrm>
            <a:off x="10287000" y="57721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U-Net</a:t>
            </a:r>
          </a:p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baseline</a:t>
            </a:r>
          </a:p>
        </p:txBody>
      </p:sp>
      <p:sp>
        <p:nvSpPr>
          <p:cNvPr id="47" name="week-6">
            <a:extLst>
              <a:ext uri="{FF2B5EF4-FFF2-40B4-BE49-F238E27FC236}">
                <a16:creationId xmlns:a16="http://schemas.microsoft.com/office/drawing/2014/main" id="{71CDE39B-D0AD-4285-B9AC-57C96851BAF4}"/>
              </a:ext>
            </a:extLst>
          </p:cNvPr>
          <p:cNvSpPr>
            <a:spLocks noGrp="1"/>
          </p:cNvSpPr>
          <p:nvPr/>
        </p:nvSpPr>
        <p:spPr>
          <a:xfrm>
            <a:off x="11144250" y="5467350"/>
            <a:ext cx="819150" cy="685800"/>
          </a:xfrm>
          <a:prstGeom prst="roundRect">
            <a:avLst>
              <a:gd name="adj" fmla="val 11111"/>
            </a:avLst>
          </a:prstGeom>
          <a:solidFill>
            <a:srgbClr val="EEF5F2"/>
          </a:solidFill>
          <a:ln w="9525">
            <a:solidFill>
              <a:srgbClr val="D9E2DC"/>
            </a:solidFill>
            <a:prstDash val="solid"/>
          </a:ln>
        </p:spPr>
      </p:sp>
      <p:sp>
        <p:nvSpPr>
          <p:cNvPr id="48" name="week-num-6">
            <a:extLst>
              <a:ext uri="{FF2B5EF4-FFF2-40B4-BE49-F238E27FC236}">
                <a16:creationId xmlns:a16="http://schemas.microsoft.com/office/drawing/2014/main" id="{17E84259-CC74-438B-89EF-E7F96E856505}"/>
              </a:ext>
            </a:extLst>
          </p:cNvPr>
          <p:cNvSpPr>
            <a:spLocks noGrp="1"/>
          </p:cNvSpPr>
          <p:nvPr/>
        </p:nvSpPr>
        <p:spPr>
          <a:xfrm>
            <a:off x="11258550" y="5553075"/>
            <a:ext cx="5143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1013" b="1" i="0">
                <a:solidFill>
                  <a:srgbClr val="1F5F46"/>
                </a:solidFill>
                <a:latin typeface="Aptos"/>
                <a:ea typeface="Aptos"/>
                <a:cs typeface="Aptos"/>
              </a:defRPr>
            </a:pPr>
            <a:r>
              <a:rPr sz="1013" b="1" i="0">
                <a:solidFill>
                  <a:srgbClr val="1F5F46"/>
                </a:solidFill>
                <a:latin typeface="Aptos"/>
                <a:ea typeface="Aptos"/>
                <a:cs typeface="Aptos"/>
              </a:rPr>
              <a:t>W6</a:t>
            </a:r>
          </a:p>
        </p:txBody>
      </p:sp>
      <p:sp>
        <p:nvSpPr>
          <p:cNvPr id="49" name="week-text-6">
            <a:extLst>
              <a:ext uri="{FF2B5EF4-FFF2-40B4-BE49-F238E27FC236}">
                <a16:creationId xmlns:a16="http://schemas.microsoft.com/office/drawing/2014/main" id="{1635E999-19CE-47AF-8A15-62B377E1A60C}"/>
              </a:ext>
            </a:extLst>
          </p:cNvPr>
          <p:cNvSpPr>
            <a:spLocks noGrp="1"/>
          </p:cNvSpPr>
          <p:nvPr/>
        </p:nvSpPr>
        <p:spPr>
          <a:xfrm>
            <a:off x="11220450" y="5772150"/>
            <a:ext cx="666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Error</a:t>
            </a:r>
          </a:p>
          <a:p>
            <a:pPr algn="ctr">
              <a:defRPr sz="938" b="0" i="0">
                <a:solidFill>
                  <a:srgbClr val="58716B"/>
                </a:solidFill>
                <a:latin typeface="Aptos"/>
                <a:ea typeface="Aptos"/>
                <a:cs typeface="Aptos"/>
              </a:defRPr>
            </a:pPr>
            <a:r>
              <a:rPr sz="938" b="0" i="0">
                <a:solidFill>
                  <a:srgbClr val="58716B"/>
                </a:solidFill>
                <a:latin typeface="Aptos"/>
                <a:ea typeface="Aptos"/>
                <a:cs typeface="Aptos"/>
              </a:rPr>
              <a:t>analysis</a:t>
            </a:r>
          </a:p>
        </p:txBody>
      </p:sp>
      <p:sp>
        <p:nvSpPr>
          <p:cNvPr id="50" name="footer">
            <a:extLst>
              <a:ext uri="{FF2B5EF4-FFF2-40B4-BE49-F238E27FC236}">
                <a16:creationId xmlns:a16="http://schemas.microsoft.com/office/drawing/2014/main" id="{637D1885-68B0-4C68-B5E8-9A1BA8DDBF92}"/>
              </a:ext>
            </a:extLst>
          </p:cNvPr>
          <p:cNvSpPr>
            <a:spLocks noGrp="1"/>
          </p:cNvSpPr>
          <p:nvPr/>
        </p:nvSpPr>
        <p:spPr>
          <a:xfrm>
            <a:off x="685800" y="6362700"/>
            <a:ext cx="7239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788" b="0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788" b="0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Source: Project Proposal, Haoming Zhang, CS 8903 Summer 2026</a:t>
            </a:r>
          </a:p>
        </p:txBody>
      </p:sp>
      <p:sp>
        <p:nvSpPr>
          <p:cNvPr id="51" name="slide-num">
            <a:extLst>
              <a:ext uri="{FF2B5EF4-FFF2-40B4-BE49-F238E27FC236}">
                <a16:creationId xmlns:a16="http://schemas.microsoft.com/office/drawing/2014/main" id="{5EEAE0FB-7DBB-4418-A85E-68785D990487}"/>
              </a:ext>
            </a:extLst>
          </p:cNvPr>
          <p:cNvSpPr>
            <a:spLocks noGrp="1"/>
          </p:cNvSpPr>
          <p:nvPr/>
        </p:nvSpPr>
        <p:spPr>
          <a:xfrm>
            <a:off x="11163300" y="6305550"/>
            <a:ext cx="3429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825" b="1" i="0">
                <a:solidFill>
                  <a:srgbClr val="71817B"/>
                </a:solidFill>
                <a:latin typeface="Aptos"/>
                <a:ea typeface="Aptos"/>
                <a:cs typeface="Aptos"/>
              </a:defRPr>
            </a:pPr>
            <a:r>
              <a:rPr sz="825" b="1" i="0">
                <a:solidFill>
                  <a:srgbClr val="71817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2875195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295</Words>
  <Application>Microsoft Office PowerPoint</Application>
  <DocSecurity>0</DocSecurity>
  <PresentationFormat>Widescreen</PresentationFormat>
  <Paragraphs>66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Calibri</vt:lpstr>
      <vt:lpstr>ChatGPT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Zhang, Haoming</cp:lastModifiedBy>
  <cp:revision>1</cp:revision>
  <dcterms:created xsi:type="dcterms:W3CDTF">2026-06-15T21:05:10Z</dcterms:created>
  <dcterms:modified xsi:type="dcterms:W3CDTF">2026-06-15T21:07:23Z</dcterms:modified>
</cp:coreProperties>
</file>