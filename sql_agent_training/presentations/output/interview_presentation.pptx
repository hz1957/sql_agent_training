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interview transcript.txt (lines 1-11): platform background, why the Agent layer was added.</a:t>
            </a:r>
          </a:p>
          <a:p>
            <a:r>
              <a:t>template.pptx: visual system (colors/fonts) only -- illustration content fully rebuilt to show the NL prompt -&gt; JSON DAG -&gt; canvas data flow accurately (fixed arrow direction + non-cyclic branching DAG per user feedback).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interview transcript.txt (lines 7-11, 100-114): opencode context layer; LangGraph planner/scheduler/worker/reducer loop and its retry/replan escalation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interview transcript.txt (lines 12, 15-20, 22): two-layer LLM-as-Judge design (outcome + diagnosis) and reported precision/recall/F1/macro-F1 and the ~80% SQL-node error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interview transcript.txt (lines 26-41): SQL-node bottleneck (~70-80% of failures) and the three-step SFT narrative -- Spider+gold SQL data construction, trajectory:gold supervision ratio experiment (2:1 adopted), and lr/LoRA-rank grid search (lr=5e-5, r=32, alpha=64, 80% test-set accuracy). All figures on this slide are sourced solely from the transcript per user request (index.html's more granular figures are intentionally not used here).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interview transcript.txt (lines 42-67): GRPO reward design and chain/tree rollout narrative.</a:t>
            </a:r>
          </a:p>
          <a:p>
            <a:r>
              <a:t>index.html (GRPO tab): S1-S4 definitions, KL/epoch and temperature/gamma sweeps, rollout-scale comparison, and the checker-swap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interview transcript.txt (lines 69-70) only -- this Planner/DAG-distillation pipeline is not covered in index.html (verified by full-document read); all figures here come solely from the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interview transcript.txt (lines 74-96): GRPO training-efficiency optimization narrative.</a:t>
            </a:r>
          </a:p>
          <a:p>
            <a:r>
              <a:t>index.html (Performance tab): weight-sync/policy-update/rollout timings and the rollout n=24 OOM / empty_cache()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685800" y="342900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PROJECT STORY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85800"/>
            <a:ext cx="5715000" cy="86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自然语言数据处理 Agent</a:t>
            </a:r>
          </a:p>
          <a:p>
            <a:pPr algn="l"/>
            <a:r>
              <a:rPr sz="29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从对话到可执行 DAG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1595120"/>
            <a:ext cx="5715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在可视化拖拽数据处理平台上，引入 Agent 层，让用户用自然语言构建与修改可执行 JSON DAG。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553200"/>
            <a:ext cx="7239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Source: interview transcript.txt; index.html; template.pptx</a:t>
            </a:r>
          </a:p>
        </p:txBody>
      </p:sp>
      <p:sp>
        <p:nvSpPr>
          <p:cNvPr id="6" name="slide-num"/>
          <p:cNvSpPr txBox="1"/>
          <p:nvPr/>
        </p:nvSpPr>
        <p:spPr>
          <a:xfrm>
            <a:off x="11163300" y="6496050"/>
            <a:ext cx="342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1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why-card"/>
          <p:cNvSpPr/>
          <p:nvPr/>
        </p:nvSpPr>
        <p:spPr>
          <a:xfrm>
            <a:off x="685800" y="3238500"/>
            <a:ext cx="4762500" cy="26479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"/>
          <p:cNvSpPr txBox="1"/>
          <p:nvPr/>
        </p:nvSpPr>
        <p:spPr>
          <a:xfrm>
            <a:off x="952500" y="3486150"/>
            <a:ext cx="2476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为什么值得讲</a:t>
            </a:r>
          </a:p>
        </p:txBody>
      </p:sp>
      <p:sp>
        <p:nvSpPr>
          <p:cNvPr id="9" name="oval"/>
          <p:cNvSpPr/>
          <p:nvPr/>
        </p:nvSpPr>
        <p:spPr>
          <a:xfrm>
            <a:off x="971550" y="3943350"/>
            <a:ext cx="66675" cy="66675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"/>
          <p:cNvSpPr txBox="1"/>
          <p:nvPr/>
        </p:nvSpPr>
        <p:spPr>
          <a:xfrm>
            <a:off x="1123950" y="3867150"/>
            <a:ext cx="390525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用户不再需要理解选择列、UNION、JOIN、SQL 脚本等节点参数，只用自然语言描述目标。</a:t>
            </a:r>
          </a:p>
        </p:txBody>
      </p:sp>
      <p:sp>
        <p:nvSpPr>
          <p:cNvPr id="11" name="oval"/>
          <p:cNvSpPr/>
          <p:nvPr/>
        </p:nvSpPr>
        <p:spPr>
          <a:xfrm>
            <a:off x="971550" y="4572000"/>
            <a:ext cx="66675" cy="66675"/>
          </a:xfrm>
          <a:prstGeom prst="ellipse">
            <a:avLst/>
          </a:prstGeom>
          <a:solidFill>
            <a:srgbClr val="2A9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"/>
          <p:cNvSpPr txBox="1"/>
          <p:nvPr/>
        </p:nvSpPr>
        <p:spPr>
          <a:xfrm>
            <a:off x="1123950" y="4495800"/>
            <a:ext cx="390525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Agent 把需求拆成 planner、scheduler、worker、reducer 的闭环，自动生成/修改 JSON DAG。</a:t>
            </a:r>
          </a:p>
        </p:txBody>
      </p:sp>
      <p:sp>
        <p:nvSpPr>
          <p:cNvPr id="13" name="oval"/>
          <p:cNvSpPr/>
          <p:nvPr/>
        </p:nvSpPr>
        <p:spPr>
          <a:xfrm>
            <a:off x="971550" y="5200650"/>
            <a:ext cx="66675" cy="66675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"/>
          <p:cNvSpPr txBox="1"/>
          <p:nvPr/>
        </p:nvSpPr>
        <p:spPr>
          <a:xfrm>
            <a:off x="1123950" y="5124450"/>
            <a:ext cx="390525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评测、SFT、GRPO 和性能优化形成持续迭代的数据飞轮，把项目做成一个完整闭环。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5550" y="552450"/>
            <a:ext cx="300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从需求到画布：一次生成，驱动画布更新</a:t>
            </a:r>
          </a:p>
        </p:txBody>
      </p:sp>
      <p:sp>
        <p:nvSpPr>
          <p:cNvPr id="16" name="prompt-box"/>
          <p:cNvSpPr/>
          <p:nvPr/>
        </p:nvSpPr>
        <p:spPr>
          <a:xfrm>
            <a:off x="7315200" y="952500"/>
            <a:ext cx="2971800" cy="542925"/>
          </a:xfrm>
          <a:prstGeom prst="roundRect">
            <a:avLst>
              <a:gd name="adj" fmla="val 16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"生成或修改数据管道"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096000" y="1541145"/>
            <a:ext cx="5410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自然语言需求</a:t>
            </a:r>
          </a:p>
        </p:txBody>
      </p:sp>
      <p:cxnSp>
        <p:nvCxnSpPr>
          <p:cNvPr id="18" name="arrow-1"/>
          <p:cNvCxnSpPr/>
          <p:nvPr/>
        </p:nvCxnSpPr>
        <p:spPr>
          <a:xfrm>
            <a:off x="8801100" y="1771170"/>
            <a:ext cx="0" cy="152400"/>
          </a:xfrm>
          <a:prstGeom prst="line">
            <a:avLst/>
          </a:prstGeom>
          <a:ln w="19050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ag-card"/>
          <p:cNvSpPr/>
          <p:nvPr/>
        </p:nvSpPr>
        <p:spPr>
          <a:xfrm>
            <a:off x="6096000" y="1969290"/>
            <a:ext cx="5410200" cy="19240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ill"/>
          <p:cNvSpPr/>
          <p:nvPr/>
        </p:nvSpPr>
        <p:spPr>
          <a:xfrm>
            <a:off x="6286500" y="2121690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可执行 JSON DAG</a:t>
            </a:r>
          </a:p>
        </p:txBody>
      </p:sp>
      <p:cxnSp>
        <p:nvCxnSpPr>
          <p:cNvPr id="21" name="e-start-select"/>
          <p:cNvCxnSpPr/>
          <p:nvPr/>
        </p:nvCxnSpPr>
        <p:spPr>
          <a:xfrm>
            <a:off x="6505537" y="3061315"/>
            <a:ext cx="261938" cy="0"/>
          </a:xfrm>
          <a:prstGeom prst="line">
            <a:avLst/>
          </a:prstGeom>
          <a:ln w="15875">
            <a:solidFill>
              <a:srgbClr val="8FA7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-select-join"/>
          <p:cNvCxnSpPr/>
          <p:nvPr/>
        </p:nvCxnSpPr>
        <p:spPr>
          <a:xfrm flipV="1">
            <a:off x="7605675" y="2566015"/>
            <a:ext cx="219075" cy="495300"/>
          </a:xfrm>
          <a:prstGeom prst="line">
            <a:avLst/>
          </a:prstGeom>
          <a:ln w="15875">
            <a:solidFill>
              <a:srgbClr val="8FA7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-select-union"/>
          <p:cNvCxnSpPr/>
          <p:nvPr/>
        </p:nvCxnSpPr>
        <p:spPr>
          <a:xfrm>
            <a:off x="7605675" y="3061315"/>
            <a:ext cx="219075" cy="495300"/>
          </a:xfrm>
          <a:prstGeom prst="line">
            <a:avLst/>
          </a:prstGeom>
          <a:ln w="15875">
            <a:solidFill>
              <a:srgbClr val="8FA7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-join-sql"/>
          <p:cNvCxnSpPr/>
          <p:nvPr/>
        </p:nvCxnSpPr>
        <p:spPr>
          <a:xfrm>
            <a:off x="8662950" y="2566015"/>
            <a:ext cx="219075" cy="495300"/>
          </a:xfrm>
          <a:prstGeom prst="line">
            <a:avLst/>
          </a:prstGeom>
          <a:ln w="15875">
            <a:solidFill>
              <a:srgbClr val="8FA7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-union-sql"/>
          <p:cNvCxnSpPr/>
          <p:nvPr/>
        </p:nvCxnSpPr>
        <p:spPr>
          <a:xfrm flipV="1">
            <a:off x="8662950" y="3061315"/>
            <a:ext cx="219075" cy="495300"/>
          </a:xfrm>
          <a:prstGeom prst="line">
            <a:avLst/>
          </a:prstGeom>
          <a:ln w="15875">
            <a:solidFill>
              <a:srgbClr val="8FA7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-sql-end"/>
          <p:cNvCxnSpPr/>
          <p:nvPr/>
        </p:nvCxnSpPr>
        <p:spPr>
          <a:xfrm>
            <a:off x="9720225" y="3061315"/>
            <a:ext cx="328612" cy="0"/>
          </a:xfrm>
          <a:prstGeom prst="line">
            <a:avLst/>
          </a:prstGeom>
          <a:ln w="15875">
            <a:solidFill>
              <a:srgbClr val="8FA7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art-node"/>
          <p:cNvSpPr/>
          <p:nvPr/>
        </p:nvSpPr>
        <p:spPr>
          <a:xfrm>
            <a:off x="6396000" y="2951777"/>
            <a:ext cx="219075" cy="219075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node"/>
          <p:cNvSpPr/>
          <p:nvPr/>
        </p:nvSpPr>
        <p:spPr>
          <a:xfrm>
            <a:off x="6767475" y="2875577"/>
            <a:ext cx="838200" cy="371475"/>
          </a:xfrm>
          <a:prstGeom prst="roundRect">
            <a:avLst>
              <a:gd name="adj" fmla="val 22000"/>
            </a:avLst>
          </a:prstGeom>
          <a:solidFill>
            <a:srgbClr val="DCEFE2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950" b="1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选择列</a:t>
            </a:r>
          </a:p>
        </p:txBody>
      </p:sp>
      <p:sp>
        <p:nvSpPr>
          <p:cNvPr id="29" name="node"/>
          <p:cNvSpPr/>
          <p:nvPr/>
        </p:nvSpPr>
        <p:spPr>
          <a:xfrm>
            <a:off x="7824750" y="2380277"/>
            <a:ext cx="838200" cy="371475"/>
          </a:xfrm>
          <a:prstGeom prst="roundRect">
            <a:avLst>
              <a:gd name="adj" fmla="val 22000"/>
            </a:avLst>
          </a:prstGeom>
          <a:solidFill>
            <a:srgbClr val="DCEEF7"/>
          </a:solidFill>
          <a:ln w="12700">
            <a:solidFill>
              <a:srgbClr val="2A9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950" b="1">
                <a:solidFill>
                  <a:srgbClr val="175E7A"/>
                </a:solidFill>
                <a:latin typeface="Microsoft YaHei"/>
                <a:ea typeface="Microsoft YaHei"/>
                <a:cs typeface="Microsoft YaHei"/>
              </a:rPr>
              <a:t>JOIN</a:t>
            </a:r>
          </a:p>
        </p:txBody>
      </p:sp>
      <p:sp>
        <p:nvSpPr>
          <p:cNvPr id="30" name="node"/>
          <p:cNvSpPr/>
          <p:nvPr/>
        </p:nvSpPr>
        <p:spPr>
          <a:xfrm>
            <a:off x="7824750" y="3370877"/>
            <a:ext cx="838200" cy="371475"/>
          </a:xfrm>
          <a:prstGeom prst="roundRect">
            <a:avLst>
              <a:gd name="adj" fmla="val 22000"/>
            </a:avLst>
          </a:prstGeom>
          <a:solidFill>
            <a:srgbClr val="DCEEF7"/>
          </a:solidFill>
          <a:ln w="12700">
            <a:solidFill>
              <a:srgbClr val="2A9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950" b="1">
                <a:solidFill>
                  <a:srgbClr val="175E7A"/>
                </a:solidFill>
                <a:latin typeface="Microsoft YaHei"/>
                <a:ea typeface="Microsoft YaHei"/>
                <a:cs typeface="Microsoft YaHei"/>
              </a:rPr>
              <a:t>UNION</a:t>
            </a:r>
          </a:p>
        </p:txBody>
      </p:sp>
      <p:sp>
        <p:nvSpPr>
          <p:cNvPr id="31" name="node"/>
          <p:cNvSpPr/>
          <p:nvPr/>
        </p:nvSpPr>
        <p:spPr>
          <a:xfrm>
            <a:off x="8882025" y="2875577"/>
            <a:ext cx="838200" cy="371475"/>
          </a:xfrm>
          <a:prstGeom prst="roundRect">
            <a:avLst>
              <a:gd name="adj" fmla="val 22000"/>
            </a:avLst>
          </a:prstGeom>
          <a:solidFill>
            <a:srgbClr val="203235"/>
          </a:solidFill>
          <a:ln w="12700">
            <a:solidFill>
              <a:srgbClr val="20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SQL 脚本</a:t>
            </a:r>
          </a:p>
        </p:txBody>
      </p:sp>
      <p:sp>
        <p:nvSpPr>
          <p:cNvPr id="32" name="end-node"/>
          <p:cNvSpPr/>
          <p:nvPr/>
        </p:nvSpPr>
        <p:spPr>
          <a:xfrm>
            <a:off x="9939300" y="2951777"/>
            <a:ext cx="219075" cy="219075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arrow-2"/>
          <p:cNvCxnSpPr/>
          <p:nvPr/>
        </p:nvCxnSpPr>
        <p:spPr>
          <a:xfrm>
            <a:off x="8801100" y="3939060"/>
            <a:ext cx="0" cy="152400"/>
          </a:xfrm>
          <a:prstGeom prst="line">
            <a:avLst/>
          </a:prstGeom>
          <a:ln w="19050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"/>
          <p:cNvSpPr txBox="1"/>
          <p:nvPr/>
        </p:nvSpPr>
        <p:spPr>
          <a:xfrm>
            <a:off x="6096000" y="3924060"/>
            <a:ext cx="5410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JSON 传输并写入画布</a:t>
            </a:r>
          </a:p>
        </p:txBody>
      </p:sp>
      <p:sp>
        <p:nvSpPr>
          <p:cNvPr id="35" name="canvas-card"/>
          <p:cNvSpPr/>
          <p:nvPr/>
        </p:nvSpPr>
        <p:spPr>
          <a:xfrm>
            <a:off x="6096000" y="4137180"/>
            <a:ext cx="5410200" cy="969645"/>
          </a:xfrm>
          <a:prstGeom prst="roundRect">
            <a:avLst>
              <a:gd name="adj" fmla="val 9000"/>
            </a:avLst>
          </a:prstGeom>
          <a:solidFill>
            <a:srgbClr val="EFF3ED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dot"/>
          <p:cNvSpPr/>
          <p:nvPr/>
        </p:nvSpPr>
        <p:spPr>
          <a:xfrm>
            <a:off x="634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ot"/>
          <p:cNvSpPr/>
          <p:nvPr/>
        </p:nvSpPr>
        <p:spPr>
          <a:xfrm>
            <a:off x="634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ot"/>
          <p:cNvSpPr/>
          <p:nvPr/>
        </p:nvSpPr>
        <p:spPr>
          <a:xfrm>
            <a:off x="634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ot"/>
          <p:cNvSpPr/>
          <p:nvPr/>
        </p:nvSpPr>
        <p:spPr>
          <a:xfrm>
            <a:off x="634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dot"/>
          <p:cNvSpPr/>
          <p:nvPr/>
        </p:nvSpPr>
        <p:spPr>
          <a:xfrm>
            <a:off x="659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dot"/>
          <p:cNvSpPr/>
          <p:nvPr/>
        </p:nvSpPr>
        <p:spPr>
          <a:xfrm>
            <a:off x="659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dot"/>
          <p:cNvSpPr/>
          <p:nvPr/>
        </p:nvSpPr>
        <p:spPr>
          <a:xfrm>
            <a:off x="659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dot"/>
          <p:cNvSpPr/>
          <p:nvPr/>
        </p:nvSpPr>
        <p:spPr>
          <a:xfrm>
            <a:off x="659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ot"/>
          <p:cNvSpPr/>
          <p:nvPr/>
        </p:nvSpPr>
        <p:spPr>
          <a:xfrm>
            <a:off x="684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dot"/>
          <p:cNvSpPr/>
          <p:nvPr/>
        </p:nvSpPr>
        <p:spPr>
          <a:xfrm>
            <a:off x="684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dot"/>
          <p:cNvSpPr/>
          <p:nvPr/>
        </p:nvSpPr>
        <p:spPr>
          <a:xfrm>
            <a:off x="684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dot"/>
          <p:cNvSpPr/>
          <p:nvPr/>
        </p:nvSpPr>
        <p:spPr>
          <a:xfrm>
            <a:off x="684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dot"/>
          <p:cNvSpPr/>
          <p:nvPr/>
        </p:nvSpPr>
        <p:spPr>
          <a:xfrm>
            <a:off x="709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dot"/>
          <p:cNvSpPr/>
          <p:nvPr/>
        </p:nvSpPr>
        <p:spPr>
          <a:xfrm>
            <a:off x="709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dot"/>
          <p:cNvSpPr/>
          <p:nvPr/>
        </p:nvSpPr>
        <p:spPr>
          <a:xfrm>
            <a:off x="709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dot"/>
          <p:cNvSpPr/>
          <p:nvPr/>
        </p:nvSpPr>
        <p:spPr>
          <a:xfrm>
            <a:off x="709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dot"/>
          <p:cNvSpPr/>
          <p:nvPr/>
        </p:nvSpPr>
        <p:spPr>
          <a:xfrm>
            <a:off x="734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dot"/>
          <p:cNvSpPr/>
          <p:nvPr/>
        </p:nvSpPr>
        <p:spPr>
          <a:xfrm>
            <a:off x="734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dot"/>
          <p:cNvSpPr/>
          <p:nvPr/>
        </p:nvSpPr>
        <p:spPr>
          <a:xfrm>
            <a:off x="734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dot"/>
          <p:cNvSpPr/>
          <p:nvPr/>
        </p:nvSpPr>
        <p:spPr>
          <a:xfrm>
            <a:off x="734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dot"/>
          <p:cNvSpPr/>
          <p:nvPr/>
        </p:nvSpPr>
        <p:spPr>
          <a:xfrm>
            <a:off x="759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dot"/>
          <p:cNvSpPr/>
          <p:nvPr/>
        </p:nvSpPr>
        <p:spPr>
          <a:xfrm>
            <a:off x="759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dot"/>
          <p:cNvSpPr/>
          <p:nvPr/>
        </p:nvSpPr>
        <p:spPr>
          <a:xfrm>
            <a:off x="759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dot"/>
          <p:cNvSpPr/>
          <p:nvPr/>
        </p:nvSpPr>
        <p:spPr>
          <a:xfrm>
            <a:off x="759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dot"/>
          <p:cNvSpPr/>
          <p:nvPr/>
        </p:nvSpPr>
        <p:spPr>
          <a:xfrm>
            <a:off x="784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dot"/>
          <p:cNvSpPr/>
          <p:nvPr/>
        </p:nvSpPr>
        <p:spPr>
          <a:xfrm>
            <a:off x="784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dot"/>
          <p:cNvSpPr/>
          <p:nvPr/>
        </p:nvSpPr>
        <p:spPr>
          <a:xfrm>
            <a:off x="784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dot"/>
          <p:cNvSpPr/>
          <p:nvPr/>
        </p:nvSpPr>
        <p:spPr>
          <a:xfrm>
            <a:off x="784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dot"/>
          <p:cNvSpPr/>
          <p:nvPr/>
        </p:nvSpPr>
        <p:spPr>
          <a:xfrm>
            <a:off x="809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dot"/>
          <p:cNvSpPr/>
          <p:nvPr/>
        </p:nvSpPr>
        <p:spPr>
          <a:xfrm>
            <a:off x="809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dot"/>
          <p:cNvSpPr/>
          <p:nvPr/>
        </p:nvSpPr>
        <p:spPr>
          <a:xfrm>
            <a:off x="809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dot"/>
          <p:cNvSpPr/>
          <p:nvPr/>
        </p:nvSpPr>
        <p:spPr>
          <a:xfrm>
            <a:off x="809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dot"/>
          <p:cNvSpPr/>
          <p:nvPr/>
        </p:nvSpPr>
        <p:spPr>
          <a:xfrm>
            <a:off x="834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dot"/>
          <p:cNvSpPr/>
          <p:nvPr/>
        </p:nvSpPr>
        <p:spPr>
          <a:xfrm>
            <a:off x="834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dot"/>
          <p:cNvSpPr/>
          <p:nvPr/>
        </p:nvSpPr>
        <p:spPr>
          <a:xfrm>
            <a:off x="834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dot"/>
          <p:cNvSpPr/>
          <p:nvPr/>
        </p:nvSpPr>
        <p:spPr>
          <a:xfrm>
            <a:off x="834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dot"/>
          <p:cNvSpPr/>
          <p:nvPr/>
        </p:nvSpPr>
        <p:spPr>
          <a:xfrm>
            <a:off x="859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dot"/>
          <p:cNvSpPr/>
          <p:nvPr/>
        </p:nvSpPr>
        <p:spPr>
          <a:xfrm>
            <a:off x="859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dot"/>
          <p:cNvSpPr/>
          <p:nvPr/>
        </p:nvSpPr>
        <p:spPr>
          <a:xfrm>
            <a:off x="859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dot"/>
          <p:cNvSpPr/>
          <p:nvPr/>
        </p:nvSpPr>
        <p:spPr>
          <a:xfrm>
            <a:off x="859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dot"/>
          <p:cNvSpPr/>
          <p:nvPr/>
        </p:nvSpPr>
        <p:spPr>
          <a:xfrm>
            <a:off x="884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dot"/>
          <p:cNvSpPr/>
          <p:nvPr/>
        </p:nvSpPr>
        <p:spPr>
          <a:xfrm>
            <a:off x="884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dot"/>
          <p:cNvSpPr/>
          <p:nvPr/>
        </p:nvSpPr>
        <p:spPr>
          <a:xfrm>
            <a:off x="884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dot"/>
          <p:cNvSpPr/>
          <p:nvPr/>
        </p:nvSpPr>
        <p:spPr>
          <a:xfrm>
            <a:off x="884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dot"/>
          <p:cNvSpPr/>
          <p:nvPr/>
        </p:nvSpPr>
        <p:spPr>
          <a:xfrm>
            <a:off x="909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dot"/>
          <p:cNvSpPr/>
          <p:nvPr/>
        </p:nvSpPr>
        <p:spPr>
          <a:xfrm>
            <a:off x="909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dot"/>
          <p:cNvSpPr/>
          <p:nvPr/>
        </p:nvSpPr>
        <p:spPr>
          <a:xfrm>
            <a:off x="909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dot"/>
          <p:cNvSpPr/>
          <p:nvPr/>
        </p:nvSpPr>
        <p:spPr>
          <a:xfrm>
            <a:off x="909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dot"/>
          <p:cNvSpPr/>
          <p:nvPr/>
        </p:nvSpPr>
        <p:spPr>
          <a:xfrm>
            <a:off x="934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dot"/>
          <p:cNvSpPr/>
          <p:nvPr/>
        </p:nvSpPr>
        <p:spPr>
          <a:xfrm>
            <a:off x="934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dot"/>
          <p:cNvSpPr/>
          <p:nvPr/>
        </p:nvSpPr>
        <p:spPr>
          <a:xfrm>
            <a:off x="934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dot"/>
          <p:cNvSpPr/>
          <p:nvPr/>
        </p:nvSpPr>
        <p:spPr>
          <a:xfrm>
            <a:off x="934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dot"/>
          <p:cNvSpPr/>
          <p:nvPr/>
        </p:nvSpPr>
        <p:spPr>
          <a:xfrm>
            <a:off x="959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dot"/>
          <p:cNvSpPr/>
          <p:nvPr/>
        </p:nvSpPr>
        <p:spPr>
          <a:xfrm>
            <a:off x="959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dot"/>
          <p:cNvSpPr/>
          <p:nvPr/>
        </p:nvSpPr>
        <p:spPr>
          <a:xfrm>
            <a:off x="959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dot"/>
          <p:cNvSpPr/>
          <p:nvPr/>
        </p:nvSpPr>
        <p:spPr>
          <a:xfrm>
            <a:off x="959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dot"/>
          <p:cNvSpPr/>
          <p:nvPr/>
        </p:nvSpPr>
        <p:spPr>
          <a:xfrm>
            <a:off x="984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dot"/>
          <p:cNvSpPr/>
          <p:nvPr/>
        </p:nvSpPr>
        <p:spPr>
          <a:xfrm>
            <a:off x="984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dot"/>
          <p:cNvSpPr/>
          <p:nvPr/>
        </p:nvSpPr>
        <p:spPr>
          <a:xfrm>
            <a:off x="984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dot"/>
          <p:cNvSpPr/>
          <p:nvPr/>
        </p:nvSpPr>
        <p:spPr>
          <a:xfrm>
            <a:off x="984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dot"/>
          <p:cNvSpPr/>
          <p:nvPr/>
        </p:nvSpPr>
        <p:spPr>
          <a:xfrm>
            <a:off x="1009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dot"/>
          <p:cNvSpPr/>
          <p:nvPr/>
        </p:nvSpPr>
        <p:spPr>
          <a:xfrm>
            <a:off x="1009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dot"/>
          <p:cNvSpPr/>
          <p:nvPr/>
        </p:nvSpPr>
        <p:spPr>
          <a:xfrm>
            <a:off x="1009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dot"/>
          <p:cNvSpPr/>
          <p:nvPr/>
        </p:nvSpPr>
        <p:spPr>
          <a:xfrm>
            <a:off x="1009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dot"/>
          <p:cNvSpPr/>
          <p:nvPr/>
        </p:nvSpPr>
        <p:spPr>
          <a:xfrm>
            <a:off x="1034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dot"/>
          <p:cNvSpPr/>
          <p:nvPr/>
        </p:nvSpPr>
        <p:spPr>
          <a:xfrm>
            <a:off x="1034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dot"/>
          <p:cNvSpPr/>
          <p:nvPr/>
        </p:nvSpPr>
        <p:spPr>
          <a:xfrm>
            <a:off x="1034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dot"/>
          <p:cNvSpPr/>
          <p:nvPr/>
        </p:nvSpPr>
        <p:spPr>
          <a:xfrm>
            <a:off x="1034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dot"/>
          <p:cNvSpPr/>
          <p:nvPr/>
        </p:nvSpPr>
        <p:spPr>
          <a:xfrm>
            <a:off x="1059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dot"/>
          <p:cNvSpPr/>
          <p:nvPr/>
        </p:nvSpPr>
        <p:spPr>
          <a:xfrm>
            <a:off x="1059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dot"/>
          <p:cNvSpPr/>
          <p:nvPr/>
        </p:nvSpPr>
        <p:spPr>
          <a:xfrm>
            <a:off x="1059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dot"/>
          <p:cNvSpPr/>
          <p:nvPr/>
        </p:nvSpPr>
        <p:spPr>
          <a:xfrm>
            <a:off x="1059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dot"/>
          <p:cNvSpPr/>
          <p:nvPr/>
        </p:nvSpPr>
        <p:spPr>
          <a:xfrm>
            <a:off x="1084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dot"/>
          <p:cNvSpPr/>
          <p:nvPr/>
        </p:nvSpPr>
        <p:spPr>
          <a:xfrm>
            <a:off x="1084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dot"/>
          <p:cNvSpPr/>
          <p:nvPr/>
        </p:nvSpPr>
        <p:spPr>
          <a:xfrm>
            <a:off x="1084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dot"/>
          <p:cNvSpPr/>
          <p:nvPr/>
        </p:nvSpPr>
        <p:spPr>
          <a:xfrm>
            <a:off x="1084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dot"/>
          <p:cNvSpPr/>
          <p:nvPr/>
        </p:nvSpPr>
        <p:spPr>
          <a:xfrm>
            <a:off x="1109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dot"/>
          <p:cNvSpPr/>
          <p:nvPr/>
        </p:nvSpPr>
        <p:spPr>
          <a:xfrm>
            <a:off x="1109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dot"/>
          <p:cNvSpPr/>
          <p:nvPr/>
        </p:nvSpPr>
        <p:spPr>
          <a:xfrm>
            <a:off x="1109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dot"/>
          <p:cNvSpPr/>
          <p:nvPr/>
        </p:nvSpPr>
        <p:spPr>
          <a:xfrm>
            <a:off x="1109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dot"/>
          <p:cNvSpPr/>
          <p:nvPr/>
        </p:nvSpPr>
        <p:spPr>
          <a:xfrm>
            <a:off x="11346000" y="42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dot"/>
          <p:cNvSpPr/>
          <p:nvPr/>
        </p:nvSpPr>
        <p:spPr>
          <a:xfrm>
            <a:off x="11346000" y="44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dot"/>
          <p:cNvSpPr/>
          <p:nvPr/>
        </p:nvSpPr>
        <p:spPr>
          <a:xfrm>
            <a:off x="11346000" y="46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dot"/>
          <p:cNvSpPr/>
          <p:nvPr/>
        </p:nvSpPr>
        <p:spPr>
          <a:xfrm>
            <a:off x="11346000" y="4867180"/>
            <a:ext cx="13716" cy="13716"/>
          </a:xfrm>
          <a:prstGeom prst="ellipse">
            <a:avLst/>
          </a:prstGeom>
          <a:solidFill>
            <a:srgbClr val="D7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node"/>
          <p:cNvSpPr/>
          <p:nvPr/>
        </p:nvSpPr>
        <p:spPr>
          <a:xfrm>
            <a:off x="7196137" y="4464840"/>
            <a:ext cx="638175" cy="31432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850" b="1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选择列</a:t>
            </a:r>
          </a:p>
        </p:txBody>
      </p:sp>
      <p:cxnSp>
        <p:nvCxnSpPr>
          <p:cNvPr id="121" name="c-e"/>
          <p:cNvCxnSpPr/>
          <p:nvPr/>
        </p:nvCxnSpPr>
        <p:spPr>
          <a:xfrm>
            <a:off x="7834312" y="4622002"/>
            <a:ext cx="219075" cy="0"/>
          </a:xfrm>
          <a:prstGeom prst="line">
            <a:avLst/>
          </a:prstGeom>
          <a:ln w="12700">
            <a:solidFill>
              <a:srgbClr val="B7C6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node"/>
          <p:cNvSpPr/>
          <p:nvPr/>
        </p:nvSpPr>
        <p:spPr>
          <a:xfrm>
            <a:off x="8053387" y="4464840"/>
            <a:ext cx="638175" cy="31432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A9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850" b="1">
                <a:solidFill>
                  <a:srgbClr val="175E7A"/>
                </a:solidFill>
                <a:latin typeface="Microsoft YaHei"/>
                <a:ea typeface="Microsoft YaHei"/>
                <a:cs typeface="Microsoft YaHei"/>
              </a:rPr>
              <a:t>UNION</a:t>
            </a:r>
          </a:p>
        </p:txBody>
      </p:sp>
      <p:cxnSp>
        <p:nvCxnSpPr>
          <p:cNvPr id="123" name="c-e"/>
          <p:cNvCxnSpPr/>
          <p:nvPr/>
        </p:nvCxnSpPr>
        <p:spPr>
          <a:xfrm>
            <a:off x="8691562" y="4622002"/>
            <a:ext cx="219075" cy="0"/>
          </a:xfrm>
          <a:prstGeom prst="line">
            <a:avLst/>
          </a:prstGeom>
          <a:ln w="12700">
            <a:solidFill>
              <a:srgbClr val="B7C6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node"/>
          <p:cNvSpPr/>
          <p:nvPr/>
        </p:nvSpPr>
        <p:spPr>
          <a:xfrm>
            <a:off x="8910637" y="4464840"/>
            <a:ext cx="638175" cy="31432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A9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850" b="1">
                <a:solidFill>
                  <a:srgbClr val="175E7A"/>
                </a:solidFill>
                <a:latin typeface="Microsoft YaHei"/>
                <a:ea typeface="Microsoft YaHei"/>
                <a:cs typeface="Microsoft YaHei"/>
              </a:rPr>
              <a:t>JOIN</a:t>
            </a:r>
          </a:p>
        </p:txBody>
      </p:sp>
      <p:cxnSp>
        <p:nvCxnSpPr>
          <p:cNvPr id="125" name="c-e"/>
          <p:cNvCxnSpPr/>
          <p:nvPr/>
        </p:nvCxnSpPr>
        <p:spPr>
          <a:xfrm>
            <a:off x="9548812" y="4622002"/>
            <a:ext cx="219075" cy="0"/>
          </a:xfrm>
          <a:prstGeom prst="line">
            <a:avLst/>
          </a:prstGeom>
          <a:ln w="12700">
            <a:solidFill>
              <a:srgbClr val="B7C6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node"/>
          <p:cNvSpPr/>
          <p:nvPr/>
        </p:nvSpPr>
        <p:spPr>
          <a:xfrm>
            <a:off x="9767887" y="4464840"/>
            <a:ext cx="638175" cy="314325"/>
          </a:xfrm>
          <a:prstGeom prst="roundRect">
            <a:avLst>
              <a:gd name="adj" fmla="val 18000"/>
            </a:avLst>
          </a:prstGeom>
          <a:solidFill>
            <a:srgbClr val="203235"/>
          </a:solidFill>
          <a:ln w="12700">
            <a:solidFill>
              <a:srgbClr val="20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SQL 脚本</a:t>
            </a:r>
          </a:p>
        </p:txBody>
      </p:sp>
      <p:sp>
        <p:nvSpPr>
          <p:cNvPr id="127" name="text"/>
          <p:cNvSpPr txBox="1"/>
          <p:nvPr/>
        </p:nvSpPr>
        <p:spPr>
          <a:xfrm>
            <a:off x="6096000" y="5152545"/>
            <a:ext cx="5410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平台画布 / 表结构（由 JSON DAG 驱动生成）</a:t>
            </a:r>
          </a:p>
        </p:txBody>
      </p:sp>
      <p:sp>
        <p:nvSpPr>
          <p:cNvPr id="128" name="nav-0"/>
          <p:cNvSpPr/>
          <p:nvPr/>
        </p:nvSpPr>
        <p:spPr>
          <a:xfrm>
            <a:off x="685800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01 </a:t>
            </a: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29" name="nav-1"/>
          <p:cNvSpPr/>
          <p:nvPr/>
        </p:nvSpPr>
        <p:spPr>
          <a:xfrm>
            <a:off x="2234837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130" name="nav-2"/>
          <p:cNvSpPr/>
          <p:nvPr/>
        </p:nvSpPr>
        <p:spPr>
          <a:xfrm>
            <a:off x="3783874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03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31" name="nav-3"/>
          <p:cNvSpPr/>
          <p:nvPr/>
        </p:nvSpPr>
        <p:spPr>
          <a:xfrm>
            <a:off x="5332911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04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SFT</a:t>
            </a:r>
          </a:p>
        </p:txBody>
      </p:sp>
      <p:sp>
        <p:nvSpPr>
          <p:cNvPr id="132" name="nav-4"/>
          <p:cNvSpPr/>
          <p:nvPr/>
        </p:nvSpPr>
        <p:spPr>
          <a:xfrm>
            <a:off x="6881948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05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GRPO</a:t>
            </a:r>
          </a:p>
        </p:txBody>
      </p:sp>
      <p:sp>
        <p:nvSpPr>
          <p:cNvPr id="133" name="nav-5"/>
          <p:cNvSpPr/>
          <p:nvPr/>
        </p:nvSpPr>
        <p:spPr>
          <a:xfrm>
            <a:off x="8430985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06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DAG蒸馏</a:t>
            </a:r>
          </a:p>
        </p:txBody>
      </p:sp>
      <p:sp>
        <p:nvSpPr>
          <p:cNvPr id="134" name="nav-6"/>
          <p:cNvSpPr/>
          <p:nvPr/>
        </p:nvSpPr>
        <p:spPr>
          <a:xfrm>
            <a:off x="9980022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07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685800" y="342900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SYSTEM DESIGN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85800"/>
            <a:ext cx="108204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Agent 架构：一个可控闭环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1163320"/>
            <a:ext cx="108204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opencode 负责上下文与平台 API 接入；LangGraph 子智能体把自然语言需求拆成 planner → scheduler → worker → reducer 的循环，失败可重试或升级重规划。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553200"/>
            <a:ext cx="7239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Source: interview transcript.txt; template.pptx</a:t>
            </a:r>
          </a:p>
        </p:txBody>
      </p:sp>
      <p:sp>
        <p:nvSpPr>
          <p:cNvPr id="6" name="slide-num"/>
          <p:cNvSpPr txBox="1"/>
          <p:nvPr/>
        </p:nvSpPr>
        <p:spPr>
          <a:xfrm>
            <a:off x="11163300" y="6496050"/>
            <a:ext cx="342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1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opencode-container"/>
          <p:cNvSpPr/>
          <p:nvPr/>
        </p:nvSpPr>
        <p:spPr>
          <a:xfrm>
            <a:off x="800100" y="1790700"/>
            <a:ext cx="10591800" cy="3428999"/>
          </a:xfrm>
          <a:prstGeom prst="roundRect">
            <a:avLst>
              <a:gd name="adj" fmla="val 3500"/>
            </a:avLst>
          </a:prstGeom>
          <a:solidFill>
            <a:srgbClr val="F0F3EE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ll"/>
          <p:cNvSpPr/>
          <p:nvPr/>
        </p:nvSpPr>
        <p:spPr>
          <a:xfrm>
            <a:off x="1019175" y="1638300"/>
            <a:ext cx="2247900" cy="304800"/>
          </a:xfrm>
          <a:prstGeom prst="roundRect">
            <a:avLst>
              <a:gd name="adj" fmla="val 50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opencode 接入层（上下文管理）</a:t>
            </a:r>
          </a:p>
        </p:txBody>
      </p:sp>
      <p:sp>
        <p:nvSpPr>
          <p:cNvPr id="9" name="pill"/>
          <p:cNvSpPr/>
          <p:nvPr/>
        </p:nvSpPr>
        <p:spPr>
          <a:xfrm>
            <a:off x="6410325" y="2009775"/>
            <a:ext cx="1104900" cy="219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管理上下文</a:t>
            </a:r>
          </a:p>
        </p:txBody>
      </p:sp>
      <p:sp>
        <p:nvSpPr>
          <p:cNvPr id="10" name="pill"/>
          <p:cNvSpPr/>
          <p:nvPr/>
        </p:nvSpPr>
        <p:spPr>
          <a:xfrm>
            <a:off x="7629525" y="2009775"/>
            <a:ext cx="1104900" cy="219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对话回滚</a:t>
            </a:r>
          </a:p>
        </p:txBody>
      </p:sp>
      <p:sp>
        <p:nvSpPr>
          <p:cNvPr id="11" name="pill"/>
          <p:cNvSpPr/>
          <p:nvPr/>
        </p:nvSpPr>
        <p:spPr>
          <a:xfrm>
            <a:off x="8848725" y="2009775"/>
            <a:ext cx="1104900" cy="219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远端状态同步</a:t>
            </a:r>
          </a:p>
        </p:txBody>
      </p:sp>
      <p:sp>
        <p:nvSpPr>
          <p:cNvPr id="12" name="pill"/>
          <p:cNvSpPr/>
          <p:nvPr/>
        </p:nvSpPr>
        <p:spPr>
          <a:xfrm>
            <a:off x="10067925" y="2009775"/>
            <a:ext cx="1104900" cy="219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取消任务</a:t>
            </a:r>
          </a:p>
        </p:txBody>
      </p:sp>
      <p:sp>
        <p:nvSpPr>
          <p:cNvPr id="13" name="node-Planner"/>
          <p:cNvSpPr/>
          <p:nvPr/>
        </p:nvSpPr>
        <p:spPr>
          <a:xfrm>
            <a:off x="1200150" y="2590800"/>
            <a:ext cx="2201466" cy="1400175"/>
          </a:xfrm>
          <a:prstGeom prst="roundRect">
            <a:avLst>
              <a:gd name="adj" fmla="val 6000"/>
            </a:avLst>
          </a:prstGeom>
          <a:solidFill>
            <a:srgbClr val="DCEFE2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adge-Planner"/>
          <p:cNvSpPr/>
          <p:nvPr/>
        </p:nvSpPr>
        <p:spPr>
          <a:xfrm>
            <a:off x="1352550" y="2743200"/>
            <a:ext cx="304800" cy="3048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352550" y="3086100"/>
            <a:ext cx="189666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352550" y="3390900"/>
            <a:ext cx="1896666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选表压缩上下文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判断构造 / 修改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生成 JSON DAG</a:t>
            </a:r>
          </a:p>
        </p:txBody>
      </p:sp>
      <p:sp>
        <p:nvSpPr>
          <p:cNvPr id="17" name="node-Scheduler"/>
          <p:cNvSpPr/>
          <p:nvPr/>
        </p:nvSpPr>
        <p:spPr>
          <a:xfrm>
            <a:off x="3730228" y="2590800"/>
            <a:ext cx="2201466" cy="1400175"/>
          </a:xfrm>
          <a:prstGeom prst="roundRect">
            <a:avLst>
              <a:gd name="adj" fmla="val 6000"/>
            </a:avLst>
          </a:prstGeom>
          <a:solidFill>
            <a:srgbClr val="DCEEF7"/>
          </a:solidFill>
          <a:ln w="12700">
            <a:solidFill>
              <a:srgbClr val="2A9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adge-Scheduler"/>
          <p:cNvSpPr/>
          <p:nvPr/>
        </p:nvSpPr>
        <p:spPr>
          <a:xfrm>
            <a:off x="3882628" y="2743200"/>
            <a:ext cx="304800" cy="304800"/>
          </a:xfrm>
          <a:prstGeom prst="ellipse">
            <a:avLst/>
          </a:prstGeom>
          <a:solidFill>
            <a:srgbClr val="2A9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3882628" y="3086100"/>
            <a:ext cx="189666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5E7A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3882628" y="3390900"/>
            <a:ext cx="1896666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按拓扑顺序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派发任务给 worker</a:t>
            </a:r>
          </a:p>
        </p:txBody>
      </p:sp>
      <p:sp>
        <p:nvSpPr>
          <p:cNvPr id="21" name="node-Worker"/>
          <p:cNvSpPr/>
          <p:nvPr/>
        </p:nvSpPr>
        <p:spPr>
          <a:xfrm>
            <a:off x="6260306" y="2590800"/>
            <a:ext cx="2201466" cy="1400175"/>
          </a:xfrm>
          <a:prstGeom prst="roundRect">
            <a:avLst>
              <a:gd name="adj" fmla="val 6000"/>
            </a:avLst>
          </a:prstGeom>
          <a:solidFill>
            <a:srgbClr val="FBE7E1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adge-Worker"/>
          <p:cNvSpPr/>
          <p:nvPr/>
        </p:nvSpPr>
        <p:spPr>
          <a:xfrm>
            <a:off x="6412706" y="2743200"/>
            <a:ext cx="304800" cy="3048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412706" y="3086100"/>
            <a:ext cx="189666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B84B38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412706" y="3390900"/>
            <a:ext cx="1896666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模型调用 · 工具校验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candidate schema 提交</a:t>
            </a:r>
          </a:p>
        </p:txBody>
      </p:sp>
      <p:sp>
        <p:nvSpPr>
          <p:cNvPr id="25" name="node-Reducer"/>
          <p:cNvSpPr/>
          <p:nvPr/>
        </p:nvSpPr>
        <p:spPr>
          <a:xfrm>
            <a:off x="8790384" y="2590800"/>
            <a:ext cx="2201466" cy="1400175"/>
          </a:xfrm>
          <a:prstGeom prst="roundRect">
            <a:avLst>
              <a:gd name="adj" fmla="val 6000"/>
            </a:avLst>
          </a:prstGeom>
          <a:solidFill>
            <a:srgbClr val="FCF0D2"/>
          </a:solidFill>
          <a:ln w="12700">
            <a:solidFill>
              <a:srgbClr val="C79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adge-Reducer"/>
          <p:cNvSpPr/>
          <p:nvPr/>
        </p:nvSpPr>
        <p:spPr>
          <a:xfrm>
            <a:off x="8942784" y="2743200"/>
            <a:ext cx="304800" cy="304800"/>
          </a:xfrm>
          <a:prstGeom prst="ellipse">
            <a:avLst/>
          </a:prstGeom>
          <a:solidFill>
            <a:srgbClr val="C79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942784" y="3086100"/>
            <a:ext cx="189666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8A6412"/>
                </a:solidFill>
                <a:latin typeface="Microsoft YaHei"/>
                <a:ea typeface="Microsoft YaHei"/>
                <a:cs typeface="Microsoft YaHei"/>
              </a:rPr>
              <a:t>Reducer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942784" y="3390900"/>
            <a:ext cx="1896666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聚合冲突 / 失败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触发重试或 replan</a:t>
            </a:r>
          </a:p>
        </p:txBody>
      </p:sp>
      <p:cxnSp>
        <p:nvCxnSpPr>
          <p:cNvPr id="29" name="fwd-0"/>
          <p:cNvCxnSpPr/>
          <p:nvPr/>
        </p:nvCxnSpPr>
        <p:spPr>
          <a:xfrm>
            <a:off x="3401616" y="3290887"/>
            <a:ext cx="328612" cy="0"/>
          </a:xfrm>
          <a:prstGeom prst="line">
            <a:avLst/>
          </a:prstGeom>
          <a:ln w="19050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wd-1"/>
          <p:cNvCxnSpPr/>
          <p:nvPr/>
        </p:nvCxnSpPr>
        <p:spPr>
          <a:xfrm>
            <a:off x="5931694" y="3290887"/>
            <a:ext cx="328612" cy="0"/>
          </a:xfrm>
          <a:prstGeom prst="line">
            <a:avLst/>
          </a:prstGeom>
          <a:ln w="19050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wd-2"/>
          <p:cNvCxnSpPr/>
          <p:nvPr/>
        </p:nvCxnSpPr>
        <p:spPr>
          <a:xfrm>
            <a:off x="8461772" y="3290887"/>
            <a:ext cx="328612" cy="0"/>
          </a:xfrm>
          <a:prstGeom prst="line">
            <a:avLst/>
          </a:prstGeom>
          <a:ln w="19050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oop1-down"/>
          <p:cNvCxnSpPr/>
          <p:nvPr/>
        </p:nvCxnSpPr>
        <p:spPr>
          <a:xfrm>
            <a:off x="9641117" y="3990975"/>
            <a:ext cx="0" cy="371475"/>
          </a:xfrm>
          <a:prstGeom prst="line">
            <a:avLst/>
          </a:prstGeom>
          <a:ln w="15875">
            <a:solidFill>
              <a:srgbClr val="8FA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op1-across"/>
          <p:cNvCxnSpPr/>
          <p:nvPr/>
        </p:nvCxnSpPr>
        <p:spPr>
          <a:xfrm flipH="1">
            <a:off x="5030961" y="4362450"/>
            <a:ext cx="4610156" cy="0"/>
          </a:xfrm>
          <a:prstGeom prst="line">
            <a:avLst/>
          </a:prstGeom>
          <a:ln w="15875">
            <a:solidFill>
              <a:srgbClr val="8FA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op1-up"/>
          <p:cNvCxnSpPr/>
          <p:nvPr/>
        </p:nvCxnSpPr>
        <p:spPr>
          <a:xfrm flipV="1">
            <a:off x="5030961" y="3990975"/>
            <a:ext cx="0" cy="371475"/>
          </a:xfrm>
          <a:prstGeom prst="line">
            <a:avLst/>
          </a:prstGeom>
          <a:ln w="15875">
            <a:solidFill>
              <a:srgbClr val="8FA7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"/>
          <p:cNvSpPr txBox="1"/>
          <p:nvPr/>
        </p:nvSpPr>
        <p:spPr>
          <a:xfrm>
            <a:off x="5080961" y="4072450"/>
            <a:ext cx="293007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1">
                <a:solidFill>
                  <a:srgbClr val="8FA79C"/>
                </a:solidFill>
                <a:latin typeface="Microsoft YaHei"/>
                <a:ea typeface="Microsoft YaHei"/>
                <a:cs typeface="Microsoft YaHei"/>
              </a:rPr>
              <a:t>校验冲突 / 失败 → 重试</a:t>
            </a:r>
          </a:p>
        </p:txBody>
      </p:sp>
      <p:cxnSp>
        <p:nvCxnSpPr>
          <p:cNvPr id="36" name="loop2-down"/>
          <p:cNvCxnSpPr/>
          <p:nvPr/>
        </p:nvCxnSpPr>
        <p:spPr>
          <a:xfrm>
            <a:off x="10141117" y="3990975"/>
            <a:ext cx="0" cy="866775"/>
          </a:xfrm>
          <a:prstGeom prst="line">
            <a:avLst/>
          </a:prstGeom>
          <a:ln w="15875">
            <a:solidFill>
              <a:srgbClr val="E76F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oop2-across"/>
          <p:cNvCxnSpPr/>
          <p:nvPr/>
        </p:nvCxnSpPr>
        <p:spPr>
          <a:xfrm flipH="1">
            <a:off x="2300883" y="4857750"/>
            <a:ext cx="7840234" cy="0"/>
          </a:xfrm>
          <a:prstGeom prst="line">
            <a:avLst/>
          </a:prstGeom>
          <a:ln w="15875">
            <a:solidFill>
              <a:srgbClr val="E76F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oop2-up"/>
          <p:cNvCxnSpPr/>
          <p:nvPr/>
        </p:nvCxnSpPr>
        <p:spPr>
          <a:xfrm flipV="1">
            <a:off x="2300883" y="3990975"/>
            <a:ext cx="0" cy="866775"/>
          </a:xfrm>
          <a:prstGeom prst="line">
            <a:avLst/>
          </a:prstGeom>
          <a:ln w="15875">
            <a:solidFill>
              <a:srgbClr val="E76F5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"/>
          <p:cNvSpPr txBox="1"/>
          <p:nvPr/>
        </p:nvSpPr>
        <p:spPr>
          <a:xfrm>
            <a:off x="2500883" y="4567750"/>
            <a:ext cx="4731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1">
                <a:solidFill>
                  <a:srgbClr val="B84B38"/>
                </a:solidFill>
                <a:latin typeface="Microsoft YaHei"/>
                <a:ea typeface="Microsoft YaHei"/>
                <a:cs typeface="Microsoft YaHei"/>
              </a:rPr>
              <a:t>多次重试仍失败 → 升级 replan / 降级全量重建</a:t>
            </a:r>
          </a:p>
        </p:txBody>
      </p:sp>
      <p:sp>
        <p:nvSpPr>
          <p:cNvPr id="40" name="nav-0"/>
          <p:cNvSpPr/>
          <p:nvPr/>
        </p:nvSpPr>
        <p:spPr>
          <a:xfrm>
            <a:off x="685800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01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1" name="nav-1"/>
          <p:cNvSpPr/>
          <p:nvPr/>
        </p:nvSpPr>
        <p:spPr>
          <a:xfrm>
            <a:off x="2234837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42" name="nav-2"/>
          <p:cNvSpPr/>
          <p:nvPr/>
        </p:nvSpPr>
        <p:spPr>
          <a:xfrm>
            <a:off x="3783874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03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43" name="nav-3"/>
          <p:cNvSpPr/>
          <p:nvPr/>
        </p:nvSpPr>
        <p:spPr>
          <a:xfrm>
            <a:off x="5332911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04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SFT</a:t>
            </a:r>
          </a:p>
        </p:txBody>
      </p:sp>
      <p:sp>
        <p:nvSpPr>
          <p:cNvPr id="44" name="nav-4"/>
          <p:cNvSpPr/>
          <p:nvPr/>
        </p:nvSpPr>
        <p:spPr>
          <a:xfrm>
            <a:off x="6881948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05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GRPO</a:t>
            </a:r>
          </a:p>
        </p:txBody>
      </p:sp>
      <p:sp>
        <p:nvSpPr>
          <p:cNvPr id="45" name="nav-5"/>
          <p:cNvSpPr/>
          <p:nvPr/>
        </p:nvSpPr>
        <p:spPr>
          <a:xfrm>
            <a:off x="8430985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06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DAG蒸馏</a:t>
            </a:r>
          </a:p>
        </p:txBody>
      </p:sp>
      <p:sp>
        <p:nvSpPr>
          <p:cNvPr id="46" name="nav-6"/>
          <p:cNvSpPr/>
          <p:nvPr/>
        </p:nvSpPr>
        <p:spPr>
          <a:xfrm>
            <a:off x="9980022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07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685800" y="342900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85800"/>
            <a:ext cx="108204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评测闭环：把错误变成训练信号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1163320"/>
            <a:ext cx="108204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先用真实执行结果判定任务是否完成；不通过时逐层拆解 DAG 节点与拓扑，把每个失败案例归到明确的错误类型，反哺后续训练数据构造。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553200"/>
            <a:ext cx="7239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Source: interview transcript.txt; index.html</a:t>
            </a:r>
          </a:p>
        </p:txBody>
      </p:sp>
      <p:sp>
        <p:nvSpPr>
          <p:cNvPr id="6" name="slide-num"/>
          <p:cNvSpPr txBox="1"/>
          <p:nvPr/>
        </p:nvSpPr>
        <p:spPr>
          <a:xfrm>
            <a:off x="11163300" y="6496050"/>
            <a:ext cx="342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1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node"/>
          <p:cNvSpPr/>
          <p:nvPr/>
        </p:nvSpPr>
        <p:spPr>
          <a:xfrm>
            <a:off x="800100" y="1785000"/>
            <a:ext cx="1614805" cy="750000"/>
          </a:xfrm>
          <a:prstGeom prst="roundRect">
            <a:avLst>
              <a:gd name="adj" fmla="val 12000"/>
            </a:avLst>
          </a:prstGeom>
          <a:solidFill>
            <a:srgbClr val="203235"/>
          </a:solidFill>
          <a:ln w="12700">
            <a:solidFill>
              <a:srgbClr val="20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 JSON DAG</a:t>
            </a:r>
          </a:p>
        </p:txBody>
      </p:sp>
      <p:cxnSp>
        <p:nvCxnSpPr>
          <p:cNvPr id="8" name="wire"/>
          <p:cNvCxnSpPr/>
          <p:nvPr/>
        </p:nvCxnSpPr>
        <p:spPr>
          <a:xfrm>
            <a:off x="2414905" y="2160000"/>
            <a:ext cx="228600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node"/>
          <p:cNvSpPr/>
          <p:nvPr/>
        </p:nvSpPr>
        <p:spPr>
          <a:xfrm>
            <a:off x="2643505" y="1785000"/>
            <a:ext cx="1943100" cy="7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1050" b="1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平台真实执行
拿到结果数据集</a:t>
            </a:r>
          </a:p>
        </p:txBody>
      </p:sp>
      <p:cxnSp>
        <p:nvCxnSpPr>
          <p:cNvPr id="10" name="wire"/>
          <p:cNvCxnSpPr/>
          <p:nvPr/>
        </p:nvCxnSpPr>
        <p:spPr>
          <a:xfrm>
            <a:off x="4586605" y="2160000"/>
            <a:ext cx="228600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"/>
          <p:cNvSpPr/>
          <p:nvPr/>
        </p:nvSpPr>
        <p:spPr>
          <a:xfrm>
            <a:off x="4815205" y="1531350"/>
            <a:ext cx="2286000" cy="1257300"/>
          </a:xfrm>
          <a:prstGeom prst="diamond">
            <a:avLst/>
          </a:prstGeom>
          <a:solidFill>
            <a:srgbClr val="FCF0D2"/>
          </a:solidFill>
          <a:ln w="1270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8A6412"/>
                </a:solidFill>
                <a:latin typeface="Microsoft YaHei"/>
                <a:ea typeface="Microsoft YaHei"/>
                <a:cs typeface="Microsoft YaHei"/>
              </a:rPr>
              <a:t>结果匹配
用户需求？</a:t>
            </a:r>
          </a:p>
        </p:txBody>
      </p:sp>
      <p:cxnSp>
        <p:nvCxnSpPr>
          <p:cNvPr id="12" name="wire"/>
          <p:cNvCxnSpPr/>
          <p:nvPr/>
        </p:nvCxnSpPr>
        <p:spPr>
          <a:xfrm>
            <a:off x="7101205" y="2160000"/>
            <a:ext cx="228600" cy="0"/>
          </a:xfrm>
          <a:prstGeom prst="line">
            <a:avLst/>
          </a:prstGeom>
          <a:ln w="15875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ill"/>
          <p:cNvSpPr/>
          <p:nvPr/>
        </p:nvSpPr>
        <p:spPr>
          <a:xfrm>
            <a:off x="7329805" y="1935000"/>
            <a:ext cx="1466850" cy="450000"/>
          </a:xfrm>
          <a:prstGeom prst="roundRect">
            <a:avLst>
              <a:gd name="adj" fmla="val 5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✓ 通过 → 完成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329805" y="2420000"/>
            <a:ext cx="16002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结果与需求一致，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DAG 直接交付执行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258205" y="2834370"/>
            <a:ext cx="1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B84B38"/>
                </a:solidFill>
                <a:latin typeface="Microsoft YaHei"/>
                <a:ea typeface="Microsoft YaHei"/>
                <a:cs typeface="Microsoft YaHei"/>
              </a:rPr>
              <a:t>✗ 未通过 → 失败诊断</a:t>
            </a:r>
          </a:p>
        </p:txBody>
      </p:sp>
      <p:sp>
        <p:nvSpPr>
          <p:cNvPr id="16" name="node"/>
          <p:cNvSpPr/>
          <p:nvPr/>
        </p:nvSpPr>
        <p:spPr>
          <a:xfrm>
            <a:off x="3257867" y="3283950"/>
            <a:ext cx="2514600" cy="1000125"/>
          </a:xfrm>
          <a:prstGeom prst="roundRect">
            <a:avLst>
              <a:gd name="adj" fmla="val 8000"/>
            </a:avLst>
          </a:prstGeom>
          <a:solidFill>
            <a:srgbClr val="DCEEF7"/>
          </a:solidFill>
          <a:ln w="12700">
            <a:solidFill>
              <a:srgbClr val="2A9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950" b="1">
                <a:solidFill>
                  <a:srgbClr val="175E7A"/>
                </a:solidFill>
                <a:latin typeface="Microsoft YaHei"/>
                <a:ea typeface="Microsoft YaHei"/>
                <a:cs typeface="Microsoft YaHei"/>
              </a:rPr>
              <a:t>节点层诊断
算子类型选对了吗？
内容符合声明 intent 吗？</a:t>
            </a:r>
          </a:p>
        </p:txBody>
      </p:sp>
      <p:sp>
        <p:nvSpPr>
          <p:cNvPr id="17" name="node"/>
          <p:cNvSpPr/>
          <p:nvPr/>
        </p:nvSpPr>
        <p:spPr>
          <a:xfrm>
            <a:off x="6143942" y="3283950"/>
            <a:ext cx="2514600" cy="1000125"/>
          </a:xfrm>
          <a:prstGeom prst="roundRect">
            <a:avLst>
              <a:gd name="adj" fmla="val 8000"/>
            </a:avLst>
          </a:prstGeom>
          <a:solidFill>
            <a:srgbClr val="FBE7E1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950" b="1">
                <a:solidFill>
                  <a:srgbClr val="B84B38"/>
                </a:solidFill>
                <a:latin typeface="Microsoft YaHei"/>
                <a:ea typeface="Microsoft YaHei"/>
                <a:cs typeface="Microsoft YaHei"/>
              </a:rPr>
              <a:t>结构层诊断
整体 DAG 拓扑
是否符合用户需求？</a:t>
            </a:r>
          </a:p>
        </p:txBody>
      </p:sp>
      <p:cxnSp>
        <p:nvCxnSpPr>
          <p:cNvPr id="18" name="wire"/>
          <p:cNvCxnSpPr/>
          <p:nvPr/>
        </p:nvCxnSpPr>
        <p:spPr>
          <a:xfrm>
            <a:off x="5958205" y="2788650"/>
            <a:ext cx="0" cy="250000"/>
          </a:xfrm>
          <a:prstGeom prst="line">
            <a:avLst/>
          </a:prstGeom>
          <a:ln w="15875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wire"/>
          <p:cNvCxnSpPr/>
          <p:nvPr/>
        </p:nvCxnSpPr>
        <p:spPr>
          <a:xfrm>
            <a:off x="4515167" y="3038650"/>
            <a:ext cx="2886075" cy="0"/>
          </a:xfrm>
          <a:prstGeom prst="line">
            <a:avLst/>
          </a:prstGeom>
          <a:ln w="15875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wire"/>
          <p:cNvCxnSpPr/>
          <p:nvPr/>
        </p:nvCxnSpPr>
        <p:spPr>
          <a:xfrm>
            <a:off x="4515167" y="3038650"/>
            <a:ext cx="0" cy="245300"/>
          </a:xfrm>
          <a:prstGeom prst="line">
            <a:avLst/>
          </a:prstGeom>
          <a:ln w="15875">
            <a:solidFill>
              <a:srgbClr val="E76F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wire"/>
          <p:cNvCxnSpPr/>
          <p:nvPr/>
        </p:nvCxnSpPr>
        <p:spPr>
          <a:xfrm>
            <a:off x="7401242" y="3038650"/>
            <a:ext cx="0" cy="245300"/>
          </a:xfrm>
          <a:prstGeom prst="line">
            <a:avLst/>
          </a:prstGeom>
          <a:ln w="15875">
            <a:solidFill>
              <a:srgbClr val="E76F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ode"/>
          <p:cNvSpPr/>
          <p:nvPr/>
        </p:nvSpPr>
        <p:spPr>
          <a:xfrm>
            <a:off x="4815205" y="4779375"/>
            <a:ext cx="2286000" cy="750000"/>
          </a:xfrm>
          <a:prstGeom prst="roundRect">
            <a:avLst>
              <a:gd name="adj" fmla="val 22000"/>
            </a:avLst>
          </a:prstGeom>
          <a:solidFill>
            <a:srgbClr val="203235"/>
          </a:solidFill>
          <a:ln w="12700">
            <a:solidFill>
              <a:srgbClr val="20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0" rIns="3000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错误归类
每个失败案例落到明确类别</a:t>
            </a:r>
          </a:p>
        </p:txBody>
      </p:sp>
      <p:cxnSp>
        <p:nvCxnSpPr>
          <p:cNvPr id="23" name="wire"/>
          <p:cNvCxnSpPr/>
          <p:nvPr/>
        </p:nvCxnSpPr>
        <p:spPr>
          <a:xfrm>
            <a:off x="4515167" y="4284075"/>
            <a:ext cx="0" cy="250000"/>
          </a:xfrm>
          <a:prstGeom prst="line">
            <a:avLst/>
          </a:prstGeom>
          <a:ln w="15875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wire"/>
          <p:cNvCxnSpPr/>
          <p:nvPr/>
        </p:nvCxnSpPr>
        <p:spPr>
          <a:xfrm>
            <a:off x="7401242" y="4284075"/>
            <a:ext cx="0" cy="250000"/>
          </a:xfrm>
          <a:prstGeom prst="line">
            <a:avLst/>
          </a:prstGeom>
          <a:ln w="15875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wire"/>
          <p:cNvCxnSpPr/>
          <p:nvPr/>
        </p:nvCxnSpPr>
        <p:spPr>
          <a:xfrm>
            <a:off x="4515167" y="4534075"/>
            <a:ext cx="2886075" cy="0"/>
          </a:xfrm>
          <a:prstGeom prst="line">
            <a:avLst/>
          </a:prstGeom>
          <a:ln w="15875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wire"/>
          <p:cNvCxnSpPr/>
          <p:nvPr/>
        </p:nvCxnSpPr>
        <p:spPr>
          <a:xfrm>
            <a:off x="5958205" y="4534075"/>
            <a:ext cx="0" cy="245300"/>
          </a:xfrm>
          <a:prstGeom prst="line">
            <a:avLst/>
          </a:prstGeom>
          <a:ln w="15875">
            <a:solidFill>
              <a:srgbClr val="E76F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wire"/>
          <p:cNvCxnSpPr/>
          <p:nvPr/>
        </p:nvCxnSpPr>
        <p:spPr>
          <a:xfrm>
            <a:off x="7101205" y="5154375"/>
            <a:ext cx="228600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"/>
          <p:cNvSpPr txBox="1"/>
          <p:nvPr/>
        </p:nvSpPr>
        <p:spPr>
          <a:xfrm>
            <a:off x="7381205" y="4854375"/>
            <a:ext cx="19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反哺 SFT / GRPO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训练数据构造</a:t>
            </a:r>
          </a:p>
        </p:txBody>
      </p:sp>
      <p:sp>
        <p:nvSpPr>
          <p:cNvPr id="29" name="stat-panel"/>
          <p:cNvSpPr/>
          <p:nvPr/>
        </p:nvSpPr>
        <p:spPr>
          <a:xfrm>
            <a:off x="9550000" y="1750000"/>
            <a:ext cx="1841800" cy="35575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"/>
          <p:cNvSpPr txBox="1"/>
          <p:nvPr/>
        </p:nvSpPr>
        <p:spPr>
          <a:xfrm>
            <a:off x="9740500" y="1940500"/>
            <a:ext cx="14618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Judge 质量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9740500" y="2340550"/>
            <a:ext cx="14618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0.88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9740500" y="2626300"/>
            <a:ext cx="14618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740500" y="2893000"/>
            <a:ext cx="14618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0.90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9740500" y="3178750"/>
            <a:ext cx="14618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9740500" y="3445450"/>
            <a:ext cx="14618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0.90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9740500" y="3731200"/>
            <a:ext cx="14618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9740500" y="3997900"/>
            <a:ext cx="14618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83%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9740500" y="4283650"/>
            <a:ext cx="14618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Macro-F1</a:t>
            </a:r>
          </a:p>
        </p:txBody>
      </p:sp>
      <p:sp>
        <p:nvSpPr>
          <p:cNvPr id="39" name="rect"/>
          <p:cNvSpPr/>
          <p:nvPr/>
        </p:nvSpPr>
        <p:spPr>
          <a:xfrm>
            <a:off x="9740500" y="4580350"/>
            <a:ext cx="1461800" cy="9525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"/>
          <p:cNvSpPr txBox="1"/>
          <p:nvPr/>
        </p:nvSpPr>
        <p:spPr>
          <a:xfrm>
            <a:off x="9740500" y="4680350"/>
            <a:ext cx="14618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错误分布（归因层）</a:t>
            </a:r>
          </a:p>
        </p:txBody>
      </p:sp>
      <p:sp>
        <p:nvSpPr>
          <p:cNvPr id="41" name="bar-sql"/>
          <p:cNvSpPr/>
          <p:nvPr/>
        </p:nvSpPr>
        <p:spPr>
          <a:xfrm>
            <a:off x="9740500" y="5000350"/>
            <a:ext cx="1461800" cy="37147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SQL 脚本 ~80%</a:t>
            </a:r>
          </a:p>
        </p:txBody>
      </p:sp>
      <p:sp>
        <p:nvSpPr>
          <p:cNvPr id="42" name="bar-other"/>
          <p:cNvSpPr/>
          <p:nvPr/>
        </p:nvSpPr>
        <p:spPr>
          <a:xfrm>
            <a:off x="10909940" y="5000350"/>
            <a:ext cx="292360" cy="371475"/>
          </a:xfrm>
          <a:prstGeom prst="rect">
            <a:avLst/>
          </a:prstGeom>
          <a:solidFill>
            <a:srgbClr val="2A9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"/>
          <p:cNvSpPr txBox="1"/>
          <p:nvPr/>
        </p:nvSpPr>
        <p:spPr>
          <a:xfrm>
            <a:off x="9740500" y="5524225"/>
            <a:ext cx="14618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约 8 成错误集中在 SQL 脚本节点，其余分布在 DAG 结构与其他算子。</a:t>
            </a:r>
          </a:p>
        </p:txBody>
      </p:sp>
      <p:sp>
        <p:nvSpPr>
          <p:cNvPr id="44" name="nav-0"/>
          <p:cNvSpPr/>
          <p:nvPr/>
        </p:nvSpPr>
        <p:spPr>
          <a:xfrm>
            <a:off x="685800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01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5" name="nav-1"/>
          <p:cNvSpPr/>
          <p:nvPr/>
        </p:nvSpPr>
        <p:spPr>
          <a:xfrm>
            <a:off x="2234837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46" name="nav-2"/>
          <p:cNvSpPr/>
          <p:nvPr/>
        </p:nvSpPr>
        <p:spPr>
          <a:xfrm>
            <a:off x="3783874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03 </a:t>
            </a: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47" name="nav-3"/>
          <p:cNvSpPr/>
          <p:nvPr/>
        </p:nvSpPr>
        <p:spPr>
          <a:xfrm>
            <a:off x="5332911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04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SFT</a:t>
            </a:r>
          </a:p>
        </p:txBody>
      </p:sp>
      <p:sp>
        <p:nvSpPr>
          <p:cNvPr id="48" name="nav-4"/>
          <p:cNvSpPr/>
          <p:nvPr/>
        </p:nvSpPr>
        <p:spPr>
          <a:xfrm>
            <a:off x="6881948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05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GRPO</a:t>
            </a:r>
          </a:p>
        </p:txBody>
      </p:sp>
      <p:sp>
        <p:nvSpPr>
          <p:cNvPr id="49" name="nav-5"/>
          <p:cNvSpPr/>
          <p:nvPr/>
        </p:nvSpPr>
        <p:spPr>
          <a:xfrm>
            <a:off x="8430985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06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DAG蒸馏</a:t>
            </a:r>
          </a:p>
        </p:txBody>
      </p:sp>
      <p:sp>
        <p:nvSpPr>
          <p:cNvPr id="50" name="nav-6"/>
          <p:cNvSpPr/>
          <p:nvPr/>
        </p:nvSpPr>
        <p:spPr>
          <a:xfrm>
            <a:off x="9980022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07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685800" y="342900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SFT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85800"/>
            <a:ext cx="108204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SFT：三步锁定 SQL 节点方案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1163320"/>
            <a:ext cx="108204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约 70%–80% 的失败集中在 SQL 脚本节点，于是单独微调 Qwen 14B 替换原 DeepSeek V4，专门处理 SQL 子任务，三步走完数据构造、监督比例与超参搜索。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553200"/>
            <a:ext cx="7239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Source: interview transcript.txt</a:t>
            </a:r>
          </a:p>
        </p:txBody>
      </p:sp>
      <p:sp>
        <p:nvSpPr>
          <p:cNvPr id="6" name="slide-num"/>
          <p:cNvSpPr txBox="1"/>
          <p:nvPr/>
        </p:nvSpPr>
        <p:spPr>
          <a:xfrm>
            <a:off x="11163300" y="6496050"/>
            <a:ext cx="342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1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step-STEP 1"/>
          <p:cNvSpPr/>
          <p:nvPr/>
        </p:nvSpPr>
        <p:spPr>
          <a:xfrm>
            <a:off x="800100" y="1750000"/>
            <a:ext cx="3340100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ll"/>
          <p:cNvSpPr/>
          <p:nvPr/>
        </p:nvSpPr>
        <p:spPr>
          <a:xfrm>
            <a:off x="990600" y="194050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90600" y="2264350"/>
            <a:ext cx="29601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数据构造 &amp; 训练目标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90600" y="2692975"/>
            <a:ext cx="29601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UAT 刚上线，真实数据还不够，改用 Spider benchmark 结合 huggingface 上的 gold SQL，构成 prompt + schema 成对数据；SFT 直接拟合 gold SQL。</a:t>
            </a:r>
          </a:p>
        </p:txBody>
      </p:sp>
      <p:sp>
        <p:nvSpPr>
          <p:cNvPr id="11" name="finding-STEP 1"/>
          <p:cNvSpPr/>
          <p:nvPr/>
        </p:nvSpPr>
        <p:spPr>
          <a:xfrm>
            <a:off x="990600" y="3445450"/>
            <a:ext cx="2960100" cy="495300"/>
          </a:xfrm>
          <a:prstGeom prst="roundRect">
            <a:avLst>
              <a:gd name="adj" fmla="val 1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"/>
          <p:cNvSpPr txBox="1"/>
          <p:nvPr/>
        </p:nvSpPr>
        <p:spPr>
          <a:xfrm>
            <a:off x="1100100" y="3475450"/>
            <a:ext cx="27501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单独微调 Qwen 14B 替换原 DeepSeek V4，专门处理 SQL 子任务。</a:t>
            </a:r>
          </a:p>
        </p:txBody>
      </p:sp>
      <p:sp>
        <p:nvSpPr>
          <p:cNvPr id="13" name="step-STEP 2"/>
          <p:cNvSpPr/>
          <p:nvPr/>
        </p:nvSpPr>
        <p:spPr>
          <a:xfrm>
            <a:off x="4425950" y="1750000"/>
            <a:ext cx="3340100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ill"/>
          <p:cNvSpPr/>
          <p:nvPr/>
        </p:nvSpPr>
        <p:spPr>
          <a:xfrm>
            <a:off x="4616450" y="194050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D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75E7A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616450" y="2264350"/>
            <a:ext cx="29601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轨迹监督比例实验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616450" y="2692975"/>
            <a:ext cx="29601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SQL 子 agent 含重写步骤、非单轮输出。固定 LoRA 容量与学习率，对比不同比例的 trajectory supervision（过程监督）与 gold SQL（结果监督）。</a:t>
            </a:r>
          </a:p>
        </p:txBody>
      </p:sp>
      <p:sp>
        <p:nvSpPr>
          <p:cNvPr id="17" name="finding-STEP 2"/>
          <p:cNvSpPr/>
          <p:nvPr/>
        </p:nvSpPr>
        <p:spPr>
          <a:xfrm>
            <a:off x="4616450" y="3445450"/>
            <a:ext cx="2960100" cy="495300"/>
          </a:xfrm>
          <a:prstGeom prst="roundRect">
            <a:avLst>
              <a:gd name="adj" fmla="val 10000"/>
            </a:avLst>
          </a:prstGeom>
          <a:solidFill>
            <a:srgbClr val="D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"/>
          <p:cNvSpPr txBox="1"/>
          <p:nvPr/>
        </p:nvSpPr>
        <p:spPr>
          <a:xfrm>
            <a:off x="4725950" y="3475450"/>
            <a:ext cx="27501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175E7A"/>
                </a:solidFill>
                <a:latin typeface="Microsoft YaHei"/>
                <a:ea typeface="Microsoft YaHei"/>
                <a:cs typeface="Microsoft YaHei"/>
              </a:rPr>
              <a:t>最佳混合比例在 1:1 到 2:1 之间，最终采用 2:1。</a:t>
            </a:r>
          </a:p>
        </p:txBody>
      </p:sp>
      <p:sp>
        <p:nvSpPr>
          <p:cNvPr id="19" name="step-STEP 3"/>
          <p:cNvSpPr/>
          <p:nvPr/>
        </p:nvSpPr>
        <p:spPr>
          <a:xfrm>
            <a:off x="8051800" y="1750000"/>
            <a:ext cx="3340100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ill"/>
          <p:cNvSpPr/>
          <p:nvPr/>
        </p:nvSpPr>
        <p:spPr>
          <a:xfrm>
            <a:off x="8242300" y="194050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FB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B84B38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8242300" y="2264350"/>
            <a:ext cx="29601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学习率 × LoRA 容量网格搜索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242300" y="2692975"/>
            <a:ext cx="29601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5e-5 学习率下发现末端 loss 较早进入平台期，于是尝试更低学习率、更大 LoRA 容量做网格搜索，避免过拟合、保持模型通用性。</a:t>
            </a:r>
          </a:p>
        </p:txBody>
      </p:sp>
      <p:sp>
        <p:nvSpPr>
          <p:cNvPr id="23" name="finding-STEP 3"/>
          <p:cNvSpPr/>
          <p:nvPr/>
        </p:nvSpPr>
        <p:spPr>
          <a:xfrm>
            <a:off x="8242300" y="3445450"/>
            <a:ext cx="2960100" cy="495300"/>
          </a:xfrm>
          <a:prstGeom prst="roundRect">
            <a:avLst>
              <a:gd name="adj" fmla="val 10000"/>
            </a:avLst>
          </a:prstGeom>
          <a:solidFill>
            <a:srgbClr val="FB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"/>
          <p:cNvSpPr txBox="1"/>
          <p:nvPr/>
        </p:nvSpPr>
        <p:spPr>
          <a:xfrm>
            <a:off x="8351800" y="3475450"/>
            <a:ext cx="27501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B84B38"/>
                </a:solidFill>
                <a:latin typeface="Microsoft YaHei"/>
                <a:ea typeface="Microsoft YaHei"/>
                <a:cs typeface="Microsoft YaHei"/>
              </a:rPr>
              <a:t>最优组合 lr=5e-5, r=32, alpha=64，测试集任务执行准确率达到 80%。</a:t>
            </a:r>
          </a:p>
        </p:txBody>
      </p:sp>
      <p:cxnSp>
        <p:nvCxnSpPr>
          <p:cNvPr id="25" name="wire"/>
          <p:cNvCxnSpPr/>
          <p:nvPr/>
        </p:nvCxnSpPr>
        <p:spPr>
          <a:xfrm>
            <a:off x="4140200" y="2893000"/>
            <a:ext cx="285750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wire"/>
          <p:cNvCxnSpPr/>
          <p:nvPr/>
        </p:nvCxnSpPr>
        <p:spPr>
          <a:xfrm>
            <a:off x="7766050" y="2893000"/>
            <a:ext cx="285750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inal-config"/>
          <p:cNvSpPr/>
          <p:nvPr/>
        </p:nvSpPr>
        <p:spPr>
          <a:xfrm>
            <a:off x="800100" y="4378900"/>
            <a:ext cx="6120130" cy="1600200"/>
          </a:xfrm>
          <a:prstGeom prst="roundRect">
            <a:avLst>
              <a:gd name="adj" fmla="val 45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"/>
          <p:cNvSpPr txBox="1"/>
          <p:nvPr/>
        </p:nvSpPr>
        <p:spPr>
          <a:xfrm>
            <a:off x="1047750" y="4569400"/>
            <a:ext cx="562483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最终采用配置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47750" y="4931350"/>
            <a:ext cx="562483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D7E4E0"/>
                </a:solidFill>
                <a:latin typeface="Microsoft YaHei"/>
                <a:ea typeface="Microsoft YaHei"/>
                <a:cs typeface="Microsoft YaHei"/>
              </a:rPr>
              <a:t>Qwen2.5-Coder-14B + 新 LoRA（r=32, alpha=64），只跑 1–2 个 epoch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D7E4E0"/>
                </a:solidFill>
                <a:latin typeface="Microsoft YaHei"/>
                <a:ea typeface="Microsoft YaHei"/>
                <a:cs typeface="Microsoft YaHei"/>
              </a:rPr>
              <a:t>作用于 q / k / v 权重矩阵 + 前馈网络的 gate / up / down 矩阵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D7E4E0"/>
                </a:solidFill>
                <a:latin typeface="Microsoft YaHei"/>
                <a:ea typeface="Microsoft YaHei"/>
                <a:cs typeface="Microsoft YaHei"/>
              </a:rPr>
              <a:t>数据：Spider benchmark + gold SQL（huggingface）+ prompt/schema 成对数据，gold : trajectory ≈ 2 : 1</a:t>
            </a:r>
          </a:p>
        </p:txBody>
      </p:sp>
      <p:sp>
        <p:nvSpPr>
          <p:cNvPr id="30" name="result-card"/>
          <p:cNvSpPr/>
          <p:nvPr/>
        </p:nvSpPr>
        <p:spPr>
          <a:xfrm>
            <a:off x="7205980" y="4378900"/>
            <a:ext cx="418592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"/>
          <p:cNvSpPr txBox="1"/>
          <p:nvPr/>
        </p:nvSpPr>
        <p:spPr>
          <a:xfrm>
            <a:off x="7425055" y="4597975"/>
            <a:ext cx="374777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测试集任务执行准确率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425055" y="4921825"/>
            <a:ext cx="3747770" cy="6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7425055" y="5598100"/>
            <a:ext cx="374777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lr=5e-5, r=32, alpha=64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（网格搜索最优组合）</a:t>
            </a:r>
          </a:p>
        </p:txBody>
      </p:sp>
      <p:sp>
        <p:nvSpPr>
          <p:cNvPr id="34" name="nav-0"/>
          <p:cNvSpPr/>
          <p:nvPr/>
        </p:nvSpPr>
        <p:spPr>
          <a:xfrm>
            <a:off x="685800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01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35" name="nav-1"/>
          <p:cNvSpPr/>
          <p:nvPr/>
        </p:nvSpPr>
        <p:spPr>
          <a:xfrm>
            <a:off x="2234837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36" name="nav-2"/>
          <p:cNvSpPr/>
          <p:nvPr/>
        </p:nvSpPr>
        <p:spPr>
          <a:xfrm>
            <a:off x="3783874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03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37" name="nav-3"/>
          <p:cNvSpPr/>
          <p:nvPr/>
        </p:nvSpPr>
        <p:spPr>
          <a:xfrm>
            <a:off x="5332911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04 </a:t>
            </a: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SFT</a:t>
            </a:r>
          </a:p>
        </p:txBody>
      </p:sp>
      <p:sp>
        <p:nvSpPr>
          <p:cNvPr id="38" name="nav-4"/>
          <p:cNvSpPr/>
          <p:nvPr/>
        </p:nvSpPr>
        <p:spPr>
          <a:xfrm>
            <a:off x="6881948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05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GRPO</a:t>
            </a:r>
          </a:p>
        </p:txBody>
      </p:sp>
      <p:sp>
        <p:nvSpPr>
          <p:cNvPr id="39" name="nav-5"/>
          <p:cNvSpPr/>
          <p:nvPr/>
        </p:nvSpPr>
        <p:spPr>
          <a:xfrm>
            <a:off x="8430985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06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DAG蒸馏</a:t>
            </a:r>
          </a:p>
        </p:txBody>
      </p:sp>
      <p:sp>
        <p:nvSpPr>
          <p:cNvPr id="40" name="nav-6"/>
          <p:cNvSpPr/>
          <p:nvPr/>
        </p:nvSpPr>
        <p:spPr>
          <a:xfrm>
            <a:off x="9980022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07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685800" y="342900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GRPO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85800"/>
            <a:ext cx="108204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GRPO：从 rollout 结构到 checker 校准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1163320"/>
            <a:ext cx="108204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在 SFT-Merged policy 上训练新的 GRPO LoRA，对比 chain / tree 两种 rollout 结构，四轮超参数调优后发现最大杠杆其实是 checker 质量。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553200"/>
            <a:ext cx="7239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Source: interview transcript.txt; index.html</a:t>
            </a:r>
          </a:p>
        </p:txBody>
      </p:sp>
      <p:sp>
        <p:nvSpPr>
          <p:cNvPr id="6" name="slide-num"/>
          <p:cNvSpPr txBox="1"/>
          <p:nvPr/>
        </p:nvSpPr>
        <p:spPr>
          <a:xfrm>
            <a:off x="11163300" y="6496050"/>
            <a:ext cx="342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1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chain-card"/>
          <p:cNvSpPr/>
          <p:nvPr/>
        </p:nvSpPr>
        <p:spPr>
          <a:xfrm>
            <a:off x="800100" y="1720000"/>
            <a:ext cx="5153025" cy="16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"/>
          <p:cNvSpPr txBox="1"/>
          <p:nvPr/>
        </p:nvSpPr>
        <p:spPr>
          <a:xfrm>
            <a:off x="1019175" y="1872400"/>
            <a:ext cx="4714875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Chain rollout（S1 / S2）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019175" y="2200060"/>
            <a:ext cx="471487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完整跑完一条多轮轨迹，终局奖励按 gamma 折扣回传每一步。</a:t>
            </a:r>
          </a:p>
        </p:txBody>
      </p:sp>
      <p:sp>
        <p:nvSpPr>
          <p:cNvPr id="10" name="chain-node-0"/>
          <p:cNvSpPr/>
          <p:nvPr/>
        </p:nvSpPr>
        <p:spPr>
          <a:xfrm>
            <a:off x="1300100" y="2723800"/>
            <a:ext cx="152400" cy="152400"/>
          </a:xfrm>
          <a:prstGeom prst="ellipse">
            <a:avLst/>
          </a:prstGeom>
          <a:solidFill>
            <a:srgbClr val="2A9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"/>
          <p:cNvSpPr txBox="1"/>
          <p:nvPr/>
        </p:nvSpPr>
        <p:spPr>
          <a:xfrm>
            <a:off x="1200100" y="2920000"/>
            <a:ext cx="352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2" name="chain-node-1"/>
          <p:cNvSpPr/>
          <p:nvPr/>
        </p:nvSpPr>
        <p:spPr>
          <a:xfrm>
            <a:off x="2152500" y="2723800"/>
            <a:ext cx="152400" cy="152400"/>
          </a:xfrm>
          <a:prstGeom prst="ellipse">
            <a:avLst/>
          </a:prstGeom>
          <a:solidFill>
            <a:srgbClr val="2A9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wire"/>
          <p:cNvCxnSpPr/>
          <p:nvPr/>
        </p:nvCxnSpPr>
        <p:spPr>
          <a:xfrm>
            <a:off x="1452500" y="2800000"/>
            <a:ext cx="700000" cy="0"/>
          </a:xfrm>
          <a:prstGeom prst="line">
            <a:avLst/>
          </a:prstGeom>
          <a:ln w="12700">
            <a:solidFill>
              <a:srgbClr val="8FA7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"/>
          <p:cNvSpPr txBox="1"/>
          <p:nvPr/>
        </p:nvSpPr>
        <p:spPr>
          <a:xfrm>
            <a:off x="2052500" y="2920000"/>
            <a:ext cx="352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5" name="chain-node-2"/>
          <p:cNvSpPr/>
          <p:nvPr/>
        </p:nvSpPr>
        <p:spPr>
          <a:xfrm>
            <a:off x="3004900" y="2723800"/>
            <a:ext cx="152400" cy="152400"/>
          </a:xfrm>
          <a:prstGeom prst="ellipse">
            <a:avLst/>
          </a:prstGeom>
          <a:solidFill>
            <a:srgbClr val="2A9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wire"/>
          <p:cNvCxnSpPr/>
          <p:nvPr/>
        </p:nvCxnSpPr>
        <p:spPr>
          <a:xfrm>
            <a:off x="2304900" y="2800000"/>
            <a:ext cx="700000" cy="0"/>
          </a:xfrm>
          <a:prstGeom prst="line">
            <a:avLst/>
          </a:prstGeom>
          <a:ln w="12700">
            <a:solidFill>
              <a:srgbClr val="8FA7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"/>
          <p:cNvSpPr txBox="1"/>
          <p:nvPr/>
        </p:nvSpPr>
        <p:spPr>
          <a:xfrm>
            <a:off x="2904900" y="2920000"/>
            <a:ext cx="352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8" name="chain-node-3"/>
          <p:cNvSpPr/>
          <p:nvPr/>
        </p:nvSpPr>
        <p:spPr>
          <a:xfrm>
            <a:off x="3857300" y="2723800"/>
            <a:ext cx="152400" cy="152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wire"/>
          <p:cNvCxnSpPr/>
          <p:nvPr/>
        </p:nvCxnSpPr>
        <p:spPr>
          <a:xfrm>
            <a:off x="3157300" y="2800000"/>
            <a:ext cx="700000" cy="0"/>
          </a:xfrm>
          <a:prstGeom prst="line">
            <a:avLst/>
          </a:prstGeom>
          <a:ln w="12700">
            <a:solidFill>
              <a:srgbClr val="8FA7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"/>
          <p:cNvSpPr txBox="1"/>
          <p:nvPr/>
        </p:nvSpPr>
        <p:spPr>
          <a:xfrm>
            <a:off x="3757300" y="2920000"/>
            <a:ext cx="352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21" name="tree-card"/>
          <p:cNvSpPr/>
          <p:nvPr/>
        </p:nvSpPr>
        <p:spPr>
          <a:xfrm>
            <a:off x="6238875" y="1720000"/>
            <a:ext cx="5153025" cy="16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"/>
          <p:cNvSpPr txBox="1"/>
          <p:nvPr/>
        </p:nvSpPr>
        <p:spPr>
          <a:xfrm>
            <a:off x="6457950" y="1872400"/>
            <a:ext cx="4714875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Tree rollout（S3 / S4，branch=4 → beam=2）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457950" y="2200060"/>
            <a:ext cx="471487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每层分支探索，proxy score 剪枝后只保留表现更好的 2 条继续往下。</a:t>
            </a:r>
          </a:p>
        </p:txBody>
      </p:sp>
      <p:sp>
        <p:nvSpPr>
          <p:cNvPr id="24" name="tree-root"/>
          <p:cNvSpPr/>
          <p:nvPr/>
        </p:nvSpPr>
        <p:spPr>
          <a:xfrm>
            <a:off x="8739187" y="2523860"/>
            <a:ext cx="152400" cy="152400"/>
          </a:xfrm>
          <a:prstGeom prst="ellipse">
            <a:avLst/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ree-leaf-0"/>
          <p:cNvSpPr/>
          <p:nvPr/>
        </p:nvSpPr>
        <p:spPr>
          <a:xfrm>
            <a:off x="6862675" y="2783860"/>
            <a:ext cx="152400" cy="152400"/>
          </a:xfrm>
          <a:prstGeom prst="ellipse">
            <a:avLst/>
          </a:prstGeom>
          <a:solidFill>
            <a:srgbClr val="C7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wire"/>
          <p:cNvCxnSpPr/>
          <p:nvPr/>
        </p:nvCxnSpPr>
        <p:spPr>
          <a:xfrm flipH="1">
            <a:off x="6938875" y="2676260"/>
            <a:ext cx="1876512" cy="107600"/>
          </a:xfrm>
          <a:prstGeom prst="line">
            <a:avLst/>
          </a:prstGeom>
          <a:ln w="12700">
            <a:solidFill>
              <a:srgbClr val="D5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ree-leaf-1"/>
          <p:cNvSpPr/>
          <p:nvPr/>
        </p:nvSpPr>
        <p:spPr>
          <a:xfrm>
            <a:off x="8113683" y="2783860"/>
            <a:ext cx="152400" cy="1524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wire"/>
          <p:cNvCxnSpPr/>
          <p:nvPr/>
        </p:nvCxnSpPr>
        <p:spPr>
          <a:xfrm flipH="1">
            <a:off x="8189883" y="2676260"/>
            <a:ext cx="625504" cy="107600"/>
          </a:xfrm>
          <a:prstGeom prst="line">
            <a:avLst/>
          </a:prstGeom>
          <a:ln w="127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ree-leaf-2"/>
          <p:cNvSpPr/>
          <p:nvPr/>
        </p:nvSpPr>
        <p:spPr>
          <a:xfrm>
            <a:off x="9364691" y="2783860"/>
            <a:ext cx="152400" cy="1524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wire"/>
          <p:cNvCxnSpPr/>
          <p:nvPr/>
        </p:nvCxnSpPr>
        <p:spPr>
          <a:xfrm>
            <a:off x="8815387" y="2676260"/>
            <a:ext cx="625504" cy="107600"/>
          </a:xfrm>
          <a:prstGeom prst="line">
            <a:avLst/>
          </a:prstGeom>
          <a:ln w="127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ree-leaf-3"/>
          <p:cNvSpPr/>
          <p:nvPr/>
        </p:nvSpPr>
        <p:spPr>
          <a:xfrm>
            <a:off x="10615700" y="2783860"/>
            <a:ext cx="152400" cy="152400"/>
          </a:xfrm>
          <a:prstGeom prst="ellipse">
            <a:avLst/>
          </a:prstGeom>
          <a:solidFill>
            <a:srgbClr val="C7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wire"/>
          <p:cNvCxnSpPr/>
          <p:nvPr/>
        </p:nvCxnSpPr>
        <p:spPr>
          <a:xfrm>
            <a:off x="8815387" y="2676260"/>
            <a:ext cx="1876513" cy="107600"/>
          </a:xfrm>
          <a:prstGeom prst="line">
            <a:avLst/>
          </a:prstGeom>
          <a:ln w="12700">
            <a:solidFill>
              <a:srgbClr val="D5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wire"/>
          <p:cNvCxnSpPr/>
          <p:nvPr/>
        </p:nvCxnSpPr>
        <p:spPr>
          <a:xfrm>
            <a:off x="8189883" y="2936260"/>
            <a:ext cx="0" cy="107600"/>
          </a:xfrm>
          <a:prstGeom prst="line">
            <a:avLst/>
          </a:prstGeom>
          <a:ln w="1270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ree-final-1"/>
          <p:cNvSpPr/>
          <p:nvPr/>
        </p:nvSpPr>
        <p:spPr>
          <a:xfrm>
            <a:off x="8113683" y="3043860"/>
            <a:ext cx="152400" cy="152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wire"/>
          <p:cNvCxnSpPr/>
          <p:nvPr/>
        </p:nvCxnSpPr>
        <p:spPr>
          <a:xfrm>
            <a:off x="9440891" y="2936260"/>
            <a:ext cx="0" cy="107600"/>
          </a:xfrm>
          <a:prstGeom prst="line">
            <a:avLst/>
          </a:prstGeom>
          <a:ln w="1270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ree-final-2"/>
          <p:cNvSpPr/>
          <p:nvPr/>
        </p:nvSpPr>
        <p:spPr>
          <a:xfrm>
            <a:off x="9364691" y="3043860"/>
            <a:ext cx="152400" cy="152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hase-PHASE 1"/>
          <p:cNvSpPr/>
          <p:nvPr/>
        </p:nvSpPr>
        <p:spPr>
          <a:xfrm>
            <a:off x="800100" y="3589075"/>
            <a:ext cx="2483643" cy="850000"/>
          </a:xfrm>
          <a:prstGeom prst="roundRect">
            <a:avLst>
              <a:gd name="adj" fmla="val 7000"/>
            </a:avLst>
          </a:prstGeom>
          <a:solidFill>
            <a:srgbClr val="F0F3EE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"/>
          <p:cNvSpPr txBox="1"/>
          <p:nvPr/>
        </p:nvSpPr>
        <p:spPr>
          <a:xfrm>
            <a:off x="952500" y="3703375"/>
            <a:ext cx="218364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PHASE 1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52500" y="3903400"/>
            <a:ext cx="2183643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S1–S4 初选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952500" y="4179625"/>
            <a:ext cx="2183643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tree-final（S3）点估计最高 80.67%，选为调优对象</a:t>
            </a:r>
          </a:p>
        </p:txBody>
      </p:sp>
      <p:cxnSp>
        <p:nvCxnSpPr>
          <p:cNvPr id="41" name="wire"/>
          <p:cNvCxnSpPr/>
          <p:nvPr/>
        </p:nvCxnSpPr>
        <p:spPr>
          <a:xfrm>
            <a:off x="3313743" y="4014075"/>
            <a:ext cx="159075" cy="0"/>
          </a:xfrm>
          <a:prstGeom prst="line">
            <a:avLst/>
          </a:prstGeom>
          <a:ln w="12700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phase-PHASE 2"/>
          <p:cNvSpPr/>
          <p:nvPr/>
        </p:nvSpPr>
        <p:spPr>
          <a:xfrm>
            <a:off x="3502818" y="3589075"/>
            <a:ext cx="2483643" cy="850000"/>
          </a:xfrm>
          <a:prstGeom prst="roundRect">
            <a:avLst>
              <a:gd name="adj" fmla="val 7000"/>
            </a:avLst>
          </a:prstGeom>
          <a:solidFill>
            <a:srgbClr val="F0F3EE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"/>
          <p:cNvSpPr txBox="1"/>
          <p:nvPr/>
        </p:nvSpPr>
        <p:spPr>
          <a:xfrm>
            <a:off x="3655218" y="3703375"/>
            <a:ext cx="218364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PHASE 2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3655218" y="3903400"/>
            <a:ext cx="2183643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KL / epoch 调优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3655218" y="4179625"/>
            <a:ext cx="2183643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KL=0.01, epoch=2 最优 79.67%；无 KL 时 epoch=2 崩到 65.33%</a:t>
            </a:r>
          </a:p>
        </p:txBody>
      </p:sp>
      <p:cxnSp>
        <p:nvCxnSpPr>
          <p:cNvPr id="46" name="wire"/>
          <p:cNvCxnSpPr/>
          <p:nvPr/>
        </p:nvCxnSpPr>
        <p:spPr>
          <a:xfrm>
            <a:off x="6016462" y="4014075"/>
            <a:ext cx="159075" cy="0"/>
          </a:xfrm>
          <a:prstGeom prst="line">
            <a:avLst/>
          </a:prstGeom>
          <a:ln w="12700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phase-PHASE 3"/>
          <p:cNvSpPr/>
          <p:nvPr/>
        </p:nvSpPr>
        <p:spPr>
          <a:xfrm>
            <a:off x="6205537" y="3589075"/>
            <a:ext cx="2483643" cy="850000"/>
          </a:xfrm>
          <a:prstGeom prst="roundRect">
            <a:avLst>
              <a:gd name="adj" fmla="val 7000"/>
            </a:avLst>
          </a:prstGeom>
          <a:solidFill>
            <a:srgbClr val="F0F3EE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"/>
          <p:cNvSpPr txBox="1"/>
          <p:nvPr/>
        </p:nvSpPr>
        <p:spPr>
          <a:xfrm>
            <a:off x="6357937" y="3703375"/>
            <a:ext cx="218364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PHASE 3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6357937" y="3903400"/>
            <a:ext cx="2183643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温度 / gamma 调优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6357937" y="4179625"/>
            <a:ext cx="2183643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temperature=1.0, gamma=0.9 最优 81.33%，其余改动均下降</a:t>
            </a:r>
          </a:p>
        </p:txBody>
      </p:sp>
      <p:cxnSp>
        <p:nvCxnSpPr>
          <p:cNvPr id="51" name="wire"/>
          <p:cNvCxnSpPr/>
          <p:nvPr/>
        </p:nvCxnSpPr>
        <p:spPr>
          <a:xfrm>
            <a:off x="8719181" y="4014075"/>
            <a:ext cx="159075" cy="0"/>
          </a:xfrm>
          <a:prstGeom prst="line">
            <a:avLst/>
          </a:prstGeom>
          <a:ln w="12700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phase-PHASE 4"/>
          <p:cNvSpPr/>
          <p:nvPr/>
        </p:nvSpPr>
        <p:spPr>
          <a:xfrm>
            <a:off x="8908256" y="3589075"/>
            <a:ext cx="2483643" cy="850000"/>
          </a:xfrm>
          <a:prstGeom prst="roundRect">
            <a:avLst>
              <a:gd name="adj" fmla="val 7000"/>
            </a:avLst>
          </a:prstGeom>
          <a:solidFill>
            <a:srgbClr val="F0F3EE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"/>
          <p:cNvSpPr txBox="1"/>
          <p:nvPr/>
        </p:nvSpPr>
        <p:spPr>
          <a:xfrm>
            <a:off x="9060656" y="3703375"/>
            <a:ext cx="218364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PHASE 4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9060656" y="3903400"/>
            <a:ext cx="2183643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Rollout 规模对照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9060656" y="4179625"/>
            <a:ext cx="2183643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S3 n=20 与 S1 n=8 接近；checker 替换后大幅提升</a:t>
            </a:r>
          </a:p>
        </p:txBody>
      </p:sp>
      <p:sp>
        <p:nvSpPr>
          <p:cNvPr id="56" name="res"/>
          <p:cNvSpPr/>
          <p:nvPr/>
        </p:nvSpPr>
        <p:spPr>
          <a:xfrm>
            <a:off x="800100" y="4724825"/>
            <a:ext cx="3384550" cy="11144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"/>
          <p:cNvSpPr txBox="1"/>
          <p:nvPr/>
        </p:nvSpPr>
        <p:spPr>
          <a:xfrm>
            <a:off x="1019175" y="4877225"/>
            <a:ext cx="29464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S3 · tree (n=20)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1019175" y="5124875"/>
            <a:ext cx="29464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83.67%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1019175" y="5504825"/>
            <a:ext cx="294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branch=4/beam=2，执行准确率</a:t>
            </a:r>
          </a:p>
        </p:txBody>
      </p:sp>
      <p:sp>
        <p:nvSpPr>
          <p:cNvPr id="60" name="res"/>
          <p:cNvSpPr/>
          <p:nvPr/>
        </p:nvSpPr>
        <p:spPr>
          <a:xfrm>
            <a:off x="4403725" y="4724825"/>
            <a:ext cx="3384550" cy="11144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"/>
          <p:cNvSpPr txBox="1"/>
          <p:nvPr/>
        </p:nvSpPr>
        <p:spPr>
          <a:xfrm>
            <a:off x="4622800" y="4877225"/>
            <a:ext cx="29464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S1 · chain (n=8)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4622800" y="5124875"/>
            <a:ext cx="29464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83.33%</a:t>
            </a:r>
          </a:p>
        </p:txBody>
      </p:sp>
      <p:sp>
        <p:nvSpPr>
          <p:cNvPr id="63" name="text"/>
          <p:cNvSpPr txBox="1"/>
          <p:nvPr/>
        </p:nvSpPr>
        <p:spPr>
          <a:xfrm>
            <a:off x="4622800" y="5504825"/>
            <a:ext cx="294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效率候选：轮数/重写率最低</a:t>
            </a:r>
          </a:p>
        </p:txBody>
      </p:sp>
      <p:sp>
        <p:nvSpPr>
          <p:cNvPr id="64" name="res"/>
          <p:cNvSpPr/>
          <p:nvPr/>
        </p:nvSpPr>
        <p:spPr>
          <a:xfrm>
            <a:off x="8007350" y="4724825"/>
            <a:ext cx="3384550" cy="1114425"/>
          </a:xfrm>
          <a:prstGeom prst="roundRect">
            <a:avLst>
              <a:gd name="adj" fmla="val 6000"/>
            </a:avLst>
          </a:prstGeom>
          <a:solidFill>
            <a:srgbClr val="173229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"/>
          <p:cNvSpPr txBox="1"/>
          <p:nvPr/>
        </p:nvSpPr>
        <p:spPr>
          <a:xfrm>
            <a:off x="8226425" y="4877225"/>
            <a:ext cx="29464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BFE3D3"/>
                </a:solidFill>
                <a:latin typeface="Microsoft YaHei"/>
                <a:ea typeface="Microsoft YaHei"/>
                <a:cs typeface="Microsoft YaHei"/>
              </a:rPr>
              <a:t>Checker 替换为 DeepSeek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8226425" y="5124875"/>
            <a:ext cx="29464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86.00%</a:t>
            </a:r>
          </a:p>
        </p:txBody>
      </p:sp>
      <p:sp>
        <p:nvSpPr>
          <p:cNvPr id="67" name="text"/>
          <p:cNvSpPr txBox="1"/>
          <p:nvPr/>
        </p:nvSpPr>
        <p:spPr>
          <a:xfrm>
            <a:off x="8226425" y="5504825"/>
            <a:ext cx="294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BFE3D3"/>
                </a:solidFill>
                <a:latin typeface="Microsoft YaHei"/>
                <a:ea typeface="Microsoft YaHei"/>
                <a:cs typeface="Microsoft YaHei"/>
              </a:rPr>
              <a:t>同一 S3 policy，最大单一提升杠杆</a:t>
            </a:r>
          </a:p>
        </p:txBody>
      </p:sp>
      <p:sp>
        <p:nvSpPr>
          <p:cNvPr id="68" name="nav-0"/>
          <p:cNvSpPr/>
          <p:nvPr/>
        </p:nvSpPr>
        <p:spPr>
          <a:xfrm>
            <a:off x="685800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01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69" name="nav-1"/>
          <p:cNvSpPr/>
          <p:nvPr/>
        </p:nvSpPr>
        <p:spPr>
          <a:xfrm>
            <a:off x="2234837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70" name="nav-2"/>
          <p:cNvSpPr/>
          <p:nvPr/>
        </p:nvSpPr>
        <p:spPr>
          <a:xfrm>
            <a:off x="3783874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03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71" name="nav-3"/>
          <p:cNvSpPr/>
          <p:nvPr/>
        </p:nvSpPr>
        <p:spPr>
          <a:xfrm>
            <a:off x="5332911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04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SFT</a:t>
            </a:r>
          </a:p>
        </p:txBody>
      </p:sp>
      <p:sp>
        <p:nvSpPr>
          <p:cNvPr id="72" name="nav-4"/>
          <p:cNvSpPr/>
          <p:nvPr/>
        </p:nvSpPr>
        <p:spPr>
          <a:xfrm>
            <a:off x="6881948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05 </a:t>
            </a: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GRPO</a:t>
            </a:r>
          </a:p>
        </p:txBody>
      </p:sp>
      <p:sp>
        <p:nvSpPr>
          <p:cNvPr id="73" name="nav-5"/>
          <p:cNvSpPr/>
          <p:nvPr/>
        </p:nvSpPr>
        <p:spPr>
          <a:xfrm>
            <a:off x="8430985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06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DAG蒸馏</a:t>
            </a:r>
          </a:p>
        </p:txBody>
      </p:sp>
      <p:sp>
        <p:nvSpPr>
          <p:cNvPr id="74" name="nav-6"/>
          <p:cNvSpPr/>
          <p:nvPr/>
        </p:nvSpPr>
        <p:spPr>
          <a:xfrm>
            <a:off x="9980022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07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685800" y="342900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DAG 蒸馏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85800"/>
            <a:ext cx="108204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Planner 蒸馏：把真实用户任务喂回 DAG 模型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1163320"/>
            <a:ext cx="108204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UAT 上线后收集到的真实需求量还小，于是用 DeepSeek V4 做 Best-of-4 蒸馏 + 人工复核，把 task → DAG 这一步单独 SFT + outcome-level GRPO 微调。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553200"/>
            <a:ext cx="7239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Source: interview transcript.txt</a:t>
            </a:r>
          </a:p>
        </p:txBody>
      </p:sp>
      <p:sp>
        <p:nvSpPr>
          <p:cNvPr id="6" name="slide-num"/>
          <p:cNvSpPr txBox="1"/>
          <p:nvPr/>
        </p:nvSpPr>
        <p:spPr>
          <a:xfrm>
            <a:off x="11163300" y="6496050"/>
            <a:ext cx="342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1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dag-step-1"/>
          <p:cNvSpPr/>
          <p:nvPr/>
        </p:nvSpPr>
        <p:spPr>
          <a:xfrm>
            <a:off x="800100" y="1720000"/>
            <a:ext cx="338455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ag-badge-1"/>
          <p:cNvSpPr/>
          <p:nvPr/>
        </p:nvSpPr>
        <p:spPr>
          <a:xfrm>
            <a:off x="971550" y="1891450"/>
            <a:ext cx="285750" cy="28575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71550" y="2234350"/>
            <a:ext cx="304165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UAT 收集真实任务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71550" y="2581060"/>
            <a:ext cx="304165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上线后收集 200 个原始 task</a:t>
            </a:r>
          </a:p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（180 训练 / 20 测试）</a:t>
            </a:r>
          </a:p>
        </p:txBody>
      </p:sp>
      <p:sp>
        <p:nvSpPr>
          <p:cNvPr id="11" name="dag-step-2"/>
          <p:cNvSpPr/>
          <p:nvPr/>
        </p:nvSpPr>
        <p:spPr>
          <a:xfrm>
            <a:off x="4403725" y="1720000"/>
            <a:ext cx="338455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ag-badge-2"/>
          <p:cNvSpPr/>
          <p:nvPr/>
        </p:nvSpPr>
        <p:spPr>
          <a:xfrm>
            <a:off x="4575175" y="1891450"/>
            <a:ext cx="285750" cy="285750"/>
          </a:xfrm>
          <a:prstGeom prst="ellipse">
            <a:avLst/>
          </a:prstGeom>
          <a:solidFill>
            <a:srgbClr val="2A9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575175" y="2234350"/>
            <a:ext cx="304165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DeepSeek V4 生成候选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575175" y="2581060"/>
            <a:ext cx="304165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Best-of-4：每个 task 生成</a:t>
            </a:r>
          </a:p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4 条候选轨迹，共 800 条 JSON</a:t>
            </a:r>
          </a:p>
        </p:txBody>
      </p:sp>
      <p:sp>
        <p:nvSpPr>
          <p:cNvPr id="15" name="dag-step-3"/>
          <p:cNvSpPr/>
          <p:nvPr/>
        </p:nvSpPr>
        <p:spPr>
          <a:xfrm>
            <a:off x="8007350" y="1720000"/>
            <a:ext cx="338455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ag-badge-3"/>
          <p:cNvSpPr/>
          <p:nvPr/>
        </p:nvSpPr>
        <p:spPr>
          <a:xfrm>
            <a:off x="8178800" y="1891450"/>
            <a:ext cx="285750" cy="28575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178800" y="2234350"/>
            <a:ext cx="304165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按置信度筛选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178800" y="2581060"/>
            <a:ext cx="304165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评估轨迹结果，筛选置信度</a:t>
            </a:r>
          </a:p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落在 0.75–0.9 区间的候选</a:t>
            </a:r>
          </a:p>
        </p:txBody>
      </p:sp>
      <p:sp>
        <p:nvSpPr>
          <p:cNvPr id="19" name="dag-step-4"/>
          <p:cNvSpPr/>
          <p:nvPr/>
        </p:nvSpPr>
        <p:spPr>
          <a:xfrm>
            <a:off x="800100" y="3472600"/>
            <a:ext cx="338455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ag-badge-4"/>
          <p:cNvSpPr/>
          <p:nvPr/>
        </p:nvSpPr>
        <p:spPr>
          <a:xfrm>
            <a:off x="971550" y="3644050"/>
            <a:ext cx="285750" cy="285750"/>
          </a:xfrm>
          <a:prstGeom prst="ellipse">
            <a:avLst/>
          </a:prstGeom>
          <a:solidFill>
            <a:srgbClr val="C79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71550" y="3986950"/>
            <a:ext cx="304165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971550" y="4333660"/>
            <a:ext cx="304165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对筛选出的候选做人工复核，</a:t>
            </a:r>
          </a:p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共计 130 条，构建高质量 SFT 集</a:t>
            </a:r>
          </a:p>
        </p:txBody>
      </p:sp>
      <p:sp>
        <p:nvSpPr>
          <p:cNvPr id="23" name="dag-step-5"/>
          <p:cNvSpPr/>
          <p:nvPr/>
        </p:nvSpPr>
        <p:spPr>
          <a:xfrm>
            <a:off x="4403725" y="3472600"/>
            <a:ext cx="338455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ag-badge-5"/>
          <p:cNvSpPr/>
          <p:nvPr/>
        </p:nvSpPr>
        <p:spPr>
          <a:xfrm>
            <a:off x="4575175" y="3644050"/>
            <a:ext cx="285750" cy="28575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4575175" y="3986950"/>
            <a:ext cx="304165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SFT 微调 Planner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575175" y="4333660"/>
            <a:ext cx="304165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仅针对 task → DAG 这一步，</a:t>
            </a:r>
          </a:p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对 Qwen2.5-Coder-14B + LoRA 指令微调</a:t>
            </a:r>
          </a:p>
        </p:txBody>
      </p:sp>
      <p:sp>
        <p:nvSpPr>
          <p:cNvPr id="27" name="dag-step-6"/>
          <p:cNvSpPr/>
          <p:nvPr/>
        </p:nvSpPr>
        <p:spPr>
          <a:xfrm>
            <a:off x="8007350" y="3472600"/>
            <a:ext cx="338455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ag-badge-6"/>
          <p:cNvSpPr/>
          <p:nvPr/>
        </p:nvSpPr>
        <p:spPr>
          <a:xfrm>
            <a:off x="8178800" y="3644050"/>
            <a:ext cx="285750" cy="285750"/>
          </a:xfrm>
          <a:prstGeom prst="ellipse">
            <a:avLst/>
          </a:prstGeom>
          <a:solidFill>
            <a:srgbClr val="2A9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178800" y="3986950"/>
            <a:ext cx="304165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Outcome-level GRPO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8178800" y="4333660"/>
            <a:ext cx="304165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以最终执行反馈分数作为 reward，</a:t>
            </a:r>
          </a:p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继续做 outcome-level GRPO 训练</a:t>
            </a:r>
          </a:p>
        </p:txBody>
      </p:sp>
      <p:cxnSp>
        <p:nvCxnSpPr>
          <p:cNvPr id="31" name="wire"/>
          <p:cNvCxnSpPr/>
          <p:nvPr/>
        </p:nvCxnSpPr>
        <p:spPr>
          <a:xfrm>
            <a:off x="4214650" y="2348650"/>
            <a:ext cx="159075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wire"/>
          <p:cNvCxnSpPr/>
          <p:nvPr/>
        </p:nvCxnSpPr>
        <p:spPr>
          <a:xfrm>
            <a:off x="7818275" y="2348650"/>
            <a:ext cx="159075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wire"/>
          <p:cNvCxnSpPr/>
          <p:nvPr/>
        </p:nvCxnSpPr>
        <p:spPr>
          <a:xfrm>
            <a:off x="4214650" y="4101250"/>
            <a:ext cx="159075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wire"/>
          <p:cNvCxnSpPr/>
          <p:nvPr/>
        </p:nvCxnSpPr>
        <p:spPr>
          <a:xfrm>
            <a:off x="7818275" y="4101250"/>
            <a:ext cx="159075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wire"/>
          <p:cNvCxnSpPr/>
          <p:nvPr/>
        </p:nvCxnSpPr>
        <p:spPr>
          <a:xfrm>
            <a:off x="9699625" y="2977300"/>
            <a:ext cx="0" cy="200000"/>
          </a:xfrm>
          <a:prstGeom prst="line">
            <a:avLst/>
          </a:prstGeom>
          <a:ln w="15875">
            <a:solidFill>
              <a:srgbClr val="587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wire"/>
          <p:cNvCxnSpPr/>
          <p:nvPr/>
        </p:nvCxnSpPr>
        <p:spPr>
          <a:xfrm flipH="1">
            <a:off x="2492375" y="3177300"/>
            <a:ext cx="7207250" cy="0"/>
          </a:xfrm>
          <a:prstGeom prst="line">
            <a:avLst/>
          </a:prstGeom>
          <a:ln w="15875">
            <a:solidFill>
              <a:srgbClr val="587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wire"/>
          <p:cNvCxnSpPr/>
          <p:nvPr/>
        </p:nvCxnSpPr>
        <p:spPr>
          <a:xfrm>
            <a:off x="2492375" y="3177300"/>
            <a:ext cx="0" cy="29530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unnel-card"/>
          <p:cNvSpPr/>
          <p:nvPr/>
        </p:nvSpPr>
        <p:spPr>
          <a:xfrm>
            <a:off x="800100" y="5072800"/>
            <a:ext cx="7239000" cy="1000125"/>
          </a:xfrm>
          <a:prstGeom prst="roundRect">
            <a:avLst>
              <a:gd name="adj" fmla="val 6000"/>
            </a:avLst>
          </a:prstGeom>
          <a:solidFill>
            <a:srgbClr val="F0F3EE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"/>
          <p:cNvSpPr txBox="1"/>
          <p:nvPr/>
        </p:nvSpPr>
        <p:spPr>
          <a:xfrm>
            <a:off x="950100" y="5263300"/>
            <a:ext cx="173475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950100" y="5672875"/>
            <a:ext cx="173475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真实 task</a:t>
            </a:r>
          </a:p>
        </p:txBody>
      </p:sp>
      <p:cxnSp>
        <p:nvCxnSpPr>
          <p:cNvPr id="41" name="wire"/>
          <p:cNvCxnSpPr/>
          <p:nvPr/>
        </p:nvCxnSpPr>
        <p:spPr>
          <a:xfrm>
            <a:off x="2654850" y="5512862"/>
            <a:ext cx="60000" cy="0"/>
          </a:xfrm>
          <a:prstGeom prst="line">
            <a:avLst/>
          </a:prstGeom>
          <a:ln w="12700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"/>
          <p:cNvSpPr txBox="1"/>
          <p:nvPr/>
        </p:nvSpPr>
        <p:spPr>
          <a:xfrm>
            <a:off x="2684850" y="5263300"/>
            <a:ext cx="173475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2684850" y="5672875"/>
            <a:ext cx="173475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Best-of-4 候选</a:t>
            </a:r>
          </a:p>
        </p:txBody>
      </p:sp>
      <p:cxnSp>
        <p:nvCxnSpPr>
          <p:cNvPr id="44" name="wire"/>
          <p:cNvCxnSpPr/>
          <p:nvPr/>
        </p:nvCxnSpPr>
        <p:spPr>
          <a:xfrm>
            <a:off x="4389600" y="5512862"/>
            <a:ext cx="60000" cy="0"/>
          </a:xfrm>
          <a:prstGeom prst="line">
            <a:avLst/>
          </a:prstGeom>
          <a:ln w="12700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"/>
          <p:cNvSpPr txBox="1"/>
          <p:nvPr/>
        </p:nvSpPr>
        <p:spPr>
          <a:xfrm>
            <a:off x="4419600" y="5263300"/>
            <a:ext cx="173475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130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419600" y="5672875"/>
            <a:ext cx="173475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cxnSp>
        <p:nvCxnSpPr>
          <p:cNvPr id="47" name="wire"/>
          <p:cNvCxnSpPr/>
          <p:nvPr/>
        </p:nvCxnSpPr>
        <p:spPr>
          <a:xfrm>
            <a:off x="6124350" y="5512862"/>
            <a:ext cx="60000" cy="0"/>
          </a:xfrm>
          <a:prstGeom prst="line">
            <a:avLst/>
          </a:prstGeom>
          <a:ln w="12700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"/>
          <p:cNvSpPr txBox="1"/>
          <p:nvPr/>
        </p:nvSpPr>
        <p:spPr>
          <a:xfrm>
            <a:off x="6154350" y="5263300"/>
            <a:ext cx="173475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6154350" y="5672875"/>
            <a:ext cx="173475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训练/测试划分</a:t>
            </a:r>
          </a:p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180 / 20</a:t>
            </a:r>
          </a:p>
        </p:txBody>
      </p:sp>
      <p:sp>
        <p:nvSpPr>
          <p:cNvPr id="50" name="dag-result"/>
          <p:cNvSpPr/>
          <p:nvPr/>
        </p:nvSpPr>
        <p:spPr>
          <a:xfrm>
            <a:off x="8324850" y="5072800"/>
            <a:ext cx="3067050" cy="1000125"/>
          </a:xfrm>
          <a:prstGeom prst="roundRect">
            <a:avLst>
              <a:gd name="adj" fmla="val 6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"/>
          <p:cNvSpPr txBox="1"/>
          <p:nvPr/>
        </p:nvSpPr>
        <p:spPr>
          <a:xfrm>
            <a:off x="8543925" y="5225200"/>
            <a:ext cx="26289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BFE3D3"/>
                </a:solidFill>
                <a:latin typeface="Microsoft YaHei"/>
                <a:ea typeface="Microsoft YaHei"/>
                <a:cs typeface="Microsoft YaHei"/>
              </a:rPr>
              <a:t>测试集 Judge 通过率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8543925" y="5472850"/>
            <a:ext cx="26289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85%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543925" y="5872900"/>
            <a:ext cx="26289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BFE3D3"/>
                </a:solidFill>
                <a:latin typeface="Microsoft YaHei"/>
                <a:ea typeface="Microsoft YaHei"/>
                <a:cs typeface="Microsoft YaHei"/>
              </a:rPr>
              <a:t>微调后的 14B+LoRA 替换原 Planner</a:t>
            </a:r>
          </a:p>
        </p:txBody>
      </p:sp>
      <p:sp>
        <p:nvSpPr>
          <p:cNvPr id="54" name="nav-0"/>
          <p:cNvSpPr/>
          <p:nvPr/>
        </p:nvSpPr>
        <p:spPr>
          <a:xfrm>
            <a:off x="685800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01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55" name="nav-1"/>
          <p:cNvSpPr/>
          <p:nvPr/>
        </p:nvSpPr>
        <p:spPr>
          <a:xfrm>
            <a:off x="2234837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56" name="nav-2"/>
          <p:cNvSpPr/>
          <p:nvPr/>
        </p:nvSpPr>
        <p:spPr>
          <a:xfrm>
            <a:off x="3783874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03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57" name="nav-3"/>
          <p:cNvSpPr/>
          <p:nvPr/>
        </p:nvSpPr>
        <p:spPr>
          <a:xfrm>
            <a:off x="5332911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04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SFT</a:t>
            </a:r>
          </a:p>
        </p:txBody>
      </p:sp>
      <p:sp>
        <p:nvSpPr>
          <p:cNvPr id="58" name="nav-4"/>
          <p:cNvSpPr/>
          <p:nvPr/>
        </p:nvSpPr>
        <p:spPr>
          <a:xfrm>
            <a:off x="6881948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05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GRPO</a:t>
            </a:r>
          </a:p>
        </p:txBody>
      </p:sp>
      <p:sp>
        <p:nvSpPr>
          <p:cNvPr id="59" name="nav-5"/>
          <p:cNvSpPr/>
          <p:nvPr/>
        </p:nvSpPr>
        <p:spPr>
          <a:xfrm>
            <a:off x="8430985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06 </a:t>
            </a: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DAG蒸馏</a:t>
            </a:r>
          </a:p>
        </p:txBody>
      </p:sp>
      <p:sp>
        <p:nvSpPr>
          <p:cNvPr id="60" name="nav-6"/>
          <p:cNvSpPr/>
          <p:nvPr/>
        </p:nvSpPr>
        <p:spPr>
          <a:xfrm>
            <a:off x="9980022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07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685800" y="342900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F5F46"/>
                </a:solidFill>
                <a:latin typeface="Microsoft YaHei"/>
                <a:ea typeface="Microsoft YaHei"/>
                <a:cs typeface="Microsoft YaHei"/>
              </a:rPr>
              <a:t>PERFORMANCE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85800"/>
            <a:ext cx="108204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性能优化：定位真实瓶颈，逐段压缩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1163320"/>
            <a:ext cx="108204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沿 Actor→vLLM 同步、policy update、rollout 容量、serving 拓扑逐段拆解 GRPO 训练链路，每一步都先定位根因，再打补丁验证收益。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553200"/>
            <a:ext cx="7239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Source: interview transcript.txt; index.html</a:t>
            </a:r>
          </a:p>
        </p:txBody>
      </p:sp>
      <p:sp>
        <p:nvSpPr>
          <p:cNvPr id="6" name="slide-num"/>
          <p:cNvSpPr txBox="1"/>
          <p:nvPr/>
        </p:nvSpPr>
        <p:spPr>
          <a:xfrm>
            <a:off x="11163300" y="6496050"/>
            <a:ext cx="342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1" i="0">
                <a:solidFill>
                  <a:srgbClr val="7181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perf-权重同步"/>
          <p:cNvSpPr/>
          <p:nvPr/>
        </p:nvSpPr>
        <p:spPr>
          <a:xfrm>
            <a:off x="800100" y="1720000"/>
            <a:ext cx="2483643" cy="22479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erf-badge-0"/>
          <p:cNvSpPr/>
          <p:nvPr/>
        </p:nvSpPr>
        <p:spPr>
          <a:xfrm>
            <a:off x="990600" y="1910500"/>
            <a:ext cx="304800" cy="3048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90600" y="2310550"/>
            <a:ext cx="210364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权重同步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90600" y="2662975"/>
            <a:ext cx="2103643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根因：CPU offload 搬运整份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14B 权重（~470GB 内存）。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修复：layered summon 逐层同步。</a:t>
            </a:r>
          </a:p>
        </p:txBody>
      </p:sp>
      <p:sp>
        <p:nvSpPr>
          <p:cNvPr id="11" name="metric-权重同步"/>
          <p:cNvSpPr/>
          <p:nvPr/>
        </p:nvSpPr>
        <p:spPr>
          <a:xfrm>
            <a:off x="990600" y="3472600"/>
            <a:ext cx="2103643" cy="380000"/>
          </a:xfrm>
          <a:prstGeom prst="roundRect">
            <a:avLst>
              <a:gd name="adj" fmla="val 15000"/>
            </a:avLst>
          </a:prstGeom>
          <a:solidFill>
            <a:srgbClr val="EF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"/>
          <p:cNvSpPr txBox="1"/>
          <p:nvPr/>
        </p:nvSpPr>
        <p:spPr>
          <a:xfrm>
            <a:off x="1050100" y="3492600"/>
            <a:ext cx="1983643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44.3s → 7.2s</a:t>
            </a:r>
          </a:p>
        </p:txBody>
      </p:sp>
      <p:cxnSp>
        <p:nvCxnSpPr>
          <p:cNvPr id="13" name="wire"/>
          <p:cNvCxnSpPr/>
          <p:nvPr/>
        </p:nvCxnSpPr>
        <p:spPr>
          <a:xfrm>
            <a:off x="3303743" y="2843950"/>
            <a:ext cx="179075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erf-Policy update"/>
          <p:cNvSpPr/>
          <p:nvPr/>
        </p:nvSpPr>
        <p:spPr>
          <a:xfrm>
            <a:off x="3502818" y="1720000"/>
            <a:ext cx="2483643" cy="22479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erf-badge-1"/>
          <p:cNvSpPr/>
          <p:nvPr/>
        </p:nvSpPr>
        <p:spPr>
          <a:xfrm>
            <a:off x="3693318" y="1910500"/>
            <a:ext cx="304800" cy="304800"/>
          </a:xfrm>
          <a:prstGeom prst="ellipse">
            <a:avLst/>
          </a:prstGeom>
          <a:solidFill>
            <a:srgbClr val="2A9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3693318" y="2310550"/>
            <a:ext cx="210364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Policy update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3693318" y="2662975"/>
            <a:ext cx="2103643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根因：micro-batch=1，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padding 浪费算力。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修复：dynamic batching +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remove padding。</a:t>
            </a:r>
          </a:p>
        </p:txBody>
      </p:sp>
      <p:sp>
        <p:nvSpPr>
          <p:cNvPr id="18" name="metric-Policy update"/>
          <p:cNvSpPr/>
          <p:nvPr/>
        </p:nvSpPr>
        <p:spPr>
          <a:xfrm>
            <a:off x="3693318" y="3472600"/>
            <a:ext cx="2103643" cy="380000"/>
          </a:xfrm>
          <a:prstGeom prst="roundRect">
            <a:avLst>
              <a:gd name="adj" fmla="val 15000"/>
            </a:avLst>
          </a:prstGeom>
          <a:solidFill>
            <a:srgbClr val="EF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"/>
          <p:cNvSpPr txBox="1"/>
          <p:nvPr/>
        </p:nvSpPr>
        <p:spPr>
          <a:xfrm>
            <a:off x="3752818" y="3492600"/>
            <a:ext cx="1983643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30.864s → 3.670s</a:t>
            </a:r>
          </a:p>
        </p:txBody>
      </p:sp>
      <p:cxnSp>
        <p:nvCxnSpPr>
          <p:cNvPr id="20" name="wire"/>
          <p:cNvCxnSpPr/>
          <p:nvPr/>
        </p:nvCxnSpPr>
        <p:spPr>
          <a:xfrm>
            <a:off x="6006462" y="2843950"/>
            <a:ext cx="179075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rf-Rollout 容量"/>
          <p:cNvSpPr/>
          <p:nvPr/>
        </p:nvSpPr>
        <p:spPr>
          <a:xfrm>
            <a:off x="6205537" y="1720000"/>
            <a:ext cx="2483643" cy="22479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erf-badge-2"/>
          <p:cNvSpPr/>
          <p:nvPr/>
        </p:nvSpPr>
        <p:spPr>
          <a:xfrm>
            <a:off x="6396037" y="1910500"/>
            <a:ext cx="304800" cy="3048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396037" y="2310550"/>
            <a:ext cx="210364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Rollout 容量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396037" y="2662975"/>
            <a:ext cx="2103643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把 vLLM 并发 / token 上限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从 seqs=4/tokens=4096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提到 8/8192。</a:t>
            </a:r>
          </a:p>
        </p:txBody>
      </p:sp>
      <p:sp>
        <p:nvSpPr>
          <p:cNvPr id="25" name="metric-Rollout 容量"/>
          <p:cNvSpPr/>
          <p:nvPr/>
        </p:nvSpPr>
        <p:spPr>
          <a:xfrm>
            <a:off x="6396037" y="3472600"/>
            <a:ext cx="2103643" cy="380000"/>
          </a:xfrm>
          <a:prstGeom prst="roundRect">
            <a:avLst>
              <a:gd name="adj" fmla="val 15000"/>
            </a:avLst>
          </a:prstGeom>
          <a:solidFill>
            <a:srgbClr val="EF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"/>
          <p:cNvSpPr txBox="1"/>
          <p:nvPr/>
        </p:nvSpPr>
        <p:spPr>
          <a:xfrm>
            <a:off x="6455537" y="3492600"/>
            <a:ext cx="1983643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24.558s → 18.000s</a:t>
            </a:r>
          </a:p>
        </p:txBody>
      </p:sp>
      <p:cxnSp>
        <p:nvCxnSpPr>
          <p:cNvPr id="27" name="wire"/>
          <p:cNvCxnSpPr/>
          <p:nvPr/>
        </p:nvCxnSpPr>
        <p:spPr>
          <a:xfrm>
            <a:off x="8709181" y="2843950"/>
            <a:ext cx="179075" cy="0"/>
          </a:xfrm>
          <a:prstGeom prst="line">
            <a:avLst/>
          </a:prstGeom>
          <a:ln w="15875">
            <a:solidFill>
              <a:srgbClr val="587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perf-Serving 拓扑"/>
          <p:cNvSpPr/>
          <p:nvPr/>
        </p:nvSpPr>
        <p:spPr>
          <a:xfrm>
            <a:off x="8908256" y="1720000"/>
            <a:ext cx="2483643" cy="22479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erf-badge-3"/>
          <p:cNvSpPr/>
          <p:nvPr/>
        </p:nvSpPr>
        <p:spPr>
          <a:xfrm>
            <a:off x="9098756" y="1910500"/>
            <a:ext cx="304800" cy="304800"/>
          </a:xfrm>
          <a:prstGeom prst="ellipse">
            <a:avLst/>
          </a:prstGeom>
          <a:solidFill>
            <a:srgbClr val="8A5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9098756" y="2310550"/>
            <a:ext cx="210364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Serving 拓扑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9098756" y="2662975"/>
            <a:ext cx="2103643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固定 4×H100，对比 TP=1/2/4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与多实例布局，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按并发选最优拓扑。</a:t>
            </a:r>
          </a:p>
        </p:txBody>
      </p:sp>
      <p:sp>
        <p:nvSpPr>
          <p:cNvPr id="32" name="metric-Serving 拓扑"/>
          <p:cNvSpPr/>
          <p:nvPr/>
        </p:nvSpPr>
        <p:spPr>
          <a:xfrm>
            <a:off x="9098756" y="3472600"/>
            <a:ext cx="2103643" cy="380000"/>
          </a:xfrm>
          <a:prstGeom prst="roundRect">
            <a:avLst>
              <a:gd name="adj" fmla="val 15000"/>
            </a:avLst>
          </a:prstGeom>
          <a:solidFill>
            <a:srgbClr val="EF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"/>
          <p:cNvSpPr txBox="1"/>
          <p:nvPr/>
        </p:nvSpPr>
        <p:spPr>
          <a:xfrm>
            <a:off x="9158256" y="3492600"/>
            <a:ext cx="1983643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3235"/>
                </a:solidFill>
                <a:latin typeface="Microsoft YaHei"/>
                <a:ea typeface="Microsoft YaHei"/>
                <a:cs typeface="Microsoft YaHei"/>
              </a:rPr>
              <a:t>吞吐 +61.7%（低并发 TP=4 最优）</a:t>
            </a:r>
          </a:p>
        </p:txBody>
      </p:sp>
      <p:sp>
        <p:nvSpPr>
          <p:cNvPr id="34" name="oom-card"/>
          <p:cNvSpPr/>
          <p:nvPr/>
        </p:nvSpPr>
        <p:spPr>
          <a:xfrm>
            <a:off x="800100" y="4310800"/>
            <a:ext cx="6120130" cy="1085850"/>
          </a:xfrm>
          <a:prstGeom prst="roundRect">
            <a:avLst>
              <a:gd name="adj" fmla="val 6000"/>
            </a:avLst>
          </a:prstGeom>
          <a:solidFill>
            <a:srgbClr val="FBE7E1"/>
          </a:solidFill>
          <a:ln w="9525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"/>
          <p:cNvSpPr txBox="1"/>
          <p:nvPr/>
        </p:nvSpPr>
        <p:spPr>
          <a:xfrm>
            <a:off x="1047750" y="4463200"/>
            <a:ext cx="562483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84B38"/>
                </a:solidFill>
                <a:latin typeface="Microsoft YaHei"/>
                <a:ea typeface="Microsoft YaHei"/>
                <a:cs typeface="Microsoft YaHei"/>
              </a:rPr>
              <a:t>意外发现：rollout n=24 时 vLLM 权重重映射阶段 OOM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047750" y="4806100"/>
            <a:ext cx="5624830" cy="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32026"/>
                </a:solidFill>
                <a:latin typeface="Microsoft YaHei"/>
                <a:ea typeface="Microsoft YaHei"/>
                <a:cs typeface="Microsoft YaHei"/>
              </a:rPr>
              <a:t>PyTorch 缓存分配器不释放已用显存块，vLLM wake_up 时映射不到物理空闲显存。修复：actor 更新后先 empty_cache() 再唤醒 vLLM —— 全部 100 步稳定跑通，非容量问题，而是显存管理顺序问题。</a:t>
            </a:r>
          </a:p>
        </p:txBody>
      </p:sp>
      <p:sp>
        <p:nvSpPr>
          <p:cNvPr id="37" name="closing"/>
          <p:cNvSpPr/>
          <p:nvPr/>
        </p:nvSpPr>
        <p:spPr>
          <a:xfrm>
            <a:off x="7205980" y="4310800"/>
            <a:ext cx="4185920" cy="1085850"/>
          </a:xfrm>
          <a:prstGeom prst="roundRect">
            <a:avLst>
              <a:gd name="adj" fmla="val 6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"/>
          <p:cNvSpPr txBox="1"/>
          <p:nvPr/>
        </p:nvSpPr>
        <p:spPr>
          <a:xfrm>
            <a:off x="7453630" y="4463200"/>
            <a:ext cx="36906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FE3D3"/>
                </a:solidFill>
                <a:latin typeface="Microsoft YaHei"/>
                <a:ea typeface="Microsoft YaHei"/>
                <a:cs typeface="Microsoft YaHei"/>
              </a:rPr>
              <a:t>收束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7453630" y="4806100"/>
            <a:ext cx="3690620" cy="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最大价值来自定位真实瓶颈，再用小补丁和参数消融逐段压缩：系统闭环 + 数据闭环 + 性能闭环。</a:t>
            </a:r>
          </a:p>
        </p:txBody>
      </p:sp>
      <p:sp>
        <p:nvSpPr>
          <p:cNvPr id="40" name="nav-0"/>
          <p:cNvSpPr/>
          <p:nvPr/>
        </p:nvSpPr>
        <p:spPr>
          <a:xfrm>
            <a:off x="685800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01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1" name="nav-1"/>
          <p:cNvSpPr/>
          <p:nvPr/>
        </p:nvSpPr>
        <p:spPr>
          <a:xfrm>
            <a:off x="2234837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42" name="nav-2"/>
          <p:cNvSpPr/>
          <p:nvPr/>
        </p:nvSpPr>
        <p:spPr>
          <a:xfrm>
            <a:off x="3783874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03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43" name="nav-3"/>
          <p:cNvSpPr/>
          <p:nvPr/>
        </p:nvSpPr>
        <p:spPr>
          <a:xfrm>
            <a:off x="5332911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04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SFT</a:t>
            </a:r>
          </a:p>
        </p:txBody>
      </p:sp>
      <p:sp>
        <p:nvSpPr>
          <p:cNvPr id="44" name="nav-4"/>
          <p:cNvSpPr/>
          <p:nvPr/>
        </p:nvSpPr>
        <p:spPr>
          <a:xfrm>
            <a:off x="6881948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05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GRPO</a:t>
            </a:r>
          </a:p>
        </p:txBody>
      </p:sp>
      <p:sp>
        <p:nvSpPr>
          <p:cNvPr id="45" name="nav-5"/>
          <p:cNvSpPr/>
          <p:nvPr/>
        </p:nvSpPr>
        <p:spPr>
          <a:xfrm>
            <a:off x="8430985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06 </a:t>
            </a:r>
            <a:r>
              <a:rPr sz="750" b="0">
                <a:solidFill>
                  <a:srgbClr val="8CA098"/>
                </a:solidFill>
                <a:latin typeface="Microsoft YaHei"/>
                <a:ea typeface="Microsoft YaHei"/>
                <a:cs typeface="Microsoft YaHei"/>
              </a:rPr>
              <a:t>DAG蒸馏</a:t>
            </a:r>
          </a:p>
        </p:txBody>
      </p:sp>
      <p:sp>
        <p:nvSpPr>
          <p:cNvPr id="46" name="nav-6"/>
          <p:cNvSpPr/>
          <p:nvPr/>
        </p:nvSpPr>
        <p:spPr>
          <a:xfrm>
            <a:off x="9980022" y="6045200"/>
            <a:ext cx="1526177" cy="219075"/>
          </a:xfrm>
          <a:prstGeom prst="roundRect">
            <a:avLst>
              <a:gd name="adj" fmla="val 28000"/>
            </a:avLst>
          </a:prstGeom>
          <a:solidFill>
            <a:srgbClr val="20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07 </a:t>
            </a: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1470</Words>
  <Application>Microsoft Office PowerPoint</Application>
  <DocSecurity>0</DocSecurity>
  <PresentationFormat>Widescreen</PresentationFormat>
  <Paragraphs>275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Microsoft YaHei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Zhang, Haoming</cp:lastModifiedBy>
  <cp:revision>1</cp:revision>
  <dcterms:created xsi:type="dcterms:W3CDTF">2026-06-15T21:05:10Z</dcterms:created>
  <dcterms:modified xsi:type="dcterms:W3CDTF">2026-08-13T04:40:55Z</dcterms:modified>
</cp:coreProperties>
</file>